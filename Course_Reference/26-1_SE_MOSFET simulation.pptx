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70" r:id="rId2"/>
    <p:sldId id="273" r:id="rId3"/>
    <p:sldId id="280" r:id="rId4"/>
    <p:sldId id="267" r:id="rId5"/>
    <p:sldId id="265" r:id="rId6"/>
    <p:sldId id="274" r:id="rId7"/>
    <p:sldId id="276" r:id="rId8"/>
    <p:sldId id="295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66" r:id="rId21"/>
    <p:sldId id="291" r:id="rId22"/>
    <p:sldId id="292" r:id="rId23"/>
    <p:sldId id="271" r:id="rId24"/>
    <p:sldId id="268" r:id="rId25"/>
    <p:sldId id="297" r:id="rId26"/>
    <p:sldId id="269" r:id="rId27"/>
    <p:sldId id="296" r:id="rId28"/>
    <p:sldId id="294" r:id="rId29"/>
    <p:sldId id="29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60"/>
  </p:normalViewPr>
  <p:slideViewPr>
    <p:cSldViewPr snapToGrid="0">
      <p:cViewPr>
        <p:scale>
          <a:sx n="75" d="100"/>
          <a:sy n="75" d="100"/>
        </p:scale>
        <p:origin x="2838" y="8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1B3D187-67E3-D712-D1E8-490832ABAF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BE84DB-0432-C8B3-C28C-7BD5622170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C9C11-383E-442C-B738-8883E20B6AF5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FAF67B-5985-E671-AC4F-38007BF0C6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Sogang Univ.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1BBF78-BE1A-3A69-41EE-8CA2AB9486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EF6FF-6C6F-478B-A670-D0EAE10E6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28741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3FF84-4D72-4727-8BB9-43AE950B8642}" type="datetimeFigureOut">
              <a:rPr lang="ko-KR" altLang="en-US" smtClean="0"/>
              <a:t>2025-06-07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Sogang Univ.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1642C-5793-4510-AD2A-5F804C789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5055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4C31B2-1B60-638E-F2C0-D3ED92E0F5E0}"/>
              </a:ext>
            </a:extLst>
          </p:cNvPr>
          <p:cNvSpPr txBox="1"/>
          <p:nvPr userDrawn="1"/>
        </p:nvSpPr>
        <p:spPr>
          <a:xfrm>
            <a:off x="68117" y="4220015"/>
            <a:ext cx="9007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Lab Meeting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9D9D863-1181-98A1-2F5E-B2F33372E088}"/>
              </a:ext>
            </a:extLst>
          </p:cNvPr>
          <p:cNvCxnSpPr>
            <a:cxnSpLocks/>
          </p:cNvCxnSpPr>
          <p:nvPr userDrawn="1"/>
        </p:nvCxnSpPr>
        <p:spPr>
          <a:xfrm>
            <a:off x="6532239" y="4804790"/>
            <a:ext cx="2534678" cy="18167"/>
          </a:xfrm>
          <a:prstGeom prst="line">
            <a:avLst/>
          </a:prstGeom>
          <a:ln w="38100">
            <a:solidFill>
              <a:srgbClr val="A12F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3" descr="E:\3_Publication\ui_img03\logo1.jpg">
            <a:extLst>
              <a:ext uri="{FF2B5EF4-FFF2-40B4-BE49-F238E27FC236}">
                <a16:creationId xmlns:a16="http://schemas.microsoft.com/office/drawing/2014/main" id="{691983E8-9497-8DCC-67D2-2F48173EF2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5" y="88046"/>
            <a:ext cx="1407421" cy="45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BF1F71AE-B27E-F91A-BDA7-1181BF93AE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19590" y="5514692"/>
            <a:ext cx="4447327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D3BE05B-94B8-99E9-8EF3-403F900A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616931"/>
            <a:ext cx="2057400" cy="241068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9888D6-CE21-4396-8044-5324720FF44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538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C51072-DCF0-DFB7-81BC-50D6E8CC912B}"/>
              </a:ext>
            </a:extLst>
          </p:cNvPr>
          <p:cNvCxnSpPr>
            <a:cxnSpLocks/>
          </p:cNvCxnSpPr>
          <p:nvPr userDrawn="1"/>
        </p:nvCxnSpPr>
        <p:spPr>
          <a:xfrm>
            <a:off x="120097" y="672453"/>
            <a:ext cx="8904263" cy="180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2">
            <a:extLst>
              <a:ext uri="{FF2B5EF4-FFF2-40B4-BE49-F238E27FC236}">
                <a16:creationId xmlns:a16="http://schemas.microsoft.com/office/drawing/2014/main" id="{B1AC6FFA-BF9B-1F17-B5D5-AABF66C0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39" y="150947"/>
            <a:ext cx="8903805" cy="6355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14">
            <a:extLst>
              <a:ext uri="{FF2B5EF4-FFF2-40B4-BE49-F238E27FC236}">
                <a16:creationId xmlns:a16="http://schemas.microsoft.com/office/drawing/2014/main" id="{04E074E6-580B-998B-A51B-497B5E05D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350422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252000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2900" indent="-342900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84A645-397E-5DAE-9EF1-E13A0323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616931"/>
            <a:ext cx="2057400" cy="241068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9888D6-CE21-4396-8044-5324720FF44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172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B1AC6FFA-BF9B-1F17-B5D5-AABF66C0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39" y="150947"/>
            <a:ext cx="8903805" cy="6355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F4A868-1A9E-7AA7-F86C-06110119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616931"/>
            <a:ext cx="2057400" cy="241068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9888D6-CE21-4396-8044-5324720FF44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14">
            <a:extLst>
              <a:ext uri="{FF2B5EF4-FFF2-40B4-BE49-F238E27FC236}">
                <a16:creationId xmlns:a16="http://schemas.microsoft.com/office/drawing/2014/main" id="{BD84FD4D-3D48-686E-D62C-7A3521CE1A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350422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252000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42900" indent="-342900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6939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A9A4A95-EB05-76DE-2FE2-88825BF89208}"/>
              </a:ext>
            </a:extLst>
          </p:cNvPr>
          <p:cNvSpPr/>
          <p:nvPr userDrawn="1"/>
        </p:nvSpPr>
        <p:spPr>
          <a:xfrm>
            <a:off x="0" y="6624550"/>
            <a:ext cx="9144000" cy="2410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BCC6822D-9EC2-FBE3-8E23-A28B225BC882}"/>
              </a:ext>
            </a:extLst>
          </p:cNvPr>
          <p:cNvSpPr txBox="1">
            <a:spLocks/>
          </p:cNvSpPr>
          <p:nvPr userDrawn="1"/>
        </p:nvSpPr>
        <p:spPr>
          <a:xfrm>
            <a:off x="3028950" y="6616930"/>
            <a:ext cx="3086100" cy="24106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Semiconductor Device Research Lab.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C5683672-5CD4-C056-8048-6BE0593D6744}"/>
              </a:ext>
            </a:extLst>
          </p:cNvPr>
          <p:cNvSpPr txBox="1">
            <a:spLocks/>
          </p:cNvSpPr>
          <p:nvPr userDrawn="1"/>
        </p:nvSpPr>
        <p:spPr>
          <a:xfrm>
            <a:off x="0" y="6616932"/>
            <a:ext cx="2057400" cy="24106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Sogang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Univ.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51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emf"/><Relationship Id="rId7" Type="http://schemas.openxmlformats.org/officeDocument/2006/relationships/image" Target="../media/image11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emf"/><Relationship Id="rId7" Type="http://schemas.openxmlformats.org/officeDocument/2006/relationships/image" Target="../media/image15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emf"/><Relationship Id="rId7" Type="http://schemas.openxmlformats.org/officeDocument/2006/relationships/image" Target="../media/image17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9.emf"/><Relationship Id="rId7" Type="http://schemas.openxmlformats.org/officeDocument/2006/relationships/image" Target="../media/image21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8.emf"/><Relationship Id="rId7" Type="http://schemas.openxmlformats.org/officeDocument/2006/relationships/image" Target="../media/image27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30.emf"/><Relationship Id="rId4" Type="http://schemas.openxmlformats.org/officeDocument/2006/relationships/image" Target="../media/image29.png"/><Relationship Id="rId9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emf"/><Relationship Id="rId7" Type="http://schemas.openxmlformats.org/officeDocument/2006/relationships/image" Target="../media/image32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1.e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60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1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2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41.emf"/><Relationship Id="rId4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7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7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image" Target="../media/image49.emf"/><Relationship Id="rId7" Type="http://schemas.openxmlformats.org/officeDocument/2006/relationships/oleObject" Target="../embeddings/oleObject22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emf"/><Relationship Id="rId4" Type="http://schemas.openxmlformats.org/officeDocument/2006/relationships/oleObject" Target="../embeddings/oleObject23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7" Type="http://schemas.openxmlformats.org/officeDocument/2006/relationships/image" Target="../media/image30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DC4526-2BAF-6D14-C467-793CDE30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E372F9-F842-1EED-67A9-E7A128401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0" y="61517"/>
            <a:ext cx="1571844" cy="523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F6223C-14FC-4A80-1C18-9779E94C912F}"/>
              </a:ext>
            </a:extLst>
          </p:cNvPr>
          <p:cNvSpPr txBox="1"/>
          <p:nvPr/>
        </p:nvSpPr>
        <p:spPr>
          <a:xfrm>
            <a:off x="964826" y="1733910"/>
            <a:ext cx="72143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500" b="1" dirty="0"/>
              <a:t>Physical Electronics Ⅱ</a:t>
            </a:r>
          </a:p>
          <a:p>
            <a:pPr algn="ctr"/>
            <a:r>
              <a:rPr lang="en-US" altLang="ko-KR" sz="4500" b="1" dirty="0"/>
              <a:t>Semiconductor Electronics Ⅱ</a:t>
            </a:r>
          </a:p>
          <a:p>
            <a:pPr algn="ctr"/>
            <a:endParaRPr lang="en-US" altLang="ko-KR" sz="4500" b="1" dirty="0"/>
          </a:p>
          <a:p>
            <a:pPr algn="ctr"/>
            <a:r>
              <a:rPr lang="en-US" altLang="ko-KR" sz="4000" b="1" u="sng" dirty="0"/>
              <a:t>TCAD</a:t>
            </a:r>
            <a:r>
              <a:rPr lang="ko-KR" altLang="en-US" sz="4000" b="1" u="sng" dirty="0"/>
              <a:t> </a:t>
            </a:r>
            <a:r>
              <a:rPr lang="en-US" altLang="ko-KR" sz="4000" b="1" u="sng" dirty="0"/>
              <a:t>simulation : MOSFET</a:t>
            </a:r>
            <a:endParaRPr lang="ko-KR" alt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1441827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7CEB8-8064-20F3-9DA1-0639E6C0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E63F49-0C62-5630-75EF-4B25E9541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124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Long</a:t>
            </a:r>
            <a:r>
              <a:rPr lang="ko-KR" altLang="en-US" sz="2500" b="1" dirty="0"/>
              <a:t> </a:t>
            </a:r>
            <a:r>
              <a:rPr lang="en-US" altLang="ko-KR" sz="2500" b="1" dirty="0"/>
              <a:t>channel</a:t>
            </a:r>
            <a:r>
              <a:rPr lang="ko-KR" altLang="en-US" sz="2500" b="1" dirty="0"/>
              <a:t> </a:t>
            </a:r>
            <a:r>
              <a:rPr lang="en-US" altLang="ko-KR" sz="2500" b="1" dirty="0"/>
              <a:t>MOSFET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Body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Non-ideal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Short channel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Summary</a:t>
            </a:r>
            <a:endParaRPr lang="ko-KR" altLang="en-US" sz="25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485D6-000A-C140-FA4A-113E211F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375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FBF1-D892-76AC-C4AE-E25F3A4CB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75B85-2253-526E-C265-FF8CCC10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9C6623-56FA-3E14-A3AA-DC88626D21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124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Long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channel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MOSFET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Body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Non-ideal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Short channel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Summary</a:t>
            </a:r>
            <a:endParaRPr lang="ko-KR" altLang="en-US" sz="25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C93240-3A45-5684-BE93-B3DA8F40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035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91F79-327C-006D-3F12-0D73F0EE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929A43-D314-0E78-CD0E-DACAC901D4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1548116"/>
          </a:xfrm>
        </p:spPr>
        <p:txBody>
          <a:bodyPr/>
          <a:lstStyle/>
          <a:p>
            <a:r>
              <a:rPr lang="en-US" altLang="ko-KR" dirty="0"/>
              <a:t>1 </a:t>
            </a:r>
            <a:r>
              <a:rPr lang="el-GR" altLang="ko-KR" dirty="0"/>
              <a:t>μ</a:t>
            </a:r>
            <a:r>
              <a:rPr lang="en-US" altLang="ko-KR" dirty="0"/>
              <a:t>m </a:t>
            </a:r>
            <a:r>
              <a:rPr lang="ko-KR" altLang="en-US" dirty="0"/>
              <a:t>공정은 </a:t>
            </a:r>
            <a:r>
              <a:rPr lang="en-US" altLang="ko-KR" dirty="0"/>
              <a:t>1980</a:t>
            </a:r>
            <a:r>
              <a:rPr lang="ko-KR" altLang="en-US" dirty="0"/>
              <a:t>년대 쓰이던 공정 기술</a:t>
            </a:r>
            <a:endParaRPr lang="en-US" altLang="ko-KR" dirty="0"/>
          </a:p>
          <a:p>
            <a:r>
              <a:rPr lang="ko-KR" altLang="en-US" dirty="0"/>
              <a:t>이시기에 상용화된 제품 중 </a:t>
            </a:r>
            <a:r>
              <a:rPr lang="en-US" altLang="ko-KR" b="1" dirty="0"/>
              <a:t>Intel386</a:t>
            </a:r>
            <a:r>
              <a:rPr lang="en-US" altLang="ko-KR" b="1" baseline="30000" dirty="0"/>
              <a:t>TM</a:t>
            </a:r>
            <a:r>
              <a:rPr lang="en-US" altLang="ko-KR" b="1" dirty="0"/>
              <a:t> SX MICROPROCESSOR </a:t>
            </a:r>
            <a:r>
              <a:rPr lang="en-US" altLang="ko-KR" dirty="0"/>
              <a:t>data      sheet </a:t>
            </a:r>
            <a:r>
              <a:rPr lang="ko-KR" altLang="en-US" dirty="0"/>
              <a:t>참고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8E6C28-C3EB-6F15-DD33-9B1DD2F8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D6BB84-C513-3206-AA23-342D1D40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87" y="2774691"/>
            <a:ext cx="5753903" cy="6001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E486D59-100F-3140-131B-FF91D94986C3}"/>
              </a:ext>
            </a:extLst>
          </p:cNvPr>
          <p:cNvSpPr/>
          <p:nvPr/>
        </p:nvSpPr>
        <p:spPr>
          <a:xfrm>
            <a:off x="4360892" y="2835275"/>
            <a:ext cx="293658" cy="2077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625CAA91-BB6B-8CD1-FFBC-3C015D31C149}"/>
              </a:ext>
            </a:extLst>
          </p:cNvPr>
          <p:cNvSpPr txBox="1">
            <a:spLocks/>
          </p:cNvSpPr>
          <p:nvPr/>
        </p:nvSpPr>
        <p:spPr>
          <a:xfrm>
            <a:off x="119639" y="3673530"/>
            <a:ext cx="8903804" cy="496546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2520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42900" indent="-3429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동작 전압 </a:t>
            </a:r>
            <a:r>
              <a:rPr lang="en-US" altLang="ko-KR" dirty="0"/>
              <a:t>5.0 V</a:t>
            </a:r>
            <a:r>
              <a:rPr lang="ko-KR" altLang="en-US" dirty="0"/>
              <a:t>로 설정하여 시뮬레이션 진행</a:t>
            </a:r>
          </a:p>
        </p:txBody>
      </p:sp>
    </p:spTree>
    <p:extLst>
      <p:ext uri="{BB962C8B-B14F-4D97-AF65-F5344CB8AC3E}">
        <p14:creationId xmlns:p14="http://schemas.microsoft.com/office/powerpoint/2010/main" val="309489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AFCCB-4F43-EC05-35F6-DC8581FA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structure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2AB60C-1800-C3C6-91D2-F1825156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EA57DBE-37E6-CD1C-6AD7-FFE56540E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904772"/>
              </p:ext>
            </p:extLst>
          </p:nvPr>
        </p:nvGraphicFramePr>
        <p:xfrm>
          <a:off x="1379347" y="3535874"/>
          <a:ext cx="6096000" cy="2964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452290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25944341"/>
                    </a:ext>
                  </a:extLst>
                </a:gridCol>
              </a:tblGrid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Parameters</a:t>
                      </a:r>
                      <a:endParaRPr lang="ko-KR" altLang="en-US" sz="15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Values</a:t>
                      </a:r>
                      <a:endParaRPr lang="ko-KR" altLang="en-US" sz="15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036039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L</a:t>
                      </a:r>
                      <a:r>
                        <a:rPr lang="en-US" altLang="ko-KR" sz="1500" b="1" i="0" baseline="-25000" dirty="0"/>
                        <a:t>g</a:t>
                      </a:r>
                      <a:endParaRPr lang="ko-KR" altLang="en-US" sz="1500" b="1" i="0" baseline="-25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93748965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L</a:t>
                      </a:r>
                      <a:r>
                        <a:rPr lang="en-US" altLang="ko-KR" sz="1500" b="1" baseline="-25000" dirty="0" err="1"/>
                        <a:t>sd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0.5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86794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T</a:t>
                      </a:r>
                      <a:r>
                        <a:rPr lang="en-US" altLang="ko-KR" sz="1500" b="1" baseline="-25000" dirty="0" err="1"/>
                        <a:t>body</a:t>
                      </a:r>
                      <a:endParaRPr lang="en-US" altLang="ko-KR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1.2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377581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T</a:t>
                      </a:r>
                      <a:r>
                        <a:rPr lang="en-US" altLang="ko-KR" sz="1500" b="1" baseline="-25000" dirty="0" err="1"/>
                        <a:t>sd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0.3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923529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T</a:t>
                      </a:r>
                      <a:r>
                        <a:rPr lang="en-US" altLang="ko-KR" sz="1500" b="1" baseline="-25000" dirty="0"/>
                        <a:t>ox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0.02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497480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N</a:t>
                      </a:r>
                      <a:r>
                        <a:rPr lang="en-US" altLang="ko-KR" sz="1500" b="1" baseline="-25000" dirty="0" err="1"/>
                        <a:t>body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Boron 10</a:t>
                      </a:r>
                      <a:r>
                        <a:rPr lang="en-US" altLang="ko-KR" sz="1500" b="1" baseline="30000" dirty="0"/>
                        <a:t>17</a:t>
                      </a:r>
                      <a:r>
                        <a:rPr lang="en-US" altLang="ko-KR" sz="1500" b="1" dirty="0"/>
                        <a:t> cm</a:t>
                      </a:r>
                      <a:r>
                        <a:rPr lang="en-US" altLang="ko-KR" sz="1500" b="1" baseline="30000" dirty="0"/>
                        <a:t>-3</a:t>
                      </a:r>
                      <a:endParaRPr lang="ko-KR" altLang="en-US" sz="1500" b="1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287958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N</a:t>
                      </a:r>
                      <a:r>
                        <a:rPr lang="en-US" altLang="ko-KR" sz="1500" b="1" baseline="-25000" dirty="0" err="1"/>
                        <a:t>sd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Arsenic 10</a:t>
                      </a:r>
                      <a:r>
                        <a:rPr lang="en-US" altLang="ko-KR" sz="1500" b="1" baseline="30000" dirty="0"/>
                        <a:t>20</a:t>
                      </a:r>
                      <a:r>
                        <a:rPr lang="en-US" altLang="ko-KR" sz="1500" b="1" dirty="0"/>
                        <a:t> cm</a:t>
                      </a:r>
                      <a:r>
                        <a:rPr lang="en-US" altLang="ko-KR" sz="1500" b="1" baseline="30000" dirty="0"/>
                        <a:t>-3</a:t>
                      </a:r>
                      <a:endParaRPr lang="ko-KR" altLang="en-US" sz="1500" b="1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903238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dirty="0"/>
                        <a:t>S/D Gaussian factor</a:t>
                      </a:r>
                      <a:endParaRPr lang="ko-KR" altLang="en-US" sz="1500" b="1" i="0" baseline="-25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0.35</a:t>
                      </a:r>
                      <a:endParaRPr lang="ko-KR" altLang="en-US" sz="1500" b="1" baseline="30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834547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5090E7-24DC-7026-D37C-9E2DA9A8D74E}"/>
              </a:ext>
            </a:extLst>
          </p:cNvPr>
          <p:cNvGrpSpPr/>
          <p:nvPr/>
        </p:nvGrpSpPr>
        <p:grpSpPr>
          <a:xfrm>
            <a:off x="1070079" y="776821"/>
            <a:ext cx="6535895" cy="2642515"/>
            <a:chOff x="939452" y="786485"/>
            <a:chExt cx="6975790" cy="299330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87494A1-8A0D-27E2-0947-ADBD14BCCADE}"/>
                </a:ext>
              </a:extLst>
            </p:cNvPr>
            <p:cNvSpPr/>
            <p:nvPr/>
          </p:nvSpPr>
          <p:spPr>
            <a:xfrm>
              <a:off x="1971375" y="1743955"/>
              <a:ext cx="5201250" cy="20358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6BC5C97-4A62-5DD2-313A-461F453D3AED}"/>
                </a:ext>
              </a:extLst>
            </p:cNvPr>
            <p:cNvSpPr/>
            <p:nvPr/>
          </p:nvSpPr>
          <p:spPr>
            <a:xfrm>
              <a:off x="1971376" y="1743955"/>
              <a:ext cx="1300312" cy="7845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5673C1-521E-D19C-1AE4-9265E27B0CBB}"/>
                </a:ext>
              </a:extLst>
            </p:cNvPr>
            <p:cNvSpPr/>
            <p:nvPr/>
          </p:nvSpPr>
          <p:spPr>
            <a:xfrm>
              <a:off x="5872312" y="1743955"/>
              <a:ext cx="1300312" cy="7845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969B87-AEBC-2E9C-55DC-56198A758BDD}"/>
                </a:ext>
              </a:extLst>
            </p:cNvPr>
            <p:cNvSpPr/>
            <p:nvPr/>
          </p:nvSpPr>
          <p:spPr>
            <a:xfrm>
              <a:off x="3271229" y="1422022"/>
              <a:ext cx="2600623" cy="3219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E1F9AFA-3FA9-1677-42B3-F93CDAD7F230}"/>
                </a:ext>
              </a:extLst>
            </p:cNvPr>
            <p:cNvSpPr/>
            <p:nvPr/>
          </p:nvSpPr>
          <p:spPr>
            <a:xfrm>
              <a:off x="3271687" y="786485"/>
              <a:ext cx="2600623" cy="63553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B2BBFD-67D7-B55A-6DF5-24147BAD7AB8}"/>
                </a:ext>
              </a:extLst>
            </p:cNvPr>
            <p:cNvSpPr txBox="1"/>
            <p:nvPr/>
          </p:nvSpPr>
          <p:spPr>
            <a:xfrm>
              <a:off x="2219545" y="1770655"/>
              <a:ext cx="8306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Source</a:t>
              </a:r>
            </a:p>
            <a:p>
              <a:pPr algn="ctr"/>
              <a:r>
                <a:rPr lang="en-US" altLang="ko-KR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D28B9A-6595-DCD2-4F23-3A144C5DEC7F}"/>
                </a:ext>
              </a:extLst>
            </p:cNvPr>
            <p:cNvSpPr txBox="1"/>
            <p:nvPr/>
          </p:nvSpPr>
          <p:spPr>
            <a:xfrm>
              <a:off x="3668857" y="1398322"/>
              <a:ext cx="18053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Gate oxide (SiO</a:t>
              </a:r>
              <a:r>
                <a:rPr lang="en-US" altLang="ko-KR" b="1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5BF4CE-FD75-63F0-9E11-855BC5028FDF}"/>
                </a:ext>
              </a:extLst>
            </p:cNvPr>
            <p:cNvSpPr txBox="1"/>
            <p:nvPr/>
          </p:nvSpPr>
          <p:spPr>
            <a:xfrm>
              <a:off x="3994020" y="895888"/>
              <a:ext cx="1155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Gate (</a:t>
              </a:r>
              <a:r>
                <a:rPr lang="en-US" altLang="ko-KR" b="1" dirty="0" err="1">
                  <a:solidFill>
                    <a:schemeClr val="bg1"/>
                  </a:solidFill>
                </a:rPr>
                <a:t>TiN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58AABF1-0371-D792-B1F4-847ECFA30F4E}"/>
                </a:ext>
              </a:extLst>
            </p:cNvPr>
            <p:cNvCxnSpPr/>
            <p:nvPr/>
          </p:nvCxnSpPr>
          <p:spPr>
            <a:xfrm>
              <a:off x="1783080" y="1743955"/>
              <a:ext cx="0" cy="203583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CEF967FA-8467-97D2-A988-47EAAFAA808D}"/>
                </a:ext>
              </a:extLst>
            </p:cNvPr>
            <p:cNvCxnSpPr>
              <a:cxnSpLocks/>
            </p:cNvCxnSpPr>
            <p:nvPr/>
          </p:nvCxnSpPr>
          <p:spPr>
            <a:xfrm>
              <a:off x="7406640" y="1743955"/>
              <a:ext cx="0" cy="78455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83BDA6B8-00E7-7DFE-302B-F520D4F11C6D}"/>
                </a:ext>
              </a:extLst>
            </p:cNvPr>
            <p:cNvCxnSpPr>
              <a:cxnSpLocks/>
            </p:cNvCxnSpPr>
            <p:nvPr/>
          </p:nvCxnSpPr>
          <p:spPr>
            <a:xfrm>
              <a:off x="6042660" y="1422022"/>
              <a:ext cx="0" cy="34563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6356747F-DF42-550E-9584-D6BC0E771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375" y="2690436"/>
              <a:ext cx="13003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485123BC-8E54-D371-7CF9-807B5725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1229" y="1940470"/>
              <a:ext cx="26010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54A764-1AE7-8A64-A46F-E1832305E980}"/>
                </a:ext>
              </a:extLst>
            </p:cNvPr>
            <p:cNvSpPr txBox="1"/>
            <p:nvPr/>
          </p:nvSpPr>
          <p:spPr>
            <a:xfrm>
              <a:off x="4323372" y="196753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/>
                <a:t>L</a:t>
              </a:r>
              <a:r>
                <a:rPr lang="en-US" altLang="ko-KR" b="1" baseline="-25000" dirty="0"/>
                <a:t>g</a:t>
              </a:r>
              <a:endParaRPr lang="ko-KR" altLang="en-US" b="1" baseline="-25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951CFE-B574-9092-EA25-A925329C308B}"/>
                </a:ext>
              </a:extLst>
            </p:cNvPr>
            <p:cNvSpPr txBox="1"/>
            <p:nvPr/>
          </p:nvSpPr>
          <p:spPr>
            <a:xfrm>
              <a:off x="7472492" y="19034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 err="1"/>
                <a:t>T</a:t>
              </a:r>
              <a:r>
                <a:rPr lang="en-US" altLang="ko-KR" b="1" baseline="-25000" dirty="0" err="1"/>
                <a:t>sd</a:t>
              </a:r>
              <a:endParaRPr lang="ko-KR" altLang="en-US" b="1" baseline="-25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F10A7D-4BD9-77C5-3F9C-8CE07C4A48F1}"/>
                </a:ext>
              </a:extLst>
            </p:cNvPr>
            <p:cNvSpPr txBox="1"/>
            <p:nvPr/>
          </p:nvSpPr>
          <p:spPr>
            <a:xfrm>
              <a:off x="939452" y="2499181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 err="1"/>
                <a:t>T</a:t>
              </a:r>
              <a:r>
                <a:rPr lang="en-US" altLang="ko-KR" b="1" baseline="-25000" dirty="0" err="1"/>
                <a:t>body</a:t>
              </a:r>
              <a:endParaRPr lang="ko-KR" altLang="en-US" b="1" baseline="-250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0EC3F4-395A-3D26-3623-C55DA4B40B8E}"/>
                </a:ext>
              </a:extLst>
            </p:cNvPr>
            <p:cNvSpPr txBox="1"/>
            <p:nvPr/>
          </p:nvSpPr>
          <p:spPr>
            <a:xfrm>
              <a:off x="2372905" y="2713176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 err="1"/>
                <a:t>L</a:t>
              </a:r>
              <a:r>
                <a:rPr lang="en-US" altLang="ko-KR" b="1" baseline="-25000" dirty="0" err="1"/>
                <a:t>sd</a:t>
              </a:r>
              <a:endParaRPr lang="ko-KR" altLang="en-US" b="1" baseline="-25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B39850-F801-F79A-7A3D-4D72CA314C44}"/>
                </a:ext>
              </a:extLst>
            </p:cNvPr>
            <p:cNvSpPr txBox="1"/>
            <p:nvPr/>
          </p:nvSpPr>
          <p:spPr>
            <a:xfrm>
              <a:off x="6128349" y="1374623"/>
              <a:ext cx="449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/>
                <a:t>T</a:t>
              </a:r>
              <a:r>
                <a:rPr lang="en-US" altLang="ko-KR" b="1" baseline="-25000" dirty="0"/>
                <a:t>ox</a:t>
              </a:r>
              <a:endParaRPr lang="ko-KR" altLang="en-US" b="1" baseline="-250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A2E22C-B24E-07A7-EE66-2136C8A5AFA8}"/>
                </a:ext>
              </a:extLst>
            </p:cNvPr>
            <p:cNvSpPr txBox="1"/>
            <p:nvPr/>
          </p:nvSpPr>
          <p:spPr>
            <a:xfrm>
              <a:off x="6193367" y="1770655"/>
              <a:ext cx="7005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Drain</a:t>
              </a:r>
            </a:p>
            <a:p>
              <a:pPr algn="ctr"/>
              <a:r>
                <a:rPr lang="en-US" altLang="ko-KR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4858C8E-9A7D-1EE0-01A4-D8308201C1AD}"/>
                </a:ext>
              </a:extLst>
            </p:cNvPr>
            <p:cNvSpPr txBox="1"/>
            <p:nvPr/>
          </p:nvSpPr>
          <p:spPr>
            <a:xfrm>
              <a:off x="4272946" y="2870155"/>
              <a:ext cx="6703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Body</a:t>
              </a:r>
            </a:p>
            <a:p>
              <a:pPr algn="ctr"/>
              <a:r>
                <a:rPr lang="en-US" altLang="ko-KR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b="1" i="1" baseline="-25000" dirty="0" err="1">
                  <a:solidFill>
                    <a:schemeClr val="bg1"/>
                  </a:solidFill>
                </a:rPr>
                <a:t>body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269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CCEB2-FBE1-6325-30D2-8710589C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18922-58A5-3FD7-0562-04ADE27B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B61CDB-5F5D-5454-E940-D1112DCD3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124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Long</a:t>
            </a:r>
            <a:r>
              <a:rPr lang="ko-KR" altLang="en-US" sz="2500" b="1" dirty="0"/>
              <a:t> </a:t>
            </a:r>
            <a:r>
              <a:rPr lang="en-US" altLang="ko-KR" sz="2500" b="1" dirty="0"/>
              <a:t>channel</a:t>
            </a:r>
            <a:r>
              <a:rPr lang="ko-KR" altLang="en-US" sz="2500" b="1" dirty="0"/>
              <a:t> </a:t>
            </a:r>
            <a:r>
              <a:rPr lang="en-US" altLang="ko-KR" sz="2500" b="1" dirty="0"/>
              <a:t>MOSFET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Body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Non-ideal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Short channel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Summary</a:t>
            </a:r>
            <a:endParaRPr lang="ko-KR" altLang="en-US" sz="25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8E0FB-81FF-769F-0C66-5C9D8E6C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96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6613-57C2-A732-20DA-C4946354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3012A-1C82-D4BC-4336-FDB820AD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region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D2AF4B-4CD8-4033-33ED-111F0F3E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2BD734-32FB-5605-4466-771D0A5065E2}"/>
              </a:ext>
            </a:extLst>
          </p:cNvPr>
          <p:cNvSpPr/>
          <p:nvPr/>
        </p:nvSpPr>
        <p:spPr>
          <a:xfrm>
            <a:off x="4054542" y="933852"/>
            <a:ext cx="1836296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Accumulation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63E8D3-E79B-61B5-7F08-073385B82B11}"/>
              </a:ext>
            </a:extLst>
          </p:cNvPr>
          <p:cNvSpPr/>
          <p:nvPr/>
        </p:nvSpPr>
        <p:spPr>
          <a:xfrm>
            <a:off x="1209793" y="3922153"/>
            <a:ext cx="1836295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Depletion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497A30-2694-EFED-3957-9AA2C2EDEEDF}"/>
              </a:ext>
            </a:extLst>
          </p:cNvPr>
          <p:cNvSpPr/>
          <p:nvPr/>
        </p:nvSpPr>
        <p:spPr>
          <a:xfrm>
            <a:off x="4011260" y="3943752"/>
            <a:ext cx="1836296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Threshold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388D79-28BD-D9BE-113D-0C8EC83C59C5}"/>
              </a:ext>
            </a:extLst>
          </p:cNvPr>
          <p:cNvSpPr/>
          <p:nvPr/>
        </p:nvSpPr>
        <p:spPr>
          <a:xfrm>
            <a:off x="6679216" y="3943752"/>
            <a:ext cx="1836296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Strong inversion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2078F97-3FBA-4567-4836-495A72563710}"/>
              </a:ext>
            </a:extLst>
          </p:cNvPr>
          <p:cNvGrpSpPr/>
          <p:nvPr/>
        </p:nvGrpSpPr>
        <p:grpSpPr>
          <a:xfrm>
            <a:off x="162408" y="1415762"/>
            <a:ext cx="3534240" cy="2203881"/>
            <a:chOff x="93232" y="2441040"/>
            <a:chExt cx="3534240" cy="2203881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569C507-1365-0E9E-2B9B-C070C8EF4F6B}"/>
                </a:ext>
              </a:extLst>
            </p:cNvPr>
            <p:cNvSpPr/>
            <p:nvPr/>
          </p:nvSpPr>
          <p:spPr>
            <a:xfrm>
              <a:off x="93232" y="3145997"/>
              <a:ext cx="3534240" cy="14989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9A4F91C-1FC2-C0F6-B4AD-A1D7B2174264}"/>
                </a:ext>
              </a:extLst>
            </p:cNvPr>
            <p:cNvSpPr/>
            <p:nvPr/>
          </p:nvSpPr>
          <p:spPr>
            <a:xfrm>
              <a:off x="93233" y="3145997"/>
              <a:ext cx="883560" cy="5776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E506D36-DA09-C0D4-E7A8-0662FDD32454}"/>
                </a:ext>
              </a:extLst>
            </p:cNvPr>
            <p:cNvSpPr/>
            <p:nvPr/>
          </p:nvSpPr>
          <p:spPr>
            <a:xfrm>
              <a:off x="2743912" y="3145997"/>
              <a:ext cx="883560" cy="5776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61C0D3D-9764-14B2-50A4-0035A7FB4BFA}"/>
                </a:ext>
              </a:extLst>
            </p:cNvPr>
            <p:cNvSpPr/>
            <p:nvPr/>
          </p:nvSpPr>
          <p:spPr>
            <a:xfrm>
              <a:off x="976480" y="2908967"/>
              <a:ext cx="1767119" cy="23703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A363E8E-DD0B-DCEA-7155-5662117384A6}"/>
                </a:ext>
              </a:extLst>
            </p:cNvPr>
            <p:cNvSpPr/>
            <p:nvPr/>
          </p:nvSpPr>
          <p:spPr>
            <a:xfrm>
              <a:off x="976792" y="2441040"/>
              <a:ext cx="1767119" cy="46792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266F6BE-B0D5-6642-9B29-D9BF16C4BE54}"/>
                </a:ext>
              </a:extLst>
            </p:cNvPr>
            <p:cNvSpPr txBox="1"/>
            <p:nvPr/>
          </p:nvSpPr>
          <p:spPr>
            <a:xfrm>
              <a:off x="217274" y="3165655"/>
              <a:ext cx="6535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Source</a:t>
              </a:r>
            </a:p>
            <a:p>
              <a:pPr algn="ctr"/>
              <a:r>
                <a:rPr lang="en-US" altLang="ko-KR" sz="1300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sz="1300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ABE78FD-DB7B-4B58-EC3E-ADF778D69DB4}"/>
                </a:ext>
              </a:extLst>
            </p:cNvPr>
            <p:cNvSpPr txBox="1"/>
            <p:nvPr/>
          </p:nvSpPr>
          <p:spPr>
            <a:xfrm>
              <a:off x="1246668" y="2891517"/>
              <a:ext cx="135594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chemeClr val="bg1"/>
                  </a:solidFill>
                </a:rPr>
                <a:t>Gate oxide (SiO</a:t>
              </a:r>
              <a:r>
                <a:rPr lang="en-US" altLang="ko-KR" sz="1300" b="1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ko-KR" sz="1300" b="1" dirty="0">
                  <a:solidFill>
                    <a:schemeClr val="bg1"/>
                  </a:solidFill>
                </a:rPr>
                <a:t>)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7706E4-B7C0-F164-7DA4-E1547E5C1EF2}"/>
                </a:ext>
              </a:extLst>
            </p:cNvPr>
            <p:cNvSpPr txBox="1"/>
            <p:nvPr/>
          </p:nvSpPr>
          <p:spPr>
            <a:xfrm>
              <a:off x="1467616" y="2521590"/>
              <a:ext cx="88479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chemeClr val="bg1"/>
                  </a:solidFill>
                </a:rPr>
                <a:t>Gate (</a:t>
              </a:r>
              <a:r>
                <a:rPr lang="en-US" altLang="ko-KR" sz="1300" b="1" dirty="0" err="1">
                  <a:solidFill>
                    <a:schemeClr val="bg1"/>
                  </a:solidFill>
                </a:rPr>
                <a:t>TiN</a:t>
              </a:r>
              <a:r>
                <a:rPr lang="en-US" altLang="ko-KR" sz="1300" b="1" dirty="0">
                  <a:solidFill>
                    <a:schemeClr val="bg1"/>
                  </a:solidFill>
                </a:rPr>
                <a:t>)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841530-9C63-DD00-1A14-6FDDC186C56D}"/>
                </a:ext>
              </a:extLst>
            </p:cNvPr>
            <p:cNvSpPr txBox="1"/>
            <p:nvPr/>
          </p:nvSpPr>
          <p:spPr>
            <a:xfrm>
              <a:off x="2920429" y="3165655"/>
              <a:ext cx="5593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Drain</a:t>
              </a:r>
            </a:p>
            <a:p>
              <a:pPr algn="ctr"/>
              <a:r>
                <a:rPr lang="en-US" altLang="ko-KR" sz="1300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sz="1300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55769FA-DBF1-7700-A425-3F8D2BDBFA5F}"/>
                </a:ext>
              </a:extLst>
            </p:cNvPr>
            <p:cNvSpPr txBox="1"/>
            <p:nvPr/>
          </p:nvSpPr>
          <p:spPr>
            <a:xfrm>
              <a:off x="1617043" y="3975184"/>
              <a:ext cx="53572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Body</a:t>
              </a:r>
            </a:p>
            <a:p>
              <a:pPr algn="ctr"/>
              <a:r>
                <a:rPr lang="en-US" altLang="ko-KR" sz="1300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sz="1300" b="1" i="1" baseline="-25000" dirty="0" err="1">
                  <a:solidFill>
                    <a:schemeClr val="bg1"/>
                  </a:solidFill>
                </a:rPr>
                <a:t>body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5" name="타원 44">
            <a:extLst>
              <a:ext uri="{FF2B5EF4-FFF2-40B4-BE49-F238E27FC236}">
                <a16:creationId xmlns:a16="http://schemas.microsoft.com/office/drawing/2014/main" id="{2CBB326F-A532-BA73-B33A-FDCC260CB973}"/>
              </a:ext>
            </a:extLst>
          </p:cNvPr>
          <p:cNvSpPr/>
          <p:nvPr/>
        </p:nvSpPr>
        <p:spPr>
          <a:xfrm>
            <a:off x="1903247" y="1386131"/>
            <a:ext cx="101667" cy="1014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46BE385C-2B43-0805-C302-3C7277F7A7D0}"/>
              </a:ext>
            </a:extLst>
          </p:cNvPr>
          <p:cNvSpPr/>
          <p:nvPr/>
        </p:nvSpPr>
        <p:spPr>
          <a:xfrm>
            <a:off x="3218431" y="2089649"/>
            <a:ext cx="101667" cy="1014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557B89D-6828-CDE9-A337-508CE860DFCC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1954081" y="1164367"/>
            <a:ext cx="0" cy="2217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C3DDB2D-E944-5A1C-6737-40C40C9F415A}"/>
              </a:ext>
            </a:extLst>
          </p:cNvPr>
          <p:cNvCxnSpPr>
            <a:cxnSpLocks/>
          </p:cNvCxnSpPr>
          <p:nvPr/>
        </p:nvCxnSpPr>
        <p:spPr>
          <a:xfrm flipV="1">
            <a:off x="3269250" y="1866239"/>
            <a:ext cx="0" cy="241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ABCEA72-4D48-4BBB-C7A3-418EEE8DC982}"/>
              </a:ext>
            </a:extLst>
          </p:cNvPr>
          <p:cNvSpPr txBox="1"/>
          <p:nvPr/>
        </p:nvSpPr>
        <p:spPr>
          <a:xfrm>
            <a:off x="1010214" y="752641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V</a:t>
            </a:r>
            <a:r>
              <a:rPr lang="en-US" altLang="ko-KR" b="1" baseline="-25000" dirty="0"/>
              <a:t>GS </a:t>
            </a:r>
            <a:r>
              <a:rPr lang="en-US" altLang="ko-KR" b="1" dirty="0"/>
              <a:t>-1.0 V ~ 3.0 V</a:t>
            </a:r>
            <a:endParaRPr lang="ko-KR" alt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43026B-E383-708E-ED81-7C3DF466F6F2}"/>
              </a:ext>
            </a:extLst>
          </p:cNvPr>
          <p:cNvSpPr txBox="1"/>
          <p:nvPr/>
        </p:nvSpPr>
        <p:spPr>
          <a:xfrm>
            <a:off x="2854234" y="1496907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V</a:t>
            </a:r>
            <a:r>
              <a:rPr lang="en-US" altLang="ko-KR" b="1" baseline="-25000" dirty="0"/>
              <a:t>DS</a:t>
            </a:r>
            <a:r>
              <a:rPr lang="en-US" altLang="ko-KR" b="1" dirty="0"/>
              <a:t> 5.0 V</a:t>
            </a:r>
            <a:endParaRPr lang="ko-KR" altLang="en-US" b="1" baseline="-25000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66F0EE7-0AF0-0CCF-5955-833F98982C1E}"/>
              </a:ext>
            </a:extLst>
          </p:cNvPr>
          <p:cNvCxnSpPr>
            <a:cxnSpLocks/>
            <a:stCxn id="45" idx="4"/>
            <a:endCxn id="23" idx="2"/>
          </p:cNvCxnSpPr>
          <p:nvPr/>
        </p:nvCxnSpPr>
        <p:spPr>
          <a:xfrm flipH="1">
            <a:off x="1929528" y="1487587"/>
            <a:ext cx="24553" cy="2132056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6BE96C4-ADD6-410F-A510-C4B410B84DD2}"/>
              </a:ext>
            </a:extLst>
          </p:cNvPr>
          <p:cNvSpPr txBox="1"/>
          <p:nvPr/>
        </p:nvSpPr>
        <p:spPr>
          <a:xfrm>
            <a:off x="1914860" y="2316183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cut-line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개체 14">
            <a:extLst>
              <a:ext uri="{FF2B5EF4-FFF2-40B4-BE49-F238E27FC236}">
                <a16:creationId xmlns:a16="http://schemas.microsoft.com/office/drawing/2014/main" id="{7366A734-A195-90BA-4A47-A5A79C8E9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059106"/>
              </p:ext>
            </p:extLst>
          </p:nvPr>
        </p:nvGraphicFramePr>
        <p:xfrm>
          <a:off x="3603155" y="1311181"/>
          <a:ext cx="3150820" cy="222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3155" y="1311181"/>
                        <a:ext cx="3150820" cy="2228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A97006F4-D2C1-E0D7-2307-373342D7FC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076419"/>
              </p:ext>
            </p:extLst>
          </p:nvPr>
        </p:nvGraphicFramePr>
        <p:xfrm>
          <a:off x="723490" y="4363022"/>
          <a:ext cx="3149950" cy="222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3404041" imgH="23631321" progId="Origin50.Graph">
                  <p:embed/>
                </p:oleObj>
              </mc:Choice>
              <mc:Fallback>
                <p:oleObj name="Graph" r:id="rId4" imgW="33404041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3490" y="4363022"/>
                        <a:ext cx="3149950" cy="2228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C8CA7943-7AB7-7A90-11D2-33DD125CB7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880477"/>
              </p:ext>
            </p:extLst>
          </p:nvPr>
        </p:nvGraphicFramePr>
        <p:xfrm>
          <a:off x="6192914" y="4369002"/>
          <a:ext cx="3149950" cy="222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3404041" imgH="23631321" progId="Origin50.Graph">
                  <p:embed/>
                </p:oleObj>
              </mc:Choice>
              <mc:Fallback>
                <p:oleObj name="Graph" r:id="rId6" imgW="33404041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92914" y="4369002"/>
                        <a:ext cx="3149950" cy="2228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10E8B69-925C-53E8-0BC0-07C5CF14873C}"/>
              </a:ext>
            </a:extLst>
          </p:cNvPr>
          <p:cNvSpPr txBox="1"/>
          <p:nvPr/>
        </p:nvSpPr>
        <p:spPr>
          <a:xfrm>
            <a:off x="4238055" y="319777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D3884-DF1F-C458-6D1A-E76DAAABB09F}"/>
              </a:ext>
            </a:extLst>
          </p:cNvPr>
          <p:cNvSpPr txBox="1"/>
          <p:nvPr/>
        </p:nvSpPr>
        <p:spPr>
          <a:xfrm>
            <a:off x="4638198" y="319519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A332DB-DAB2-004D-2583-B4F76627A30A}"/>
              </a:ext>
            </a:extLst>
          </p:cNvPr>
          <p:cNvSpPr txBox="1"/>
          <p:nvPr/>
        </p:nvSpPr>
        <p:spPr>
          <a:xfrm>
            <a:off x="5024076" y="318808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97DD9E-1CEA-389C-1178-08BC8A0937F7}"/>
              </a:ext>
            </a:extLst>
          </p:cNvPr>
          <p:cNvSpPr txBox="1"/>
          <p:nvPr/>
        </p:nvSpPr>
        <p:spPr>
          <a:xfrm>
            <a:off x="4192335" y="621638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2D4707-D5F1-6D38-DC11-B3F73BA8BD5B}"/>
              </a:ext>
            </a:extLst>
          </p:cNvPr>
          <p:cNvSpPr txBox="1"/>
          <p:nvPr/>
        </p:nvSpPr>
        <p:spPr>
          <a:xfrm>
            <a:off x="4592478" y="6213803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F5C30F-F853-0A79-E0A7-E7B52DF08DE8}"/>
              </a:ext>
            </a:extLst>
          </p:cNvPr>
          <p:cNvSpPr txBox="1"/>
          <p:nvPr/>
        </p:nvSpPr>
        <p:spPr>
          <a:xfrm>
            <a:off x="4978356" y="620669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A50BE-DA31-08D7-CD5A-F8848E592B40}"/>
              </a:ext>
            </a:extLst>
          </p:cNvPr>
          <p:cNvSpPr txBox="1"/>
          <p:nvPr/>
        </p:nvSpPr>
        <p:spPr>
          <a:xfrm>
            <a:off x="6843122" y="621638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6B0CF-971D-6B77-78C0-78A36A849EE1}"/>
              </a:ext>
            </a:extLst>
          </p:cNvPr>
          <p:cNvSpPr txBox="1"/>
          <p:nvPr/>
        </p:nvSpPr>
        <p:spPr>
          <a:xfrm>
            <a:off x="7243265" y="6213803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4DCDA3-6A5A-1319-7DC1-6A8A4F2DD60E}"/>
              </a:ext>
            </a:extLst>
          </p:cNvPr>
          <p:cNvSpPr txBox="1"/>
          <p:nvPr/>
        </p:nvSpPr>
        <p:spPr>
          <a:xfrm>
            <a:off x="7629143" y="620669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AC65E3-9734-C8FB-8A24-335CE57F9797}"/>
              </a:ext>
            </a:extLst>
          </p:cNvPr>
          <p:cNvSpPr/>
          <p:nvPr/>
        </p:nvSpPr>
        <p:spPr>
          <a:xfrm>
            <a:off x="6679216" y="928423"/>
            <a:ext cx="1836296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Flat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band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08920079-81DC-CA6E-6271-F496AD166A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829578"/>
              </p:ext>
            </p:extLst>
          </p:nvPr>
        </p:nvGraphicFramePr>
        <p:xfrm>
          <a:off x="6148010" y="1306987"/>
          <a:ext cx="3317329" cy="2346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3404041" imgH="23631321" progId="Origin50.Graph">
                  <p:embed/>
                </p:oleObj>
              </mc:Choice>
              <mc:Fallback>
                <p:oleObj name="Graph" r:id="rId8" imgW="33404041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48010" y="1306987"/>
                        <a:ext cx="3317329" cy="2346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810E26F2-B1E8-A824-6E22-14BB171101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584266"/>
              </p:ext>
            </p:extLst>
          </p:nvPr>
        </p:nvGraphicFramePr>
        <p:xfrm>
          <a:off x="3568140" y="4363022"/>
          <a:ext cx="3229262" cy="2284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33404041" imgH="23631321" progId="Origin50.Graph">
                  <p:embed/>
                </p:oleObj>
              </mc:Choice>
              <mc:Fallback>
                <p:oleObj name="Graph" r:id="rId10" imgW="33404041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68140" y="4363022"/>
                        <a:ext cx="3229262" cy="2284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5070D20-10F2-04D9-D1E5-6191FF24ED32}"/>
              </a:ext>
            </a:extLst>
          </p:cNvPr>
          <p:cNvSpPr txBox="1"/>
          <p:nvPr/>
        </p:nvSpPr>
        <p:spPr>
          <a:xfrm>
            <a:off x="6845676" y="319777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584A3D-06C4-C5B0-6FFE-C87B332EE994}"/>
              </a:ext>
            </a:extLst>
          </p:cNvPr>
          <p:cNvSpPr txBox="1"/>
          <p:nvPr/>
        </p:nvSpPr>
        <p:spPr>
          <a:xfrm>
            <a:off x="7245819" y="319519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68015-2333-379C-BF45-46A04DA6F8BA}"/>
              </a:ext>
            </a:extLst>
          </p:cNvPr>
          <p:cNvSpPr txBox="1"/>
          <p:nvPr/>
        </p:nvSpPr>
        <p:spPr>
          <a:xfrm>
            <a:off x="7631697" y="318808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4F88D-093F-E643-64CD-04BDD8D70DE7}"/>
              </a:ext>
            </a:extLst>
          </p:cNvPr>
          <p:cNvSpPr txBox="1"/>
          <p:nvPr/>
        </p:nvSpPr>
        <p:spPr>
          <a:xfrm>
            <a:off x="1353203" y="621638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8D543F-F27A-E71A-387D-454DB287E395}"/>
              </a:ext>
            </a:extLst>
          </p:cNvPr>
          <p:cNvSpPr txBox="1"/>
          <p:nvPr/>
        </p:nvSpPr>
        <p:spPr>
          <a:xfrm>
            <a:off x="1753346" y="6213803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99564E-E9CE-3BB7-FD35-E4952A658619}"/>
              </a:ext>
            </a:extLst>
          </p:cNvPr>
          <p:cNvSpPr txBox="1"/>
          <p:nvPr/>
        </p:nvSpPr>
        <p:spPr>
          <a:xfrm>
            <a:off x="2139224" y="620669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417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132B-BDC5-11F1-F201-B0EE71E5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8A5FC763-FFDF-AFF8-FF59-DED34D7224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935075"/>
              </p:ext>
            </p:extLst>
          </p:nvPr>
        </p:nvGraphicFramePr>
        <p:xfrm>
          <a:off x="-157248" y="786383"/>
          <a:ext cx="4164734" cy="294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020E6C4E-96A2-DA9A-3303-F658767C8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7248" y="786383"/>
                        <a:ext cx="4164734" cy="2945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62063F80-790C-731F-3BD1-1D4CA47F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region (Accumulation)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FFC8ED-FB21-1322-58E6-0639E79A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FE09D7AE-8E8B-4B01-D86B-8294CEE61039}"/>
              </a:ext>
            </a:extLst>
          </p:cNvPr>
          <p:cNvSpPr/>
          <p:nvPr/>
        </p:nvSpPr>
        <p:spPr>
          <a:xfrm>
            <a:off x="1059050" y="2352902"/>
            <a:ext cx="108607" cy="11855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A45DD6F-DD2E-9960-2BA9-0E09D95F7C38}"/>
              </a:ext>
            </a:extLst>
          </p:cNvPr>
          <p:cNvSpPr txBox="1"/>
          <p:nvPr/>
        </p:nvSpPr>
        <p:spPr>
          <a:xfrm>
            <a:off x="1007474" y="2011844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Accumulation</a:t>
            </a:r>
            <a:endParaRPr lang="ko-KR" altLang="en-US" sz="1000" b="1" baseline="-25000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062A9A43-E42A-3F53-E3B2-630C8260E0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8648" y="485775"/>
          <a:ext cx="4567102" cy="3229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3413522" imgH="23631321" progId="Origin50.Graph">
                  <p:embed/>
                </p:oleObj>
              </mc:Choice>
              <mc:Fallback>
                <p:oleObj name="Graph" r:id="rId4" imgW="33413522" imgH="23631321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C2C086B9-7207-A0CE-AF91-08A1AE513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98648" y="485775"/>
                        <a:ext cx="4567102" cy="3229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185411-FC65-3614-253D-49025F938546}"/>
              </a:ext>
            </a:extLst>
          </p:cNvPr>
          <p:cNvSpPr txBox="1"/>
          <p:nvPr/>
        </p:nvSpPr>
        <p:spPr>
          <a:xfrm>
            <a:off x="5260337" y="317646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4B712B-083C-ACEC-F683-3A9E2E4EFDFF}"/>
              </a:ext>
            </a:extLst>
          </p:cNvPr>
          <p:cNvSpPr txBox="1"/>
          <p:nvPr/>
        </p:nvSpPr>
        <p:spPr>
          <a:xfrm>
            <a:off x="5784826" y="317388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69EC54-1419-9971-B7A1-49CCB3BE6B21}"/>
              </a:ext>
            </a:extLst>
          </p:cNvPr>
          <p:cNvSpPr txBox="1"/>
          <p:nvPr/>
        </p:nvSpPr>
        <p:spPr>
          <a:xfrm>
            <a:off x="6291175" y="317439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70662A4-0C24-77BB-C813-70BD82FAC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39" y="3955077"/>
            <a:ext cx="2982994" cy="25742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1D03CF2-2532-EBDD-0A15-E93D9CAA4E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272" y="4954210"/>
            <a:ext cx="1408728" cy="157511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501EB39-83AA-15AB-E3CE-82AABE5B38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093" y="3999050"/>
            <a:ext cx="2982994" cy="257424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57F56FA-EB25-8091-0CA4-EA0EDB17BB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1180" y="4939420"/>
            <a:ext cx="1090747" cy="158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3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5F89-2A92-EC75-1747-920A90F0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개체 26">
            <a:extLst>
              <a:ext uri="{FF2B5EF4-FFF2-40B4-BE49-F238E27FC236}">
                <a16:creationId xmlns:a16="http://schemas.microsoft.com/office/drawing/2014/main" id="{09AC4B05-C525-3D92-E857-AFDA29363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935075"/>
              </p:ext>
            </p:extLst>
          </p:nvPr>
        </p:nvGraphicFramePr>
        <p:xfrm>
          <a:off x="-157248" y="786383"/>
          <a:ext cx="4164734" cy="294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020E6C4E-96A2-DA9A-3303-F658767C8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7248" y="786383"/>
                        <a:ext cx="4164734" cy="2945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574BE5A-D2BB-AF5B-11E5-3C907B2C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region (Flat band)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A663A9-871F-1DD1-3278-1E90BD24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A893878C-38AA-1849-9D1F-53A17E9B50D1}"/>
              </a:ext>
            </a:extLst>
          </p:cNvPr>
          <p:cNvSpPr/>
          <p:nvPr/>
        </p:nvSpPr>
        <p:spPr>
          <a:xfrm>
            <a:off x="1459133" y="2542349"/>
            <a:ext cx="108607" cy="11855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EF47C8-1F4D-60DF-A537-8514E57EE028}"/>
              </a:ext>
            </a:extLst>
          </p:cNvPr>
          <p:cNvSpPr txBox="1"/>
          <p:nvPr/>
        </p:nvSpPr>
        <p:spPr>
          <a:xfrm>
            <a:off x="1513436" y="2335753"/>
            <a:ext cx="6815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Flat band</a:t>
            </a:r>
            <a:endParaRPr lang="ko-KR" altLang="en-US" sz="1000" b="1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5E224-B7D3-C0B5-69AA-12E28F9085A7}"/>
              </a:ext>
            </a:extLst>
          </p:cNvPr>
          <p:cNvSpPr txBox="1"/>
          <p:nvPr/>
        </p:nvSpPr>
        <p:spPr>
          <a:xfrm>
            <a:off x="5260337" y="317646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B226A-41AB-B9D5-7E63-AB8DA56F0D29}"/>
              </a:ext>
            </a:extLst>
          </p:cNvPr>
          <p:cNvSpPr txBox="1"/>
          <p:nvPr/>
        </p:nvSpPr>
        <p:spPr>
          <a:xfrm>
            <a:off x="5784826" y="317388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B8218-5C92-086B-2E53-FB5BD5079B6C}"/>
              </a:ext>
            </a:extLst>
          </p:cNvPr>
          <p:cNvSpPr txBox="1"/>
          <p:nvPr/>
        </p:nvSpPr>
        <p:spPr>
          <a:xfrm>
            <a:off x="6291175" y="317439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AB9A8453-8A66-8443-D645-112398FD0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758700"/>
              </p:ext>
            </p:extLst>
          </p:nvPr>
        </p:nvGraphicFramePr>
        <p:xfrm>
          <a:off x="4117289" y="414899"/>
          <a:ext cx="4766231" cy="33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3404041" imgH="23631321" progId="Origin50.Graph">
                  <p:embed/>
                </p:oleObj>
              </mc:Choice>
              <mc:Fallback>
                <p:oleObj name="Graph" r:id="rId4" imgW="33404041" imgH="23631321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08920079-81DC-CA6E-6271-F496AD166A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7289" y="414899"/>
                        <a:ext cx="4766231" cy="33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75ED7A4B-E22F-0527-0378-634EA9FC7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857" y="3962401"/>
            <a:ext cx="2955970" cy="254109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CDE8D00-0EC2-E9C8-8EE4-9F003E1470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2428" y="3961845"/>
            <a:ext cx="2955970" cy="255033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BC40C26-356A-E7F7-E0F0-09622F0576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12" y="3961845"/>
            <a:ext cx="2948457" cy="254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568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C6EC-BECA-B70E-B389-95A68C3A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6F576A50-2EFE-EB60-D66C-B6428C55E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935075"/>
              </p:ext>
            </p:extLst>
          </p:nvPr>
        </p:nvGraphicFramePr>
        <p:xfrm>
          <a:off x="-157248" y="786383"/>
          <a:ext cx="4164734" cy="294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020E6C4E-96A2-DA9A-3303-F658767C8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7248" y="786383"/>
                        <a:ext cx="4164734" cy="2945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36AD7A9D-8254-4F36-FCE0-ABC0C25A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region (Depletion)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003546-19C5-0917-09DC-9F13058B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3786B888-083D-19D7-1346-5F20549E49B0}"/>
              </a:ext>
            </a:extLst>
          </p:cNvPr>
          <p:cNvSpPr/>
          <p:nvPr/>
        </p:nvSpPr>
        <p:spPr>
          <a:xfrm>
            <a:off x="2031842" y="2720339"/>
            <a:ext cx="108607" cy="11855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2D57A63-E8D5-1F31-DF17-C27222FA8491}"/>
              </a:ext>
            </a:extLst>
          </p:cNvPr>
          <p:cNvSpPr txBox="1"/>
          <p:nvPr/>
        </p:nvSpPr>
        <p:spPr>
          <a:xfrm>
            <a:off x="2140449" y="2592675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Depletion</a:t>
            </a:r>
            <a:endParaRPr lang="ko-KR" altLang="en-US" sz="1000" b="1" baseline="-25000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64F7F3C5-8814-93B0-57C6-96CCC492AE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621637"/>
              </p:ext>
            </p:extLst>
          </p:nvPr>
        </p:nvGraphicFramePr>
        <p:xfrm>
          <a:off x="4132684" y="527033"/>
          <a:ext cx="4611266" cy="326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3404041" imgH="23631321" progId="Origin50.Graph">
                  <p:embed/>
                </p:oleObj>
              </mc:Choice>
              <mc:Fallback>
                <p:oleObj name="Graph" r:id="rId4" imgW="33404041" imgH="23631321" progId="Origin50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64F7F3C5-8814-93B0-57C6-96CCC492AE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32684" y="527033"/>
                        <a:ext cx="4611266" cy="326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DD0FC-73F0-B878-BDA0-19E65E62865E}"/>
              </a:ext>
            </a:extLst>
          </p:cNvPr>
          <p:cNvSpPr txBox="1"/>
          <p:nvPr/>
        </p:nvSpPr>
        <p:spPr>
          <a:xfrm>
            <a:off x="5202869" y="320286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513C0-9C0E-DC20-6D77-1865D0E29F96}"/>
              </a:ext>
            </a:extLst>
          </p:cNvPr>
          <p:cNvSpPr txBox="1"/>
          <p:nvPr/>
        </p:nvSpPr>
        <p:spPr>
          <a:xfrm>
            <a:off x="5727358" y="320028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E91BB-906B-58B7-9E4A-1F76643F7FE8}"/>
              </a:ext>
            </a:extLst>
          </p:cNvPr>
          <p:cNvSpPr txBox="1"/>
          <p:nvPr/>
        </p:nvSpPr>
        <p:spPr>
          <a:xfrm>
            <a:off x="6233707" y="3200792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B79F72C-CB63-386D-3A71-9C369B6F42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3272" y="4954210"/>
            <a:ext cx="1408728" cy="157511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3869969-490B-379A-F3FC-CC622253B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9369" y="4923089"/>
            <a:ext cx="1098350" cy="163802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955A1F0-0801-0B47-FA14-80C58E5FD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7727" y="3985808"/>
            <a:ext cx="3011060" cy="257530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9A0FD75-DEDB-9561-257E-F01E860C91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639" y="3960330"/>
            <a:ext cx="2993630" cy="259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3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7726D-3681-2280-2F97-BED8E4D1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062295FB-242B-D29F-AA81-7F8578DF9D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787444"/>
              </p:ext>
            </p:extLst>
          </p:nvPr>
        </p:nvGraphicFramePr>
        <p:xfrm>
          <a:off x="-157248" y="786383"/>
          <a:ext cx="4164734" cy="294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020E6C4E-96A2-DA9A-3303-F658767C8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7248" y="786383"/>
                        <a:ext cx="4164734" cy="2945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6C8528A3-848A-2D6B-03DC-7F98D9BB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region (Threshold)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B9A44-6E85-0F97-01B1-0080E652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D8369DCD-B193-DE46-96AF-4C2D5921B3E6}"/>
              </a:ext>
            </a:extLst>
          </p:cNvPr>
          <p:cNvSpPr/>
          <p:nvPr/>
        </p:nvSpPr>
        <p:spPr>
          <a:xfrm>
            <a:off x="2330286" y="1827404"/>
            <a:ext cx="108607" cy="11855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3E1E309-4CE2-43B8-B7A1-7C6E3F459381}"/>
              </a:ext>
            </a:extLst>
          </p:cNvPr>
          <p:cNvSpPr txBox="1"/>
          <p:nvPr/>
        </p:nvSpPr>
        <p:spPr>
          <a:xfrm>
            <a:off x="2438893" y="1695794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Threshold</a:t>
            </a:r>
            <a:endParaRPr lang="ko-KR" altLang="en-US" sz="1000" b="1" baseline="-25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57110-C7BE-E953-54A4-8663CEA04A7A}"/>
              </a:ext>
            </a:extLst>
          </p:cNvPr>
          <p:cNvSpPr txBox="1"/>
          <p:nvPr/>
        </p:nvSpPr>
        <p:spPr>
          <a:xfrm>
            <a:off x="5202869" y="320286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E52BB-DD51-7A15-8FCE-F668C8825B4D}"/>
              </a:ext>
            </a:extLst>
          </p:cNvPr>
          <p:cNvSpPr txBox="1"/>
          <p:nvPr/>
        </p:nvSpPr>
        <p:spPr>
          <a:xfrm>
            <a:off x="5727358" y="320028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77AC7-338A-7A9C-17A0-EDD4E2ED7449}"/>
              </a:ext>
            </a:extLst>
          </p:cNvPr>
          <p:cNvSpPr txBox="1"/>
          <p:nvPr/>
        </p:nvSpPr>
        <p:spPr>
          <a:xfrm>
            <a:off x="6233707" y="3200792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7E9E671-D46F-F331-FF56-855E9D9AE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272" y="4954210"/>
            <a:ext cx="1408728" cy="157511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96F03CB-87FC-F84F-0A66-C641E817E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9369" y="4923089"/>
            <a:ext cx="1098350" cy="16380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5471632-C914-22E4-0795-9129004BC2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39" y="3969939"/>
            <a:ext cx="2976358" cy="25685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1471D2-8445-0B48-FDA7-73E32FDAA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5022" y="3992595"/>
            <a:ext cx="2982093" cy="2568519"/>
          </a:xfrm>
          <a:prstGeom prst="rect">
            <a:avLst/>
          </a:prstGeom>
        </p:spPr>
      </p:pic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3A83D989-F8FD-FF58-15EF-0EDF76D90F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086093"/>
              </p:ext>
            </p:extLst>
          </p:nvPr>
        </p:nvGraphicFramePr>
        <p:xfrm>
          <a:off x="4188648" y="531519"/>
          <a:ext cx="4488284" cy="3174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3404041" imgH="23631321" progId="Origin50.Graph">
                  <p:embed/>
                </p:oleObj>
              </mc:Choice>
              <mc:Fallback>
                <p:oleObj name="Graph" r:id="rId8" imgW="33404041" imgH="23631321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810E26F2-B1E8-A824-6E22-14BB171101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88648" y="531519"/>
                        <a:ext cx="4488284" cy="3174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37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3184-0AD1-8B52-8918-6A338CB6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020E6C4E-96A2-DA9A-3303-F658767C8E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123759"/>
              </p:ext>
            </p:extLst>
          </p:nvPr>
        </p:nvGraphicFramePr>
        <p:xfrm>
          <a:off x="-157248" y="786383"/>
          <a:ext cx="4164734" cy="294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7248" y="786383"/>
                        <a:ext cx="4164734" cy="2945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B17583D8-FE26-7F56-892E-5174871C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Operation region (Strong inversion)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8C42F-A564-51E8-D8AC-59E26A54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7F419391-9450-90B1-6427-E501CC5BF1D4}"/>
              </a:ext>
            </a:extLst>
          </p:cNvPr>
          <p:cNvSpPr/>
          <p:nvPr/>
        </p:nvSpPr>
        <p:spPr>
          <a:xfrm>
            <a:off x="2588440" y="1327741"/>
            <a:ext cx="108607" cy="11855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B8644A-9630-E2F7-C680-D85BEE9E86FA}"/>
              </a:ext>
            </a:extLst>
          </p:cNvPr>
          <p:cNvSpPr txBox="1"/>
          <p:nvPr/>
        </p:nvSpPr>
        <p:spPr>
          <a:xfrm>
            <a:off x="2638216" y="1433826"/>
            <a:ext cx="10550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Strong inversion</a:t>
            </a:r>
            <a:endParaRPr lang="ko-KR" altLang="en-US" sz="1000" b="1" baseline="-25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E95D770-B24A-1DFF-FBCC-393356C9B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855" y="4891308"/>
            <a:ext cx="1461016" cy="16412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E85520-1291-2454-D6F4-C9333B1D2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069" y="4860187"/>
            <a:ext cx="1143246" cy="1700927"/>
          </a:xfrm>
          <a:prstGeom prst="rect">
            <a:avLst/>
          </a:prstGeom>
        </p:spPr>
      </p:pic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415D93AE-55C1-B1BD-356A-F812F9CD0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949633"/>
              </p:ext>
            </p:extLst>
          </p:nvPr>
        </p:nvGraphicFramePr>
        <p:xfrm>
          <a:off x="4134614" y="467531"/>
          <a:ext cx="4591633" cy="3248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3404041" imgH="23631321" progId="Origin50.Graph">
                  <p:embed/>
                </p:oleObj>
              </mc:Choice>
              <mc:Fallback>
                <p:oleObj name="Graph" r:id="rId6" imgW="33404041" imgH="23631321" progId="Origin50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415D93AE-55C1-B1BD-356A-F812F9CD0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34614" y="467531"/>
                        <a:ext cx="4591633" cy="3248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4C2B02-D5C1-F00B-DA5C-577BEA530D7A}"/>
              </a:ext>
            </a:extLst>
          </p:cNvPr>
          <p:cNvSpPr txBox="1"/>
          <p:nvPr/>
        </p:nvSpPr>
        <p:spPr>
          <a:xfrm>
            <a:off x="5202869" y="320286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9B0A5-4E85-5D40-7E24-32425F355F98}"/>
              </a:ext>
            </a:extLst>
          </p:cNvPr>
          <p:cNvSpPr txBox="1"/>
          <p:nvPr/>
        </p:nvSpPr>
        <p:spPr>
          <a:xfrm>
            <a:off x="5727358" y="320028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CE3316-3239-99B8-8622-3FA7BBCDB676}"/>
              </a:ext>
            </a:extLst>
          </p:cNvPr>
          <p:cNvSpPr txBox="1"/>
          <p:nvPr/>
        </p:nvSpPr>
        <p:spPr>
          <a:xfrm>
            <a:off x="6233707" y="3200792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0A22963-D64C-9805-A27C-84DF5C179B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456" y="3989892"/>
            <a:ext cx="2946901" cy="254266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D595295-4E6F-36E0-D977-F1A9FB0FC6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639" y="3989892"/>
            <a:ext cx="2963070" cy="254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38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C0AD-BD55-80C0-9FE6-F82D43E5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CB08B-791F-C5B0-5DC8-0BF9EB3B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778257-0501-3BA2-F9A8-433ABF3259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124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Long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channel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MOSFET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Body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Non-ideal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Short channel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Summary</a:t>
            </a:r>
            <a:endParaRPr lang="ko-KR" altLang="en-US" sz="25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6BA72-272C-EB7D-D395-3ECF0DE6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420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F98EE-72A6-0257-2088-26C8288A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Body effect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8A724-A014-2C4F-9870-EA25281C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7FBA8B5C-71D6-2B8F-360F-BAD0830D1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329518"/>
              </p:ext>
            </p:extLst>
          </p:nvPr>
        </p:nvGraphicFramePr>
        <p:xfrm>
          <a:off x="4157683" y="969687"/>
          <a:ext cx="5114369" cy="3616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57683" y="969687"/>
                        <a:ext cx="5114369" cy="3616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5B98F839-6092-CAA1-D39D-A97BED8907B2}"/>
              </a:ext>
            </a:extLst>
          </p:cNvPr>
          <p:cNvGrpSpPr/>
          <p:nvPr/>
        </p:nvGrpSpPr>
        <p:grpSpPr>
          <a:xfrm>
            <a:off x="741340" y="1817441"/>
            <a:ext cx="3222171" cy="1947139"/>
            <a:chOff x="93232" y="2441040"/>
            <a:chExt cx="3534240" cy="220388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4F420CD-6DF5-A209-8657-BDC3E1FD4218}"/>
                </a:ext>
              </a:extLst>
            </p:cNvPr>
            <p:cNvSpPr/>
            <p:nvPr/>
          </p:nvSpPr>
          <p:spPr>
            <a:xfrm>
              <a:off x="93232" y="3145997"/>
              <a:ext cx="3534240" cy="14989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C26505-37D3-76DF-BAED-10E5CA068943}"/>
                </a:ext>
              </a:extLst>
            </p:cNvPr>
            <p:cNvSpPr/>
            <p:nvPr/>
          </p:nvSpPr>
          <p:spPr>
            <a:xfrm>
              <a:off x="93233" y="3145997"/>
              <a:ext cx="883560" cy="5776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B2BFD0-CE88-EAAF-6ABE-659A950982E8}"/>
                </a:ext>
              </a:extLst>
            </p:cNvPr>
            <p:cNvSpPr/>
            <p:nvPr/>
          </p:nvSpPr>
          <p:spPr>
            <a:xfrm>
              <a:off x="2743912" y="3145997"/>
              <a:ext cx="883560" cy="57764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4262167-2B6E-DED8-BC15-B3BF6A1D677E}"/>
                </a:ext>
              </a:extLst>
            </p:cNvPr>
            <p:cNvSpPr/>
            <p:nvPr/>
          </p:nvSpPr>
          <p:spPr>
            <a:xfrm>
              <a:off x="976480" y="2908967"/>
              <a:ext cx="1767119" cy="23703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6A01E36-E66B-B660-0B8A-87118D6ADCD3}"/>
                </a:ext>
              </a:extLst>
            </p:cNvPr>
            <p:cNvSpPr/>
            <p:nvPr/>
          </p:nvSpPr>
          <p:spPr>
            <a:xfrm>
              <a:off x="976792" y="2441040"/>
              <a:ext cx="1767119" cy="46792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E98DBE-9E48-F272-954D-8AEA631F5F62}"/>
                </a:ext>
              </a:extLst>
            </p:cNvPr>
            <p:cNvSpPr txBox="1"/>
            <p:nvPr/>
          </p:nvSpPr>
          <p:spPr>
            <a:xfrm>
              <a:off x="217274" y="3165655"/>
              <a:ext cx="6535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Source</a:t>
              </a:r>
            </a:p>
            <a:p>
              <a:pPr algn="ctr"/>
              <a:r>
                <a:rPr lang="en-US" altLang="ko-KR" sz="1300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sz="1300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8A4C4A-9221-9EE2-A60C-B9599D6E5914}"/>
                </a:ext>
              </a:extLst>
            </p:cNvPr>
            <p:cNvSpPr txBox="1"/>
            <p:nvPr/>
          </p:nvSpPr>
          <p:spPr>
            <a:xfrm>
              <a:off x="1246668" y="2891517"/>
              <a:ext cx="135594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chemeClr val="bg1"/>
                  </a:solidFill>
                </a:rPr>
                <a:t>Gate oxide (SiO</a:t>
              </a:r>
              <a:r>
                <a:rPr lang="en-US" altLang="ko-KR" sz="1300" b="1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ko-KR" sz="1300" b="1" dirty="0">
                  <a:solidFill>
                    <a:schemeClr val="bg1"/>
                  </a:solidFill>
                </a:rPr>
                <a:t>)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40B455-9A35-1D0A-E72D-157ECC39D668}"/>
                </a:ext>
              </a:extLst>
            </p:cNvPr>
            <p:cNvSpPr txBox="1"/>
            <p:nvPr/>
          </p:nvSpPr>
          <p:spPr>
            <a:xfrm>
              <a:off x="1467616" y="2521590"/>
              <a:ext cx="88479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chemeClr val="bg1"/>
                  </a:solidFill>
                </a:rPr>
                <a:t>Gate (</a:t>
              </a:r>
              <a:r>
                <a:rPr lang="en-US" altLang="ko-KR" sz="1300" b="1" dirty="0" err="1">
                  <a:solidFill>
                    <a:schemeClr val="bg1"/>
                  </a:solidFill>
                </a:rPr>
                <a:t>TiN</a:t>
              </a:r>
              <a:r>
                <a:rPr lang="en-US" altLang="ko-KR" sz="1300" b="1" dirty="0">
                  <a:solidFill>
                    <a:schemeClr val="bg1"/>
                  </a:solidFill>
                </a:rPr>
                <a:t>)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6E44F9-18FF-9CD2-3A18-3EA99719EE69}"/>
                </a:ext>
              </a:extLst>
            </p:cNvPr>
            <p:cNvSpPr txBox="1"/>
            <p:nvPr/>
          </p:nvSpPr>
          <p:spPr>
            <a:xfrm>
              <a:off x="2920429" y="3165655"/>
              <a:ext cx="5593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Drain</a:t>
              </a:r>
            </a:p>
            <a:p>
              <a:pPr algn="ctr"/>
              <a:r>
                <a:rPr lang="en-US" altLang="ko-KR" sz="1300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sz="1300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77D190-E670-9C5F-0FEF-95E4CAEE14B5}"/>
                </a:ext>
              </a:extLst>
            </p:cNvPr>
            <p:cNvSpPr txBox="1"/>
            <p:nvPr/>
          </p:nvSpPr>
          <p:spPr>
            <a:xfrm>
              <a:off x="1617043" y="3975184"/>
              <a:ext cx="53572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Body</a:t>
              </a:r>
            </a:p>
            <a:p>
              <a:pPr algn="ctr"/>
              <a:r>
                <a:rPr lang="en-US" altLang="ko-KR" sz="1300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sz="1300" b="1" i="1" baseline="-25000" dirty="0" err="1">
                  <a:solidFill>
                    <a:schemeClr val="bg1"/>
                  </a:solidFill>
                </a:rPr>
                <a:t>body</a:t>
              </a:r>
              <a:endParaRPr lang="ko-KR" altLang="en-US" sz="1300" b="1" baseline="-25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76E070F-3AA3-631E-6CC3-B4A53F0462E1}"/>
              </a:ext>
            </a:extLst>
          </p:cNvPr>
          <p:cNvGrpSpPr/>
          <p:nvPr/>
        </p:nvGrpSpPr>
        <p:grpSpPr>
          <a:xfrm>
            <a:off x="2324314" y="1630010"/>
            <a:ext cx="101667" cy="237965"/>
            <a:chOff x="2324314" y="1518917"/>
            <a:chExt cx="101667" cy="237965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D4AF347-802B-3A86-F72C-19E89FD798A8}"/>
                </a:ext>
              </a:extLst>
            </p:cNvPr>
            <p:cNvSpPr/>
            <p:nvPr/>
          </p:nvSpPr>
          <p:spPr>
            <a:xfrm>
              <a:off x="2324314" y="1655426"/>
              <a:ext cx="101667" cy="1014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81B0328-B3B6-37EF-7D09-5B2065DBD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5962" y="1518917"/>
              <a:ext cx="0" cy="1380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A63B400-9E26-D1C9-7014-0B9E13FF7BB2}"/>
              </a:ext>
            </a:extLst>
          </p:cNvPr>
          <p:cNvSpPr txBox="1"/>
          <p:nvPr/>
        </p:nvSpPr>
        <p:spPr>
          <a:xfrm>
            <a:off x="1422572" y="1279470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V</a:t>
            </a:r>
            <a:r>
              <a:rPr lang="en-US" altLang="ko-KR" b="1" baseline="-25000" dirty="0"/>
              <a:t>GS </a:t>
            </a:r>
            <a:r>
              <a:rPr lang="en-US" altLang="ko-KR" b="1" dirty="0"/>
              <a:t>-1.0 V ~ 3.0 V</a:t>
            </a:r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738FC5-7339-9E53-ABF3-12715D4B9935}"/>
              </a:ext>
            </a:extLst>
          </p:cNvPr>
          <p:cNvSpPr txBox="1"/>
          <p:nvPr/>
        </p:nvSpPr>
        <p:spPr>
          <a:xfrm>
            <a:off x="3079168" y="1830965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V</a:t>
            </a:r>
            <a:r>
              <a:rPr lang="en-US" altLang="ko-KR" b="1" baseline="-25000" dirty="0"/>
              <a:t>DS</a:t>
            </a:r>
            <a:r>
              <a:rPr lang="en-US" altLang="ko-KR" b="1" dirty="0"/>
              <a:t> 5.0 V</a:t>
            </a:r>
            <a:endParaRPr lang="ko-KR" altLang="en-US" b="1" baseline="-25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6A090-799F-4C37-FC0D-3A9C78145BBA}"/>
              </a:ext>
            </a:extLst>
          </p:cNvPr>
          <p:cNvSpPr txBox="1"/>
          <p:nvPr/>
        </p:nvSpPr>
        <p:spPr>
          <a:xfrm>
            <a:off x="1411694" y="3944615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V</a:t>
            </a:r>
            <a:r>
              <a:rPr lang="en-US" altLang="ko-KR" b="1" baseline="-25000" dirty="0"/>
              <a:t>BS</a:t>
            </a:r>
            <a:r>
              <a:rPr lang="en-US" altLang="ko-KR" b="1" dirty="0"/>
              <a:t> 0.0, -1.0, -2.0 V</a:t>
            </a:r>
            <a:endParaRPr lang="ko-KR" altLang="en-US" b="1" baseline="-250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C753866-87AA-F94C-0FB8-30661A316019}"/>
              </a:ext>
            </a:extLst>
          </p:cNvPr>
          <p:cNvCxnSpPr/>
          <p:nvPr/>
        </p:nvCxnSpPr>
        <p:spPr>
          <a:xfrm>
            <a:off x="6897189" y="2443859"/>
            <a:ext cx="11321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1353C28-1DB7-7CC8-BDEB-1FFBECF9969A}"/>
              </a:ext>
            </a:extLst>
          </p:cNvPr>
          <p:cNvSpPr txBox="1"/>
          <p:nvPr/>
        </p:nvSpPr>
        <p:spPr>
          <a:xfrm>
            <a:off x="7746724" y="2094233"/>
            <a:ext cx="10903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</a:rPr>
              <a:t>Body effect</a:t>
            </a:r>
            <a:endParaRPr lang="ko-KR" altLang="en-US" sz="1500" b="1" baseline="-25000" dirty="0">
              <a:solidFill>
                <a:srgbClr val="FF0000"/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3736E926-28B3-394D-7719-D5F36F9D4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722818"/>
              </p:ext>
            </p:extLst>
          </p:nvPr>
        </p:nvGraphicFramePr>
        <p:xfrm>
          <a:off x="243369" y="4444766"/>
          <a:ext cx="526868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34343">
                  <a:extLst>
                    <a:ext uri="{9D8B030D-6E8A-4147-A177-3AD203B41FA5}">
                      <a16:colId xmlns:a16="http://schemas.microsoft.com/office/drawing/2014/main" val="1726170914"/>
                    </a:ext>
                  </a:extLst>
                </a:gridCol>
                <a:gridCol w="2634343">
                  <a:extLst>
                    <a:ext uri="{9D8B030D-6E8A-4147-A177-3AD203B41FA5}">
                      <a16:colId xmlns:a16="http://schemas.microsoft.com/office/drawing/2014/main" val="2054950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i="1" dirty="0"/>
                        <a:t>V</a:t>
                      </a:r>
                      <a:r>
                        <a:rPr lang="en-US" altLang="ko-KR" b="1" baseline="-25000" dirty="0"/>
                        <a:t>BS</a:t>
                      </a:r>
                      <a:r>
                        <a:rPr lang="en-US" altLang="ko-KR" b="1" dirty="0"/>
                        <a:t> [V]</a:t>
                      </a:r>
                      <a:endParaRPr lang="ko-KR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i="1" dirty="0"/>
                        <a:t>V</a:t>
                      </a:r>
                      <a:r>
                        <a:rPr lang="en-US" altLang="ko-KR" b="1" baseline="-25000" dirty="0"/>
                        <a:t>th</a:t>
                      </a:r>
                      <a:r>
                        <a:rPr lang="en-US" altLang="ko-KR" b="1" dirty="0"/>
                        <a:t> [V]</a:t>
                      </a:r>
                      <a:endParaRPr lang="ko-KR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21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0.0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1.37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226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-1.0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1.81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27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-2.0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2.12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52938"/>
                  </a:ext>
                </a:extLst>
              </a:tr>
            </a:tbl>
          </a:graphicData>
        </a:graphic>
      </p:graphicFrame>
      <p:sp>
        <p:nvSpPr>
          <p:cNvPr id="32" name="텍스트 개체 틀 2">
            <a:extLst>
              <a:ext uri="{FF2B5EF4-FFF2-40B4-BE49-F238E27FC236}">
                <a16:creationId xmlns:a16="http://schemas.microsoft.com/office/drawing/2014/main" id="{3793506B-DD4F-214C-B40C-4AADAB8ABEDA}"/>
              </a:ext>
            </a:extLst>
          </p:cNvPr>
          <p:cNvSpPr txBox="1">
            <a:spLocks/>
          </p:cNvSpPr>
          <p:nvPr/>
        </p:nvSpPr>
        <p:spPr>
          <a:xfrm>
            <a:off x="240196" y="5989566"/>
            <a:ext cx="8903804" cy="496546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2520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42900" indent="-3429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Inspect tool </a:t>
            </a:r>
            <a:r>
              <a:rPr lang="ko-KR" altLang="en-US" dirty="0"/>
              <a:t>활용하여 </a:t>
            </a:r>
            <a:r>
              <a:rPr lang="en-US" altLang="ko-KR" i="1" dirty="0"/>
              <a:t>V</a:t>
            </a:r>
            <a:r>
              <a:rPr lang="en-US" altLang="ko-KR" baseline="-25000" dirty="0"/>
              <a:t>th</a:t>
            </a:r>
            <a:r>
              <a:rPr lang="en-US" altLang="ko-KR" dirty="0"/>
              <a:t> </a:t>
            </a:r>
            <a:r>
              <a:rPr lang="ko-KR" altLang="en-US" dirty="0"/>
              <a:t>추출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A00D757-4CD1-31B3-ECEB-87AF153F9B31}"/>
              </a:ext>
            </a:extLst>
          </p:cNvPr>
          <p:cNvCxnSpPr>
            <a:cxnSpLocks/>
          </p:cNvCxnSpPr>
          <p:nvPr/>
        </p:nvCxnSpPr>
        <p:spPr>
          <a:xfrm>
            <a:off x="5784125" y="4885781"/>
            <a:ext cx="0" cy="10006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D8DF846-EAA9-A140-85F6-221C703ECEDD}"/>
              </a:ext>
            </a:extLst>
          </p:cNvPr>
          <p:cNvSpPr txBox="1"/>
          <p:nvPr/>
        </p:nvSpPr>
        <p:spPr>
          <a:xfrm>
            <a:off x="5784125" y="5186446"/>
            <a:ext cx="8402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i="1" dirty="0">
                <a:solidFill>
                  <a:srgbClr val="FF0000"/>
                </a:solidFill>
              </a:rPr>
              <a:t>V</a:t>
            </a:r>
            <a:r>
              <a:rPr lang="en-US" altLang="ko-KR" sz="1500" b="1" baseline="-25000" dirty="0">
                <a:solidFill>
                  <a:srgbClr val="FF0000"/>
                </a:solidFill>
              </a:rPr>
              <a:t>th</a:t>
            </a:r>
            <a:r>
              <a:rPr lang="en-US" altLang="ko-KR" sz="1500" b="1" dirty="0">
                <a:solidFill>
                  <a:srgbClr val="FF0000"/>
                </a:solidFill>
              </a:rPr>
              <a:t> </a:t>
            </a:r>
            <a:r>
              <a:rPr lang="ko-KR" altLang="en-US" sz="1500" b="1" dirty="0">
                <a:solidFill>
                  <a:srgbClr val="FF0000"/>
                </a:solidFill>
              </a:rPr>
              <a:t>증가</a:t>
            </a:r>
            <a:endParaRPr lang="ko-KR" altLang="en-US" sz="1500" b="1" baseline="-25000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374C0D7-F00F-E309-E066-97EAB826E504}"/>
              </a:ext>
            </a:extLst>
          </p:cNvPr>
          <p:cNvSpPr/>
          <p:nvPr/>
        </p:nvSpPr>
        <p:spPr>
          <a:xfrm>
            <a:off x="142263" y="793936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ADB03FB-1500-84AA-49AA-91EEB2CDD381}"/>
              </a:ext>
            </a:extLst>
          </p:cNvPr>
          <p:cNvGrpSpPr/>
          <p:nvPr/>
        </p:nvGrpSpPr>
        <p:grpSpPr>
          <a:xfrm>
            <a:off x="3523031" y="2246201"/>
            <a:ext cx="101667" cy="237965"/>
            <a:chOff x="2324314" y="1518917"/>
            <a:chExt cx="101667" cy="237965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8A98DCC-2094-463E-932F-9B55B8234605}"/>
                </a:ext>
              </a:extLst>
            </p:cNvPr>
            <p:cNvSpPr/>
            <p:nvPr/>
          </p:nvSpPr>
          <p:spPr>
            <a:xfrm>
              <a:off x="2324314" y="1655426"/>
              <a:ext cx="101667" cy="1014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496922B-1348-E974-2EC8-8C7FB92B3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5962" y="1518917"/>
              <a:ext cx="0" cy="1380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E6ABE45-62AE-729F-DF94-EC7621BE6D85}"/>
              </a:ext>
            </a:extLst>
          </p:cNvPr>
          <p:cNvGrpSpPr/>
          <p:nvPr/>
        </p:nvGrpSpPr>
        <p:grpSpPr>
          <a:xfrm flipV="1">
            <a:off x="2324314" y="3711007"/>
            <a:ext cx="101667" cy="237965"/>
            <a:chOff x="2324314" y="1518917"/>
            <a:chExt cx="101667" cy="237965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F97A05B-8DBA-422C-6F81-D382F8D07A3C}"/>
                </a:ext>
              </a:extLst>
            </p:cNvPr>
            <p:cNvSpPr/>
            <p:nvPr/>
          </p:nvSpPr>
          <p:spPr>
            <a:xfrm>
              <a:off x="2324314" y="1655426"/>
              <a:ext cx="101667" cy="1014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C927DCD2-E7CA-46F8-DE9E-AC677BEAEE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5962" y="1518917"/>
              <a:ext cx="0" cy="1380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7603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29A1-83F1-79BB-638B-03A00C65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70525-2265-F090-2AFC-AFACDAEB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Body effect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681A78-8620-BB62-C8A6-D0F0A20E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779AD3C0-C65A-CFE7-E616-F6CEB84FA086}"/>
              </a:ext>
            </a:extLst>
          </p:cNvPr>
          <p:cNvGrpSpPr/>
          <p:nvPr/>
        </p:nvGrpSpPr>
        <p:grpSpPr>
          <a:xfrm>
            <a:off x="2820737" y="631712"/>
            <a:ext cx="3502526" cy="3152196"/>
            <a:chOff x="-4226782" y="643885"/>
            <a:chExt cx="3502526" cy="3152196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77FC46F0-9C02-C7C5-B5D3-9313193BACFA}"/>
                </a:ext>
              </a:extLst>
            </p:cNvPr>
            <p:cNvGrpSpPr/>
            <p:nvPr/>
          </p:nvGrpSpPr>
          <p:grpSpPr>
            <a:xfrm>
              <a:off x="-4226782" y="1173152"/>
              <a:ext cx="3210297" cy="2088060"/>
              <a:chOff x="93232" y="2441040"/>
              <a:chExt cx="3534240" cy="2203881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7F0221CA-573A-DDAA-FE1E-13EAF78A6B4B}"/>
                  </a:ext>
                </a:extLst>
              </p:cNvPr>
              <p:cNvSpPr/>
              <p:nvPr/>
            </p:nvSpPr>
            <p:spPr>
              <a:xfrm>
                <a:off x="93232" y="3145997"/>
                <a:ext cx="3534240" cy="149892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6DB5BAC-A0E4-9283-37D0-5762E323D09A}"/>
                  </a:ext>
                </a:extLst>
              </p:cNvPr>
              <p:cNvSpPr/>
              <p:nvPr/>
            </p:nvSpPr>
            <p:spPr>
              <a:xfrm>
                <a:off x="93233" y="3145997"/>
                <a:ext cx="883560" cy="57764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8A262B1B-4674-8CEC-CF26-C4991DC628C1}"/>
                  </a:ext>
                </a:extLst>
              </p:cNvPr>
              <p:cNvSpPr/>
              <p:nvPr/>
            </p:nvSpPr>
            <p:spPr>
              <a:xfrm>
                <a:off x="2743912" y="3145997"/>
                <a:ext cx="883560" cy="57764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3DE06959-AA60-9E7B-989D-F549781CEA1A}"/>
                  </a:ext>
                </a:extLst>
              </p:cNvPr>
              <p:cNvSpPr/>
              <p:nvPr/>
            </p:nvSpPr>
            <p:spPr>
              <a:xfrm>
                <a:off x="976480" y="2908967"/>
                <a:ext cx="1767119" cy="23703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144D3F70-9521-E1CA-DFC0-74B3B68F6B64}"/>
                  </a:ext>
                </a:extLst>
              </p:cNvPr>
              <p:cNvSpPr/>
              <p:nvPr/>
            </p:nvSpPr>
            <p:spPr>
              <a:xfrm>
                <a:off x="976792" y="2441040"/>
                <a:ext cx="1767119" cy="46792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0A4E1A-4A56-1ACB-58F8-FBE5100A8F2F}"/>
                  </a:ext>
                </a:extLst>
              </p:cNvPr>
              <p:cNvSpPr txBox="1"/>
              <p:nvPr/>
            </p:nvSpPr>
            <p:spPr>
              <a:xfrm>
                <a:off x="217274" y="3165655"/>
                <a:ext cx="65357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solidFill>
                      <a:schemeClr val="bg1"/>
                    </a:solidFill>
                  </a:rPr>
                  <a:t>Source</a:t>
                </a:r>
              </a:p>
              <a:p>
                <a:pPr algn="ctr"/>
                <a:r>
                  <a:rPr lang="en-US" altLang="ko-KR" sz="1300" b="1" i="1" dirty="0" err="1">
                    <a:solidFill>
                      <a:schemeClr val="bg1"/>
                    </a:solidFill>
                  </a:rPr>
                  <a:t>N</a:t>
                </a:r>
                <a:r>
                  <a:rPr lang="en-US" altLang="ko-KR" sz="1300" b="1" baseline="-25000" dirty="0" err="1">
                    <a:solidFill>
                      <a:schemeClr val="bg1"/>
                    </a:solidFill>
                  </a:rPr>
                  <a:t>sd</a:t>
                </a:r>
                <a:endParaRPr lang="ko-KR" altLang="en-US" sz="1300" b="1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42BF15-26CE-2D7C-8E89-74F0C3C78177}"/>
                  </a:ext>
                </a:extLst>
              </p:cNvPr>
              <p:cNvSpPr txBox="1"/>
              <p:nvPr/>
            </p:nvSpPr>
            <p:spPr>
              <a:xfrm>
                <a:off x="1246668" y="2891517"/>
                <a:ext cx="135594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00" b="1" dirty="0">
                    <a:solidFill>
                      <a:schemeClr val="bg1"/>
                    </a:solidFill>
                  </a:rPr>
                  <a:t>Gate oxide (SiO</a:t>
                </a:r>
                <a:r>
                  <a:rPr lang="en-US" altLang="ko-KR" sz="1300" b="1" baseline="-25000" dirty="0">
                    <a:solidFill>
                      <a:schemeClr val="bg1"/>
                    </a:solidFill>
                  </a:rPr>
                  <a:t>2</a:t>
                </a:r>
                <a:r>
                  <a:rPr lang="en-US" altLang="ko-KR" sz="1300" b="1" dirty="0">
                    <a:solidFill>
                      <a:schemeClr val="bg1"/>
                    </a:solidFill>
                  </a:rPr>
                  <a:t>)</a:t>
                </a:r>
                <a:endParaRPr lang="ko-KR" altLang="en-US" sz="1300" b="1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D290CB8-2D5F-FC45-5399-58B358F02D13}"/>
                  </a:ext>
                </a:extLst>
              </p:cNvPr>
              <p:cNvSpPr txBox="1"/>
              <p:nvPr/>
            </p:nvSpPr>
            <p:spPr>
              <a:xfrm>
                <a:off x="1467616" y="2521590"/>
                <a:ext cx="884794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00" b="1" dirty="0">
                    <a:solidFill>
                      <a:schemeClr val="bg1"/>
                    </a:solidFill>
                  </a:rPr>
                  <a:t>Gate (</a:t>
                </a:r>
                <a:r>
                  <a:rPr lang="en-US" altLang="ko-KR" sz="1300" b="1" dirty="0" err="1">
                    <a:solidFill>
                      <a:schemeClr val="bg1"/>
                    </a:solidFill>
                  </a:rPr>
                  <a:t>TiN</a:t>
                </a:r>
                <a:r>
                  <a:rPr lang="en-US" altLang="ko-KR" sz="1300" b="1" dirty="0">
                    <a:solidFill>
                      <a:schemeClr val="bg1"/>
                    </a:solidFill>
                  </a:rPr>
                  <a:t>)</a:t>
                </a:r>
                <a:endParaRPr lang="ko-KR" altLang="en-US" sz="13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940AFDC-E1CE-6F09-9E4A-12C5240C4943}"/>
                  </a:ext>
                </a:extLst>
              </p:cNvPr>
              <p:cNvSpPr txBox="1"/>
              <p:nvPr/>
            </p:nvSpPr>
            <p:spPr>
              <a:xfrm>
                <a:off x="2920429" y="3165655"/>
                <a:ext cx="559320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solidFill>
                      <a:schemeClr val="bg1"/>
                    </a:solidFill>
                  </a:rPr>
                  <a:t>Drain</a:t>
                </a:r>
              </a:p>
              <a:p>
                <a:pPr algn="ctr"/>
                <a:r>
                  <a:rPr lang="en-US" altLang="ko-KR" sz="1300" b="1" i="1" dirty="0" err="1">
                    <a:solidFill>
                      <a:schemeClr val="bg1"/>
                    </a:solidFill>
                  </a:rPr>
                  <a:t>N</a:t>
                </a:r>
                <a:r>
                  <a:rPr lang="en-US" altLang="ko-KR" sz="1300" b="1" baseline="-25000" dirty="0" err="1">
                    <a:solidFill>
                      <a:schemeClr val="bg1"/>
                    </a:solidFill>
                  </a:rPr>
                  <a:t>sd</a:t>
                </a:r>
                <a:endParaRPr lang="ko-KR" altLang="en-US" sz="1300" b="1" baseline="-25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040C90B-B23A-3101-8D31-F5FD99814509}"/>
                  </a:ext>
                </a:extLst>
              </p:cNvPr>
              <p:cNvSpPr txBox="1"/>
              <p:nvPr/>
            </p:nvSpPr>
            <p:spPr>
              <a:xfrm>
                <a:off x="1617043" y="3975184"/>
                <a:ext cx="535724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solidFill>
                      <a:schemeClr val="bg1"/>
                    </a:solidFill>
                  </a:rPr>
                  <a:t>Body</a:t>
                </a:r>
              </a:p>
              <a:p>
                <a:pPr algn="ctr"/>
                <a:r>
                  <a:rPr lang="en-US" altLang="ko-KR" sz="1300" b="1" i="1" dirty="0" err="1">
                    <a:solidFill>
                      <a:schemeClr val="bg1"/>
                    </a:solidFill>
                  </a:rPr>
                  <a:t>N</a:t>
                </a:r>
                <a:r>
                  <a:rPr lang="en-US" altLang="ko-KR" sz="1300" b="1" i="1" baseline="-25000" dirty="0" err="1">
                    <a:solidFill>
                      <a:schemeClr val="bg1"/>
                    </a:solidFill>
                  </a:rPr>
                  <a:t>body</a:t>
                </a:r>
                <a:endParaRPr lang="ko-KR" altLang="en-US" sz="1300" b="1" baseline="-25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581539C3-4FD8-0A7F-D33C-205B7AF0C3CB}"/>
                </a:ext>
              </a:extLst>
            </p:cNvPr>
            <p:cNvSpPr/>
            <p:nvPr/>
          </p:nvSpPr>
          <p:spPr>
            <a:xfrm>
              <a:off x="-2672466" y="1131744"/>
              <a:ext cx="101667" cy="1014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E79FC75F-4F46-CB1E-A096-AE1ED9AC3CE4}"/>
                </a:ext>
              </a:extLst>
            </p:cNvPr>
            <p:cNvSpPr/>
            <p:nvPr/>
          </p:nvSpPr>
          <p:spPr>
            <a:xfrm>
              <a:off x="-1357282" y="1775214"/>
              <a:ext cx="101667" cy="1014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46C7618D-1C75-4E77-33C3-E92CDA704765}"/>
                </a:ext>
              </a:extLst>
            </p:cNvPr>
            <p:cNvCxnSpPr>
              <a:cxnSpLocks/>
              <a:stCxn id="66" idx="0"/>
            </p:cNvCxnSpPr>
            <p:nvPr/>
          </p:nvCxnSpPr>
          <p:spPr>
            <a:xfrm flipV="1">
              <a:off x="-2621632" y="1010194"/>
              <a:ext cx="0" cy="1215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B4593DF-04B3-419E-C0A0-40BD051FCA1F}"/>
                </a:ext>
              </a:extLst>
            </p:cNvPr>
            <p:cNvSpPr txBox="1"/>
            <p:nvPr/>
          </p:nvSpPr>
          <p:spPr>
            <a:xfrm>
              <a:off x="-3170328" y="643885"/>
              <a:ext cx="1045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/>
                <a:t>V</a:t>
              </a:r>
              <a:r>
                <a:rPr lang="en-US" altLang="ko-KR" b="1" baseline="-25000" dirty="0"/>
                <a:t>GS  </a:t>
              </a:r>
              <a:r>
                <a:rPr lang="en-US" altLang="ko-KR" b="1" dirty="0"/>
                <a:t>0.0 V</a:t>
              </a:r>
              <a:endParaRPr lang="ko-KR" altLang="en-US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44CC57F-FAB8-CDCB-7F39-544E1B2DF3A8}"/>
                </a:ext>
              </a:extLst>
            </p:cNvPr>
            <p:cNvSpPr txBox="1"/>
            <p:nvPr/>
          </p:nvSpPr>
          <p:spPr>
            <a:xfrm>
              <a:off x="-1752101" y="1325634"/>
              <a:ext cx="10278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/>
                <a:t>V</a:t>
              </a:r>
              <a:r>
                <a:rPr lang="en-US" altLang="ko-KR" b="1" baseline="-25000" dirty="0"/>
                <a:t>DS</a:t>
              </a:r>
              <a:r>
                <a:rPr lang="en-US" altLang="ko-KR" b="1" dirty="0"/>
                <a:t> 0.0 V</a:t>
              </a:r>
              <a:endParaRPr lang="ko-KR" altLang="en-US" b="1" baseline="-25000" dirty="0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02FF3143-1E45-A194-9685-C67EE5D4190E}"/>
                </a:ext>
              </a:extLst>
            </p:cNvPr>
            <p:cNvSpPr/>
            <p:nvPr/>
          </p:nvSpPr>
          <p:spPr>
            <a:xfrm>
              <a:off x="-2681813" y="3193016"/>
              <a:ext cx="101667" cy="1014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BD1CA968-B9C9-F7AB-F6A6-D0FB6BF181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630980" y="3282039"/>
              <a:ext cx="0" cy="1238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3334B53-38EF-1483-9106-AA04C7C26D24}"/>
                </a:ext>
              </a:extLst>
            </p:cNvPr>
            <p:cNvSpPr txBox="1"/>
            <p:nvPr/>
          </p:nvSpPr>
          <p:spPr>
            <a:xfrm>
              <a:off x="-3585339" y="3426749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/>
                <a:t>V</a:t>
              </a:r>
              <a:r>
                <a:rPr lang="en-US" altLang="ko-KR" b="1" baseline="-25000" dirty="0"/>
                <a:t>BS</a:t>
              </a:r>
              <a:r>
                <a:rPr lang="en-US" altLang="ko-KR" b="1" dirty="0"/>
                <a:t> 0.0, -1.0, -2.0 V</a:t>
              </a:r>
              <a:endParaRPr lang="ko-KR" altLang="en-US" b="1" baseline="-25000" dirty="0"/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FF7F585B-F1DA-40A2-B965-6EE3CF99D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06449" y="1653664"/>
              <a:ext cx="0" cy="1215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FCBC0064-FB82-921A-D201-DC3F26EB208A}"/>
              </a:ext>
            </a:extLst>
          </p:cNvPr>
          <p:cNvCxnSpPr>
            <a:cxnSpLocks/>
          </p:cNvCxnSpPr>
          <p:nvPr/>
        </p:nvCxnSpPr>
        <p:spPr>
          <a:xfrm>
            <a:off x="4422873" y="1219878"/>
            <a:ext cx="0" cy="195917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EE77D13-3761-8514-3A4B-6591A66E9C7A}"/>
              </a:ext>
            </a:extLst>
          </p:cNvPr>
          <p:cNvSpPr txBox="1"/>
          <p:nvPr/>
        </p:nvSpPr>
        <p:spPr>
          <a:xfrm>
            <a:off x="4393314" y="1873902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cut-line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819DFD3D-21E6-A495-C58D-1C56BADA4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028455"/>
              </p:ext>
            </p:extLst>
          </p:nvPr>
        </p:nvGraphicFramePr>
        <p:xfrm>
          <a:off x="-1606224" y="3706028"/>
          <a:ext cx="11999076" cy="2831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00212429" imgH="23631321" progId="Origin50.Graph">
                  <p:embed/>
                </p:oleObj>
              </mc:Choice>
              <mc:Fallback>
                <p:oleObj name="Graph" r:id="rId2" imgW="100212429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606224" y="3706028"/>
                        <a:ext cx="11999076" cy="2831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037014-1220-894C-EDE2-F0CC76F85CBE}"/>
              </a:ext>
            </a:extLst>
          </p:cNvPr>
          <p:cNvSpPr txBox="1"/>
          <p:nvPr/>
        </p:nvSpPr>
        <p:spPr>
          <a:xfrm>
            <a:off x="240344" y="602377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8444C-20EF-6675-71AF-93CA0F098F6E}"/>
              </a:ext>
            </a:extLst>
          </p:cNvPr>
          <p:cNvSpPr txBox="1"/>
          <p:nvPr/>
        </p:nvSpPr>
        <p:spPr>
          <a:xfrm>
            <a:off x="764833" y="602119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8CA8A-C8ED-16A1-0591-44B035CB58BA}"/>
              </a:ext>
            </a:extLst>
          </p:cNvPr>
          <p:cNvSpPr txBox="1"/>
          <p:nvPr/>
        </p:nvSpPr>
        <p:spPr>
          <a:xfrm>
            <a:off x="1271182" y="602170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83E17-20CE-827D-6432-F1CB8E40D7A9}"/>
              </a:ext>
            </a:extLst>
          </p:cNvPr>
          <p:cNvSpPr txBox="1"/>
          <p:nvPr/>
        </p:nvSpPr>
        <p:spPr>
          <a:xfrm>
            <a:off x="3366990" y="602377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66B77-7E64-92CF-56A5-A8017FE3C4B7}"/>
              </a:ext>
            </a:extLst>
          </p:cNvPr>
          <p:cNvSpPr txBox="1"/>
          <p:nvPr/>
        </p:nvSpPr>
        <p:spPr>
          <a:xfrm>
            <a:off x="3891479" y="602119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DCB95-E792-37ED-99B8-9E483462FEFE}"/>
              </a:ext>
            </a:extLst>
          </p:cNvPr>
          <p:cNvSpPr txBox="1"/>
          <p:nvPr/>
        </p:nvSpPr>
        <p:spPr>
          <a:xfrm>
            <a:off x="4397828" y="602170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8EA7C-A729-8713-A711-B9BFDE9BA9A1}"/>
              </a:ext>
            </a:extLst>
          </p:cNvPr>
          <p:cNvSpPr txBox="1"/>
          <p:nvPr/>
        </p:nvSpPr>
        <p:spPr>
          <a:xfrm>
            <a:off x="6498834" y="602377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281C57-DE53-DE18-5F6A-39CD4647891C}"/>
              </a:ext>
            </a:extLst>
          </p:cNvPr>
          <p:cNvSpPr txBox="1"/>
          <p:nvPr/>
        </p:nvSpPr>
        <p:spPr>
          <a:xfrm>
            <a:off x="7023323" y="6021196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CD984A-CD69-1A9A-1EFC-69E9D366F5FD}"/>
              </a:ext>
            </a:extLst>
          </p:cNvPr>
          <p:cNvSpPr txBox="1"/>
          <p:nvPr/>
        </p:nvSpPr>
        <p:spPr>
          <a:xfrm>
            <a:off x="7529672" y="602170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</a:t>
            </a:r>
            <a:endParaRPr lang="ko-KR" altLang="en-US" b="1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01E6AA5-FAAC-B8DB-4FEF-9DB9C7FD68CA}"/>
              </a:ext>
            </a:extLst>
          </p:cNvPr>
          <p:cNvCxnSpPr>
            <a:cxnSpLocks/>
          </p:cNvCxnSpPr>
          <p:nvPr/>
        </p:nvCxnSpPr>
        <p:spPr>
          <a:xfrm flipV="1">
            <a:off x="5607720" y="4667250"/>
            <a:ext cx="0" cy="2952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1C0BBB4-F3D4-7B66-4C3A-40EA5226C5D5}"/>
              </a:ext>
            </a:extLst>
          </p:cNvPr>
          <p:cNvCxnSpPr>
            <a:cxnSpLocks/>
          </p:cNvCxnSpPr>
          <p:nvPr/>
        </p:nvCxnSpPr>
        <p:spPr>
          <a:xfrm flipV="1">
            <a:off x="8703345" y="4457700"/>
            <a:ext cx="0" cy="5048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077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70F5-4FD0-2E80-ED88-5B75E7C6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0BDE4-E01E-CB1A-CA8B-E0840A1AB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372522-7F08-787A-2D55-29D6CCD441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124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Long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channel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MOSFET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Body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Non-ideal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Short channel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Summary</a:t>
            </a:r>
            <a:endParaRPr lang="ko-KR" altLang="en-US" sz="25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5A4D7A-B27D-8CD5-590E-5F5833B7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3819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개체 18">
            <a:extLst>
              <a:ext uri="{FF2B5EF4-FFF2-40B4-BE49-F238E27FC236}">
                <a16:creationId xmlns:a16="http://schemas.microsoft.com/office/drawing/2014/main" id="{84497384-64DB-52FD-DC0E-69CE82D903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710570"/>
              </p:ext>
            </p:extLst>
          </p:nvPr>
        </p:nvGraphicFramePr>
        <p:xfrm>
          <a:off x="4634452" y="1229980"/>
          <a:ext cx="4621011" cy="3219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2260888" imgH="22478932" progId="Origin50.Graph">
                  <p:embed/>
                </p:oleObj>
              </mc:Choice>
              <mc:Fallback>
                <p:oleObj name="Graph" r:id="rId2" imgW="32260888" imgH="22478932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34452" y="1229980"/>
                        <a:ext cx="4621011" cy="3219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8C76B8FE-AB31-1660-4AEF-D7FE74927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Channel length modulation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7A83A4-EA2C-AA97-4B8A-F8167903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6AECF6-33EC-F585-DB79-085883DC5955}"/>
              </a:ext>
            </a:extLst>
          </p:cNvPr>
          <p:cNvSpPr/>
          <p:nvPr/>
        </p:nvSpPr>
        <p:spPr>
          <a:xfrm>
            <a:off x="326246" y="790334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822930-2A78-E257-A217-31AD5648518A}"/>
              </a:ext>
            </a:extLst>
          </p:cNvPr>
          <p:cNvSpPr/>
          <p:nvPr/>
        </p:nvSpPr>
        <p:spPr>
          <a:xfrm>
            <a:off x="4839724" y="790334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0.48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92DE59-B1A0-7856-70B6-90D099DC6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67" y="4551511"/>
            <a:ext cx="2956936" cy="19959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643E9C-33AD-2230-40AA-39EE02C0467F}"/>
                  </a:ext>
                </a:extLst>
              </p:cNvPr>
              <p:cNvSpPr txBox="1"/>
              <p:nvPr/>
            </p:nvSpPr>
            <p:spPr>
              <a:xfrm>
                <a:off x="3981316" y="4856247"/>
                <a:ext cx="313143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643E9C-33AD-2230-40AA-39EE02C04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16" y="4856247"/>
                <a:ext cx="3131435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816AD3-6A5E-7615-F5A3-EEA05933ED59}"/>
                  </a:ext>
                </a:extLst>
              </p:cNvPr>
              <p:cNvSpPr txBox="1"/>
              <p:nvPr/>
            </p:nvSpPr>
            <p:spPr>
              <a:xfrm>
                <a:off x="3981316" y="5778077"/>
                <a:ext cx="1935979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∴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−∆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816AD3-6A5E-7615-F5A3-EEA05933E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16" y="5778077"/>
                <a:ext cx="1935979" cy="414537"/>
              </a:xfrm>
              <a:prstGeom prst="rect">
                <a:avLst/>
              </a:prstGeom>
              <a:blipFill>
                <a:blip r:embed="rId8"/>
                <a:stretch>
                  <a:fillRect l="-2830" r="-943" b="-102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타원 14">
            <a:extLst>
              <a:ext uri="{FF2B5EF4-FFF2-40B4-BE49-F238E27FC236}">
                <a16:creationId xmlns:a16="http://schemas.microsoft.com/office/drawing/2014/main" id="{C8E3DB37-6572-C45E-687A-A3D070F1B301}"/>
              </a:ext>
            </a:extLst>
          </p:cNvPr>
          <p:cNvSpPr/>
          <p:nvPr/>
        </p:nvSpPr>
        <p:spPr>
          <a:xfrm>
            <a:off x="7255588" y="1769305"/>
            <a:ext cx="836683" cy="4243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0743A25-B75F-D7E9-F170-457C4A1872B7}"/>
              </a:ext>
            </a:extLst>
          </p:cNvPr>
          <p:cNvCxnSpPr>
            <a:cxnSpLocks/>
          </p:cNvCxnSpPr>
          <p:nvPr/>
        </p:nvCxnSpPr>
        <p:spPr>
          <a:xfrm flipV="1">
            <a:off x="7696789" y="1341424"/>
            <a:ext cx="106091" cy="3654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87767A-E675-1B7A-F8DC-1DFD57676EFF}"/>
              </a:ext>
            </a:extLst>
          </p:cNvPr>
          <p:cNvSpPr txBox="1"/>
          <p:nvPr/>
        </p:nvSpPr>
        <p:spPr>
          <a:xfrm>
            <a:off x="7252323" y="686606"/>
            <a:ext cx="18162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channel length 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modulation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0916EBDE-2599-770A-B1D2-AB57AC3778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717194"/>
              </p:ext>
            </p:extLst>
          </p:nvPr>
        </p:nvGraphicFramePr>
        <p:xfrm>
          <a:off x="47448" y="1229980"/>
          <a:ext cx="4621011" cy="3219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32260888" imgH="22478932" progId="Origin50.Graph">
                  <p:embed/>
                </p:oleObj>
              </mc:Choice>
              <mc:Fallback>
                <p:oleObj name="Graph" r:id="rId9" imgW="32260888" imgH="22478932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448" y="1229980"/>
                        <a:ext cx="4621011" cy="3219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7498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A6E3-C372-9F9C-4C1B-7969EC9E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5CD6C25B-8CF6-497F-6198-63F9F326B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982994"/>
              </p:ext>
            </p:extLst>
          </p:nvPr>
        </p:nvGraphicFramePr>
        <p:xfrm>
          <a:off x="4380240" y="1183148"/>
          <a:ext cx="3918699" cy="2730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2260888" imgH="22478932" progId="Origin50.Graph">
                  <p:embed/>
                </p:oleObj>
              </mc:Choice>
              <mc:Fallback>
                <p:oleObj name="Graph" r:id="rId2" imgW="32260888" imgH="22478932" progId="Origin50.Graph">
                  <p:embed/>
                  <p:pic>
                    <p:nvPicPr>
                      <p:cNvPr id="19" name="개체 18">
                        <a:extLst>
                          <a:ext uri="{FF2B5EF4-FFF2-40B4-BE49-F238E27FC236}">
                            <a16:creationId xmlns:a16="http://schemas.microsoft.com/office/drawing/2014/main" id="{84497384-64DB-52FD-DC0E-69CE82D90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80240" y="1183148"/>
                        <a:ext cx="3918699" cy="2730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5BECC584-2386-3788-0539-83E2335FB7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979463"/>
              </p:ext>
            </p:extLst>
          </p:nvPr>
        </p:nvGraphicFramePr>
        <p:xfrm>
          <a:off x="-162057" y="1221932"/>
          <a:ext cx="3918699" cy="2730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2260888" imgH="22478932" progId="Origin50.Graph">
                  <p:embed/>
                </p:oleObj>
              </mc:Choice>
              <mc:Fallback>
                <p:oleObj name="Graph" r:id="rId4" imgW="32260888" imgH="22478932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0916EBDE-2599-770A-B1D2-AB57AC377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62057" y="1221932"/>
                        <a:ext cx="3918699" cy="2730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CEE644C-3E42-4A04-7BEC-A2F1D979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Velocity saturation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BD0CA0-F706-F1A3-D043-91BD7530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FB2040-999D-1DFD-7FC7-F31BC6BB9098}"/>
              </a:ext>
            </a:extLst>
          </p:cNvPr>
          <p:cNvSpPr/>
          <p:nvPr/>
        </p:nvSpPr>
        <p:spPr>
          <a:xfrm>
            <a:off x="162566" y="790334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A7AD77-CFA0-CE0B-D8B5-F05FBCBB0CFC}"/>
              </a:ext>
            </a:extLst>
          </p:cNvPr>
          <p:cNvSpPr/>
          <p:nvPr/>
        </p:nvSpPr>
        <p:spPr>
          <a:xfrm>
            <a:off x="4571541" y="790334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0.48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ACB0DF-3EEA-732B-034E-24C0904D0258}"/>
                  </a:ext>
                </a:extLst>
              </p:cNvPr>
              <p:cNvSpPr txBox="1"/>
              <p:nvPr/>
            </p:nvSpPr>
            <p:spPr>
              <a:xfrm>
                <a:off x="162566" y="4025104"/>
                <a:ext cx="3280000" cy="8879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b="1" dirty="0"/>
                  <a:t>Long channel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sat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ACB0DF-3EEA-732B-034E-24C0904D0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6" y="4025104"/>
                <a:ext cx="3280000" cy="887935"/>
              </a:xfrm>
              <a:prstGeom prst="rect">
                <a:avLst/>
              </a:prstGeom>
              <a:blipFill>
                <a:blip r:embed="rId6"/>
                <a:stretch>
                  <a:fillRect l="-1301" t="-34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E860D-9076-B2B2-F514-54C3B3CD9CF5}"/>
                  </a:ext>
                </a:extLst>
              </p:cNvPr>
              <p:cNvSpPr txBox="1"/>
              <p:nvPr/>
            </p:nvSpPr>
            <p:spPr>
              <a:xfrm>
                <a:off x="162566" y="5030222"/>
                <a:ext cx="3073277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b="1" dirty="0"/>
                  <a:t>Short channel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sat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th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sat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E860D-9076-B2B2-F514-54C3B3CD9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6" y="5030222"/>
                <a:ext cx="3073277" cy="658514"/>
              </a:xfrm>
              <a:prstGeom prst="rect">
                <a:avLst/>
              </a:prstGeom>
              <a:blipFill>
                <a:blip r:embed="rId7"/>
                <a:stretch>
                  <a:fillRect l="-1389" t="-4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원호 5">
            <a:extLst>
              <a:ext uri="{FF2B5EF4-FFF2-40B4-BE49-F238E27FC236}">
                <a16:creationId xmlns:a16="http://schemas.microsoft.com/office/drawing/2014/main" id="{E39715A7-7AA6-2F06-406E-2EB4D99331D4}"/>
              </a:ext>
            </a:extLst>
          </p:cNvPr>
          <p:cNvSpPr/>
          <p:nvPr/>
        </p:nvSpPr>
        <p:spPr>
          <a:xfrm>
            <a:off x="3153095" y="3057526"/>
            <a:ext cx="251643" cy="269588"/>
          </a:xfrm>
          <a:prstGeom prst="arc">
            <a:avLst>
              <a:gd name="adj1" fmla="val 16200000"/>
              <a:gd name="adj2" fmla="val 543184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06E194-51AC-689E-31F0-FA48CFE0C415}"/>
                  </a:ext>
                </a:extLst>
              </p:cNvPr>
              <p:cNvSpPr txBox="1"/>
              <p:nvPr/>
            </p:nvSpPr>
            <p:spPr>
              <a:xfrm>
                <a:off x="3479016" y="1969080"/>
                <a:ext cx="1072409" cy="188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b="1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altLang="ko-KR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1" i="1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ko-KR" sz="1200" b="1" i="1">
                                      <a:latin typeface="Cambria Math" panose="02040503050406030204" pitchFamily="18" charset="0"/>
                                    </a:rPr>
                                    <m:t>𝑮𝑺</m:t>
                                  </m:r>
                                </m:sub>
                              </m:sSub>
                              <m: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1" i="1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ko-KR" sz="1200" b="1" i="1">
                                      <a:latin typeface="Cambria Math" panose="02040503050406030204" pitchFamily="18" charset="0"/>
                                    </a:rPr>
                                    <m:t>𝒕𝒉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06E194-51AC-689E-31F0-FA48CFE0C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016" y="1969080"/>
                <a:ext cx="1072409" cy="188834"/>
              </a:xfrm>
              <a:prstGeom prst="rect">
                <a:avLst/>
              </a:prstGeom>
              <a:blipFill>
                <a:blip r:embed="rId8"/>
                <a:stretch>
                  <a:fillRect l="-1705" r="-568" b="-193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6DC600-6699-EFDE-A997-5737B3295CEF}"/>
                  </a:ext>
                </a:extLst>
              </p:cNvPr>
              <p:cNvSpPr txBox="1"/>
              <p:nvPr/>
            </p:nvSpPr>
            <p:spPr>
              <a:xfrm>
                <a:off x="8024773" y="1800762"/>
                <a:ext cx="99867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b="1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altLang="ko-KR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ko-KR" sz="1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  <m:t>𝒕𝒉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6DC600-6699-EFDE-A997-5737B3295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773" y="1800762"/>
                <a:ext cx="998671" cy="184666"/>
              </a:xfrm>
              <a:prstGeom prst="rect">
                <a:avLst/>
              </a:prstGeom>
              <a:blipFill>
                <a:blip r:embed="rId9"/>
                <a:stretch>
                  <a:fillRect l="-1829" b="-16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598F483-2036-4135-874F-5EB33325A069}"/>
              </a:ext>
            </a:extLst>
          </p:cNvPr>
          <p:cNvSpPr txBox="1"/>
          <p:nvPr/>
        </p:nvSpPr>
        <p:spPr>
          <a:xfrm>
            <a:off x="162566" y="5719518"/>
            <a:ext cx="4476995" cy="878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/>
              <a:t>Physics</a:t>
            </a:r>
            <a:r>
              <a:rPr lang="ko-KR" altLang="en-US" b="1" dirty="0"/>
              <a:t>의 </a:t>
            </a:r>
            <a:r>
              <a:rPr lang="en-US" altLang="ko-KR" b="1" dirty="0">
                <a:solidFill>
                  <a:srgbClr val="FF0000"/>
                </a:solidFill>
              </a:rPr>
              <a:t>mobility ( </a:t>
            </a:r>
            <a:r>
              <a:rPr lang="en-US" altLang="ko-KR" b="1" dirty="0" err="1">
                <a:solidFill>
                  <a:srgbClr val="FF0000"/>
                </a:solidFill>
              </a:rPr>
              <a:t>HighFieldSaturation</a:t>
            </a:r>
            <a:r>
              <a:rPr lang="en-US" altLang="ko-KR" b="1" dirty="0">
                <a:solidFill>
                  <a:srgbClr val="FF0000"/>
                </a:solidFill>
              </a:rPr>
              <a:t> 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FF0000"/>
                </a:solidFill>
              </a:rPr>
              <a:t>     </a:t>
            </a:r>
            <a:r>
              <a:rPr lang="ko-KR" altLang="en-US" b="1" dirty="0"/>
              <a:t>적용시</a:t>
            </a:r>
            <a:r>
              <a:rPr lang="en-US" altLang="ko-KR" b="1" dirty="0"/>
              <a:t> Velocity saturation </a:t>
            </a:r>
            <a:r>
              <a:rPr lang="ko-KR" altLang="en-US" b="1" dirty="0"/>
              <a:t>구현 가능</a:t>
            </a:r>
            <a:endParaRPr lang="en-US" altLang="ko-KR" b="1" dirty="0"/>
          </a:p>
        </p:txBody>
      </p:sp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3DD342CC-0290-5DD7-8898-EA8008705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009964"/>
              </p:ext>
            </p:extLst>
          </p:nvPr>
        </p:nvGraphicFramePr>
        <p:xfrm>
          <a:off x="4493821" y="3913651"/>
          <a:ext cx="3839753" cy="2715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33413522" imgH="23631321" progId="Origin50.Graph">
                  <p:embed/>
                </p:oleObj>
              </mc:Choice>
              <mc:Fallback>
                <p:oleObj name="Graph" r:id="rId10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93821" y="3913651"/>
                        <a:ext cx="3839753" cy="2715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원호 19">
            <a:extLst>
              <a:ext uri="{FF2B5EF4-FFF2-40B4-BE49-F238E27FC236}">
                <a16:creationId xmlns:a16="http://schemas.microsoft.com/office/drawing/2014/main" id="{71AFE6AA-5013-1EE5-99D6-2DEF60279542}"/>
              </a:ext>
            </a:extLst>
          </p:cNvPr>
          <p:cNvSpPr/>
          <p:nvPr/>
        </p:nvSpPr>
        <p:spPr>
          <a:xfrm>
            <a:off x="3153095" y="2459643"/>
            <a:ext cx="251643" cy="587531"/>
          </a:xfrm>
          <a:prstGeom prst="arc">
            <a:avLst>
              <a:gd name="adj1" fmla="val 16200000"/>
              <a:gd name="adj2" fmla="val 543184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5936552D-5038-0741-5B6A-F4BB6A463929}"/>
              </a:ext>
            </a:extLst>
          </p:cNvPr>
          <p:cNvSpPr/>
          <p:nvPr/>
        </p:nvSpPr>
        <p:spPr>
          <a:xfrm>
            <a:off x="3153095" y="1700213"/>
            <a:ext cx="251643" cy="756477"/>
          </a:xfrm>
          <a:prstGeom prst="arc">
            <a:avLst>
              <a:gd name="adj1" fmla="val 16200000"/>
              <a:gd name="adj2" fmla="val 543184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2CD3024-A962-FD6C-B15F-7CF3C21A7E3C}"/>
              </a:ext>
            </a:extLst>
          </p:cNvPr>
          <p:cNvSpPr/>
          <p:nvPr/>
        </p:nvSpPr>
        <p:spPr>
          <a:xfrm>
            <a:off x="7712784" y="3037648"/>
            <a:ext cx="229735" cy="270414"/>
          </a:xfrm>
          <a:prstGeom prst="arc">
            <a:avLst>
              <a:gd name="adj1" fmla="val 16200000"/>
              <a:gd name="adj2" fmla="val 543184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원호 26">
            <a:extLst>
              <a:ext uri="{FF2B5EF4-FFF2-40B4-BE49-F238E27FC236}">
                <a16:creationId xmlns:a16="http://schemas.microsoft.com/office/drawing/2014/main" id="{84C37E15-FA73-9241-061B-179B13C3F8D8}"/>
              </a:ext>
            </a:extLst>
          </p:cNvPr>
          <p:cNvSpPr/>
          <p:nvPr/>
        </p:nvSpPr>
        <p:spPr>
          <a:xfrm>
            <a:off x="7712784" y="2614613"/>
            <a:ext cx="229735" cy="420656"/>
          </a:xfrm>
          <a:prstGeom prst="arc">
            <a:avLst>
              <a:gd name="adj1" fmla="val 16200000"/>
              <a:gd name="adj2" fmla="val 543184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A6AE406E-502B-9863-B048-CA5F6F62E946}"/>
              </a:ext>
            </a:extLst>
          </p:cNvPr>
          <p:cNvSpPr/>
          <p:nvPr/>
        </p:nvSpPr>
        <p:spPr>
          <a:xfrm>
            <a:off x="7712784" y="2140744"/>
            <a:ext cx="229735" cy="471556"/>
          </a:xfrm>
          <a:prstGeom prst="arc">
            <a:avLst>
              <a:gd name="adj1" fmla="val 16200000"/>
              <a:gd name="adj2" fmla="val 543184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원호 28">
            <a:extLst>
              <a:ext uri="{FF2B5EF4-FFF2-40B4-BE49-F238E27FC236}">
                <a16:creationId xmlns:a16="http://schemas.microsoft.com/office/drawing/2014/main" id="{40FFF983-5AF8-8E7F-34B5-9259A053A9DC}"/>
              </a:ext>
            </a:extLst>
          </p:cNvPr>
          <p:cNvSpPr/>
          <p:nvPr/>
        </p:nvSpPr>
        <p:spPr>
          <a:xfrm>
            <a:off x="7712784" y="1652146"/>
            <a:ext cx="229735" cy="481898"/>
          </a:xfrm>
          <a:prstGeom prst="arc">
            <a:avLst>
              <a:gd name="adj1" fmla="val 16200000"/>
              <a:gd name="adj2" fmla="val 543184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548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B294C-4ED2-53AE-3719-9F348D61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B5EBF-DD2E-544A-2559-FD7D5F90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2374E7-5273-644C-72BC-9A82758A8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124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Long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channel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MOSFET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Body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Non-ideal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Short channel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Summary</a:t>
            </a:r>
            <a:endParaRPr lang="ko-KR" altLang="en-US" sz="25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272123-6032-8802-DA8F-7AEC26AD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5858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88D7335A-E727-9765-F5D7-EAC86FE757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313523"/>
              </p:ext>
            </p:extLst>
          </p:nvPr>
        </p:nvGraphicFramePr>
        <p:xfrm>
          <a:off x="835386" y="975510"/>
          <a:ext cx="7279914" cy="5148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5386" y="975510"/>
                        <a:ext cx="7279914" cy="5148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E70967A-DF28-B920-0867-CC635D9E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-</a:t>
            </a:r>
            <a:r>
              <a:rPr lang="en-US" altLang="ko-KR" i="1" dirty="0"/>
              <a:t>V</a:t>
            </a:r>
            <a:r>
              <a:rPr lang="en-US" altLang="ko-KR" baseline="-25000" dirty="0"/>
              <a:t>G</a:t>
            </a:r>
            <a:endParaRPr lang="ko-KR" altLang="en-US" baseline="-25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4E4E21-9C9B-6932-EBD8-9B05FFAC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5BC07C3-0AE6-59BE-1CEF-3CB6FB2895E6}"/>
              </a:ext>
            </a:extLst>
          </p:cNvPr>
          <p:cNvCxnSpPr>
            <a:cxnSpLocks/>
          </p:cNvCxnSpPr>
          <p:nvPr/>
        </p:nvCxnSpPr>
        <p:spPr>
          <a:xfrm flipH="1" flipV="1">
            <a:off x="4100376" y="2158365"/>
            <a:ext cx="1300299" cy="6038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2EAFE8-1E22-4756-FA94-F7731742A58B}"/>
              </a:ext>
            </a:extLst>
          </p:cNvPr>
          <p:cNvSpPr txBox="1"/>
          <p:nvPr/>
        </p:nvSpPr>
        <p:spPr>
          <a:xfrm>
            <a:off x="2493461" y="1873694"/>
            <a:ext cx="160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Punch-through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800086-88AB-C5B0-0114-86912C640160}"/>
              </a:ext>
            </a:extLst>
          </p:cNvPr>
          <p:cNvSpPr/>
          <p:nvPr/>
        </p:nvSpPr>
        <p:spPr>
          <a:xfrm>
            <a:off x="2613855" y="3598896"/>
            <a:ext cx="1366126" cy="87527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E1836-E663-2A1C-D4A8-1E5CA9081E30}"/>
              </a:ext>
            </a:extLst>
          </p:cNvPr>
          <p:cNvSpPr txBox="1"/>
          <p:nvPr/>
        </p:nvSpPr>
        <p:spPr>
          <a:xfrm>
            <a:off x="2493461" y="447417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GIDL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C84EAD4-423E-5FE4-7DA4-C06C1FA19ED6}"/>
              </a:ext>
            </a:extLst>
          </p:cNvPr>
          <p:cNvCxnSpPr>
            <a:cxnSpLocks/>
          </p:cNvCxnSpPr>
          <p:nvPr/>
        </p:nvCxnSpPr>
        <p:spPr>
          <a:xfrm flipH="1">
            <a:off x="3742866" y="3060978"/>
            <a:ext cx="16607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7ED6C17-409E-A7C2-F21C-14CAE5E251CD}"/>
              </a:ext>
            </a:extLst>
          </p:cNvPr>
          <p:cNvSpPr txBox="1"/>
          <p:nvPr/>
        </p:nvSpPr>
        <p:spPr>
          <a:xfrm>
            <a:off x="2582752" y="2648299"/>
            <a:ext cx="116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</a:rPr>
              <a:t>V</a:t>
            </a:r>
            <a:r>
              <a:rPr lang="en-US" altLang="ko-KR" b="1" baseline="-25000" dirty="0">
                <a:solidFill>
                  <a:srgbClr val="FF0000"/>
                </a:solidFill>
              </a:rPr>
              <a:t>th</a:t>
            </a:r>
            <a:r>
              <a:rPr lang="en-US" altLang="ko-KR" b="1" dirty="0">
                <a:solidFill>
                  <a:srgbClr val="FF0000"/>
                </a:solidFill>
              </a:rPr>
              <a:t> roll-off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80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9A6D4-AFDE-9F7F-AF9F-95631C5F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/>
              <a:t>V</a:t>
            </a:r>
            <a:r>
              <a:rPr lang="en-US" altLang="ko-KR" baseline="-25000" dirty="0"/>
              <a:t>th</a:t>
            </a:r>
            <a:r>
              <a:rPr lang="en-US" altLang="ko-KR" dirty="0"/>
              <a:t> roll-off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F37638-FA5F-064E-8333-BB5CC2E2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18CB66-AA65-8EEF-7EA4-0FA83077D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78" y="1420224"/>
            <a:ext cx="3981128" cy="3429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FD39AC-91E3-5F52-4DC0-4F3E873A9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103" y="1420224"/>
            <a:ext cx="3161654" cy="3429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56B0AD-040C-73CE-1332-DA0BDE974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757" y="3082834"/>
            <a:ext cx="1570523" cy="177145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682741-726D-D2ED-89BB-815022940FA9}"/>
              </a:ext>
            </a:extLst>
          </p:cNvPr>
          <p:cNvSpPr/>
          <p:nvPr/>
        </p:nvSpPr>
        <p:spPr>
          <a:xfrm>
            <a:off x="210478" y="848346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99AD20-76CC-EA1F-15C9-EBE1E2BC7EB8}"/>
              </a:ext>
            </a:extLst>
          </p:cNvPr>
          <p:cNvSpPr/>
          <p:nvPr/>
        </p:nvSpPr>
        <p:spPr>
          <a:xfrm>
            <a:off x="4392428" y="848346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0.57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8ECB48-AF76-2D6C-FD37-0656F9EFC104}"/>
              </a:ext>
            </a:extLst>
          </p:cNvPr>
          <p:cNvSpPr/>
          <p:nvPr/>
        </p:nvSpPr>
        <p:spPr>
          <a:xfrm>
            <a:off x="1463040" y="2456631"/>
            <a:ext cx="1480457" cy="322217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9FA495C-3D62-2D72-CC9E-070D97669E21}"/>
              </a:ext>
            </a:extLst>
          </p:cNvPr>
          <p:cNvSpPr/>
          <p:nvPr/>
        </p:nvSpPr>
        <p:spPr>
          <a:xfrm>
            <a:off x="1463040" y="2456631"/>
            <a:ext cx="341948" cy="322217"/>
          </a:xfrm>
          <a:prstGeom prst="rtTriangl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91FD72ED-4FE1-4E9D-8500-ACBA33963204}"/>
              </a:ext>
            </a:extLst>
          </p:cNvPr>
          <p:cNvSpPr/>
          <p:nvPr/>
        </p:nvSpPr>
        <p:spPr>
          <a:xfrm flipH="1">
            <a:off x="2601549" y="2456630"/>
            <a:ext cx="341948" cy="322217"/>
          </a:xfrm>
          <a:prstGeom prst="rtTriangl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1C2BB4-8D23-BC07-FEF2-B6B1F500677A}"/>
              </a:ext>
            </a:extLst>
          </p:cNvPr>
          <p:cNvSpPr/>
          <p:nvPr/>
        </p:nvSpPr>
        <p:spPr>
          <a:xfrm>
            <a:off x="5639752" y="2456631"/>
            <a:ext cx="637224" cy="322217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CD0DDE2B-F7B9-345A-2361-01DE1F3DD219}"/>
              </a:ext>
            </a:extLst>
          </p:cNvPr>
          <p:cNvSpPr/>
          <p:nvPr/>
        </p:nvSpPr>
        <p:spPr>
          <a:xfrm>
            <a:off x="5639751" y="2456631"/>
            <a:ext cx="341948" cy="322217"/>
          </a:xfrm>
          <a:prstGeom prst="rtTriangl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각 삼각형 18">
            <a:extLst>
              <a:ext uri="{FF2B5EF4-FFF2-40B4-BE49-F238E27FC236}">
                <a16:creationId xmlns:a16="http://schemas.microsoft.com/office/drawing/2014/main" id="{ECADCA9A-5BB7-797B-C170-9ACA38C8D28B}"/>
              </a:ext>
            </a:extLst>
          </p:cNvPr>
          <p:cNvSpPr/>
          <p:nvPr/>
        </p:nvSpPr>
        <p:spPr>
          <a:xfrm flipH="1">
            <a:off x="5944554" y="2456630"/>
            <a:ext cx="341948" cy="322217"/>
          </a:xfrm>
          <a:prstGeom prst="rtTriangl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9247E6-F11F-117D-EBB2-55ECF646B3B0}"/>
                  </a:ext>
                </a:extLst>
              </p:cNvPr>
              <p:cNvSpPr txBox="1"/>
              <p:nvPr/>
            </p:nvSpPr>
            <p:spPr>
              <a:xfrm>
                <a:off x="3758302" y="5437776"/>
                <a:ext cx="444679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𝑑𝑚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ra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9247E6-F11F-117D-EBB2-55ECF646B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302" y="5437776"/>
                <a:ext cx="4446794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그림 21">
            <a:extLst>
              <a:ext uri="{FF2B5EF4-FFF2-40B4-BE49-F238E27FC236}">
                <a16:creationId xmlns:a16="http://schemas.microsoft.com/office/drawing/2014/main" id="{50307AA9-30B1-F1F0-0C01-09E325264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837" y="4953727"/>
            <a:ext cx="3162301" cy="143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72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0EBDCD22-1859-8AD9-E00E-0672FCD748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678135"/>
              </p:ext>
            </p:extLst>
          </p:nvPr>
        </p:nvGraphicFramePr>
        <p:xfrm>
          <a:off x="2256579" y="636939"/>
          <a:ext cx="4492726" cy="317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56579" y="636939"/>
                        <a:ext cx="4492726" cy="3177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9CD629B-F773-B663-C9FD-D4CBF7EA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/>
              <a:t>V</a:t>
            </a:r>
            <a:r>
              <a:rPr lang="en-US" altLang="ko-KR" baseline="-25000" dirty="0"/>
              <a:t>th</a:t>
            </a:r>
            <a:r>
              <a:rPr lang="en-US" altLang="ko-KR" dirty="0"/>
              <a:t> roll-off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59DC64-8854-E224-8C94-6A86F8A0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AC9659-642F-2AC6-EFC5-EB2AB6E75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85903"/>
              </p:ext>
            </p:extLst>
          </p:nvPr>
        </p:nvGraphicFramePr>
        <p:xfrm>
          <a:off x="4507510" y="3960265"/>
          <a:ext cx="425631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8157">
                  <a:extLst>
                    <a:ext uri="{9D8B030D-6E8A-4147-A177-3AD203B41FA5}">
                      <a16:colId xmlns:a16="http://schemas.microsoft.com/office/drawing/2014/main" val="1726170914"/>
                    </a:ext>
                  </a:extLst>
                </a:gridCol>
                <a:gridCol w="2128157">
                  <a:extLst>
                    <a:ext uri="{9D8B030D-6E8A-4147-A177-3AD203B41FA5}">
                      <a16:colId xmlns:a16="http://schemas.microsoft.com/office/drawing/2014/main" val="2054950553"/>
                    </a:ext>
                  </a:extLst>
                </a:gridCol>
              </a:tblGrid>
              <a:tr h="364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i="1" dirty="0"/>
                        <a:t>L</a:t>
                      </a:r>
                      <a:r>
                        <a:rPr lang="en-US" altLang="ko-KR" b="1" i="0" baseline="-25000" dirty="0"/>
                        <a:t>g</a:t>
                      </a:r>
                      <a:r>
                        <a:rPr lang="en-US" altLang="ko-KR" b="1" dirty="0"/>
                        <a:t> [</a:t>
                      </a:r>
                      <a:r>
                        <a:rPr lang="el-GR" altLang="ko-KR" b="1" dirty="0"/>
                        <a:t>μ</a:t>
                      </a:r>
                      <a:r>
                        <a:rPr lang="en-US" altLang="ko-KR" b="1" dirty="0"/>
                        <a:t>m]</a:t>
                      </a:r>
                      <a:endParaRPr lang="ko-KR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i="1" dirty="0"/>
                        <a:t>V</a:t>
                      </a:r>
                      <a:r>
                        <a:rPr lang="en-US" altLang="ko-KR" b="1" baseline="-25000" dirty="0"/>
                        <a:t>th</a:t>
                      </a:r>
                      <a:r>
                        <a:rPr lang="en-US" altLang="ko-KR" b="1" dirty="0"/>
                        <a:t> [V]</a:t>
                      </a:r>
                      <a:endParaRPr lang="ko-KR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213213"/>
                  </a:ext>
                </a:extLst>
              </a:tr>
              <a:tr h="364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1.00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1.37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226849"/>
                  </a:ext>
                </a:extLst>
              </a:tr>
              <a:tr h="364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0.57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1.04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276902"/>
                  </a:ext>
                </a:extLst>
              </a:tr>
              <a:tr h="364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0.48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0.58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52938"/>
                  </a:ext>
                </a:extLst>
              </a:tr>
              <a:tr h="364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0.45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0.13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328902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D867A6D-A13B-35EF-B2CE-068B508B61BA}"/>
              </a:ext>
            </a:extLst>
          </p:cNvPr>
          <p:cNvCxnSpPr>
            <a:cxnSpLocks/>
          </p:cNvCxnSpPr>
          <p:nvPr/>
        </p:nvCxnSpPr>
        <p:spPr>
          <a:xfrm flipH="1">
            <a:off x="3677120" y="1772109"/>
            <a:ext cx="16607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A2D74E-CA4A-510E-9017-74757EDDD894}"/>
              </a:ext>
            </a:extLst>
          </p:cNvPr>
          <p:cNvSpPr txBox="1"/>
          <p:nvPr/>
        </p:nvSpPr>
        <p:spPr>
          <a:xfrm>
            <a:off x="3357478" y="1367530"/>
            <a:ext cx="10046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i="1" dirty="0">
                <a:solidFill>
                  <a:srgbClr val="FF0000"/>
                </a:solidFill>
              </a:rPr>
              <a:t>V</a:t>
            </a:r>
            <a:r>
              <a:rPr lang="en-US" altLang="ko-KR" sz="1500" b="1" baseline="-25000" dirty="0">
                <a:solidFill>
                  <a:srgbClr val="FF0000"/>
                </a:solidFill>
              </a:rPr>
              <a:t>th</a:t>
            </a:r>
            <a:r>
              <a:rPr lang="en-US" altLang="ko-KR" sz="1500" b="1" dirty="0">
                <a:solidFill>
                  <a:srgbClr val="FF0000"/>
                </a:solidFill>
              </a:rPr>
              <a:t> roll-off</a:t>
            </a:r>
            <a:endParaRPr lang="ko-KR" altLang="en-US" sz="15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076B6D-ED35-0308-3999-CDCB2C9CAA38}"/>
              </a:ext>
            </a:extLst>
          </p:cNvPr>
          <p:cNvSpPr txBox="1"/>
          <p:nvPr/>
        </p:nvSpPr>
        <p:spPr>
          <a:xfrm>
            <a:off x="4362112" y="5789065"/>
            <a:ext cx="4216219" cy="770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500" b="1" i="1" dirty="0"/>
              <a:t>V</a:t>
            </a:r>
            <a:r>
              <a:rPr lang="en-US" altLang="ko-KR" sz="1500" b="1" baseline="-25000" dirty="0"/>
              <a:t>th</a:t>
            </a:r>
            <a:r>
              <a:rPr lang="ko-KR" altLang="ko-KR" sz="1500" b="1" dirty="0"/>
              <a:t>는 </a:t>
            </a:r>
            <a:r>
              <a:rPr lang="en-US" altLang="ko-KR" sz="1500" b="1" i="1" dirty="0"/>
              <a:t>I</a:t>
            </a:r>
            <a:r>
              <a:rPr lang="en-US" altLang="ko-KR" sz="1500" b="1" baseline="-25000" dirty="0"/>
              <a:t>D</a:t>
            </a:r>
            <a:r>
              <a:rPr lang="en-US" altLang="ko-KR" sz="1500" b="1" dirty="0"/>
              <a:t> = 10</a:t>
            </a:r>
            <a:r>
              <a:rPr lang="en-US" altLang="ko-KR" sz="1500" b="1" baseline="30000" dirty="0"/>
              <a:t>-7</a:t>
            </a:r>
            <a:r>
              <a:rPr lang="en-US" altLang="ko-KR" sz="1500" b="1" dirty="0"/>
              <a:t> A/</a:t>
            </a:r>
            <a:r>
              <a:rPr lang="el-GR" altLang="ko-KR" sz="1600" b="1" dirty="0"/>
              <a:t>μ</a:t>
            </a:r>
            <a:r>
              <a:rPr lang="en-US" altLang="ko-KR" sz="1600" b="1" dirty="0"/>
              <a:t>m</a:t>
            </a:r>
            <a:r>
              <a:rPr lang="en-US" altLang="ko-KR" sz="1500" b="1" dirty="0"/>
              <a:t> x (</a:t>
            </a:r>
            <a:r>
              <a:rPr lang="en-US" altLang="ko-KR" sz="1500" b="1" i="1" dirty="0"/>
              <a:t>W</a:t>
            </a:r>
            <a:r>
              <a:rPr lang="en-US" altLang="ko-KR" sz="1500" b="1" dirty="0"/>
              <a:t>/</a:t>
            </a:r>
            <a:r>
              <a:rPr lang="en-US" altLang="ko-KR" sz="1500" b="1" i="1" dirty="0"/>
              <a:t>L</a:t>
            </a:r>
            <a:r>
              <a:rPr lang="en-US" altLang="ko-KR" sz="1500" b="1" dirty="0"/>
              <a:t>) [A/</a:t>
            </a:r>
            <a:r>
              <a:rPr lang="el-GR" altLang="ko-KR" sz="1600" b="1" dirty="0"/>
              <a:t>μ</a:t>
            </a:r>
            <a:r>
              <a:rPr lang="en-US" altLang="ko-KR" sz="1600" b="1" dirty="0"/>
              <a:t>m</a:t>
            </a:r>
            <a:r>
              <a:rPr lang="en-US" altLang="ko-KR" sz="1500" b="1" dirty="0"/>
              <a:t>] </a:t>
            </a:r>
            <a:r>
              <a:rPr lang="ko-KR" altLang="en-US" sz="1500" b="1" dirty="0"/>
              <a:t>에서 추출</a:t>
            </a:r>
            <a:endParaRPr lang="en-US" altLang="ko-KR" sz="1500" b="1" dirty="0"/>
          </a:p>
          <a:p>
            <a:pPr>
              <a:lnSpc>
                <a:spcPct val="150000"/>
              </a:lnSpc>
            </a:pPr>
            <a:r>
              <a:rPr lang="en-US" altLang="ko-KR" sz="1500" b="1" dirty="0"/>
              <a:t>     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강의 자료 </a:t>
            </a:r>
            <a:r>
              <a:rPr lang="en-US" altLang="ko-KR" sz="1500" b="1" dirty="0"/>
              <a:t>W10-2 p.366 </a:t>
            </a:r>
            <a:r>
              <a:rPr lang="ko-KR" altLang="en-US" sz="1500" b="1" dirty="0"/>
              <a:t>참고</a:t>
            </a:r>
            <a:r>
              <a:rPr lang="en-US" altLang="ko-KR" sz="1500" b="1" dirty="0"/>
              <a:t>)</a:t>
            </a:r>
            <a:endParaRPr lang="ko-KR" altLang="en-US" sz="1500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6C043D3B-EBEB-D73C-5D05-4BEAD0E46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527122"/>
              </p:ext>
            </p:extLst>
          </p:nvPr>
        </p:nvGraphicFramePr>
        <p:xfrm>
          <a:off x="301145" y="3777091"/>
          <a:ext cx="3910868" cy="2765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3413522" imgH="23631321" progId="Origin50.Graph">
                  <p:embed/>
                </p:oleObj>
              </mc:Choice>
              <mc:Fallback>
                <p:oleObj name="Graph" r:id="rId4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1145" y="3777091"/>
                        <a:ext cx="3910868" cy="2765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0845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FB66-E9E7-28B7-4D0D-2C56D196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809517AF-7636-E25C-98ED-D392F28CD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682634"/>
              </p:ext>
            </p:extLst>
          </p:nvPr>
        </p:nvGraphicFramePr>
        <p:xfrm>
          <a:off x="-101224" y="1167426"/>
          <a:ext cx="6034225" cy="4267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01224" y="1167426"/>
                        <a:ext cx="6034225" cy="4267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ACB62520-7033-E2A1-FA2E-29636D75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DIBL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D83F8-CF8D-655C-6943-E40331F2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75BBBE-E5AF-44BB-D441-A589348241FA}"/>
              </a:ext>
            </a:extLst>
          </p:cNvPr>
          <p:cNvSpPr/>
          <p:nvPr/>
        </p:nvSpPr>
        <p:spPr>
          <a:xfrm>
            <a:off x="5898371" y="830889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3A9F3351-C735-FE34-1B6A-1D15E6636D19}"/>
              </a:ext>
            </a:extLst>
          </p:cNvPr>
          <p:cNvSpPr txBox="1">
            <a:spLocks/>
          </p:cNvSpPr>
          <p:nvPr/>
        </p:nvSpPr>
        <p:spPr>
          <a:xfrm>
            <a:off x="119639" y="764507"/>
            <a:ext cx="8903804" cy="496546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2520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42900" indent="-3429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High </a:t>
            </a:r>
            <a:r>
              <a:rPr lang="en-US" altLang="ko-KR" b="1" i="1" dirty="0"/>
              <a:t>V</a:t>
            </a:r>
            <a:r>
              <a:rPr lang="en-US" altLang="ko-KR" b="1" baseline="-25000" dirty="0"/>
              <a:t>DS</a:t>
            </a:r>
            <a:r>
              <a:rPr lang="en-US" altLang="ko-KR" b="1" dirty="0"/>
              <a:t> = 5.0 V, Low </a:t>
            </a:r>
            <a:r>
              <a:rPr lang="en-US" altLang="ko-KR" b="1" i="1" dirty="0"/>
              <a:t>V</a:t>
            </a:r>
            <a:r>
              <a:rPr lang="en-US" altLang="ko-KR" b="1" baseline="-25000" dirty="0"/>
              <a:t>DS</a:t>
            </a:r>
            <a:r>
              <a:rPr lang="en-US" altLang="ko-KR" b="1" dirty="0"/>
              <a:t> = 0.1 V</a:t>
            </a:r>
            <a:endParaRPr lang="ko-KR" altLang="en-US" b="1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29FEA9A-0BB7-FEC1-DBC2-F69EDF04BA72}"/>
              </a:ext>
            </a:extLst>
          </p:cNvPr>
          <p:cNvCxnSpPr>
            <a:cxnSpLocks/>
          </p:cNvCxnSpPr>
          <p:nvPr/>
        </p:nvCxnSpPr>
        <p:spPr>
          <a:xfrm flipH="1">
            <a:off x="1802675" y="2895679"/>
            <a:ext cx="6592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EBE38B-99B0-C4F7-7FD5-08B49EFBF582}"/>
              </a:ext>
            </a:extLst>
          </p:cNvPr>
          <p:cNvSpPr txBox="1"/>
          <p:nvPr/>
        </p:nvSpPr>
        <p:spPr>
          <a:xfrm>
            <a:off x="1301225" y="2484644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DIBL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B9B7FEC-9BBB-AA86-64CF-845005CA2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79434"/>
              </p:ext>
            </p:extLst>
          </p:nvPr>
        </p:nvGraphicFramePr>
        <p:xfrm>
          <a:off x="719278" y="5434724"/>
          <a:ext cx="4711582" cy="1047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5791">
                  <a:extLst>
                    <a:ext uri="{9D8B030D-6E8A-4147-A177-3AD203B41FA5}">
                      <a16:colId xmlns:a16="http://schemas.microsoft.com/office/drawing/2014/main" val="4181891791"/>
                    </a:ext>
                  </a:extLst>
                </a:gridCol>
                <a:gridCol w="2355791">
                  <a:extLst>
                    <a:ext uri="{9D8B030D-6E8A-4147-A177-3AD203B41FA5}">
                      <a16:colId xmlns:a16="http://schemas.microsoft.com/office/drawing/2014/main" val="4081500408"/>
                    </a:ext>
                  </a:extLst>
                </a:gridCol>
              </a:tblGrid>
              <a:tr h="34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L</a:t>
                      </a:r>
                      <a:r>
                        <a:rPr lang="en-US" altLang="ko-KR" sz="1500" b="1" baseline="-25000" dirty="0"/>
                        <a:t>g</a:t>
                      </a:r>
                      <a:r>
                        <a:rPr lang="en-US" altLang="ko-KR" sz="1500" b="1" dirty="0"/>
                        <a:t> [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m]</a:t>
                      </a:r>
                      <a:endParaRPr lang="ko-KR" altLang="en-US" sz="15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DIBL [mV/V]</a:t>
                      </a:r>
                      <a:endParaRPr lang="ko-KR" altLang="en-US" sz="15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60231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1.00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4.49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43474"/>
                  </a:ext>
                </a:extLst>
              </a:tr>
              <a:tr h="34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0.57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53.27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30085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AB60A3F-1B70-4C33-2894-7B65D25C7F7F}"/>
              </a:ext>
            </a:extLst>
          </p:cNvPr>
          <p:cNvSpPr txBox="1"/>
          <p:nvPr/>
        </p:nvSpPr>
        <p:spPr>
          <a:xfrm>
            <a:off x="-59884" y="4688323"/>
            <a:ext cx="4602480" cy="65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/>
              <a:t>* </a:t>
            </a:r>
            <a:r>
              <a:rPr lang="en-US" altLang="ko-KR" sz="1300" b="1" i="1" dirty="0"/>
              <a:t>V</a:t>
            </a:r>
            <a:r>
              <a:rPr lang="en-US" altLang="ko-KR" sz="1300" b="1" baseline="-25000" dirty="0"/>
              <a:t>th</a:t>
            </a:r>
            <a:r>
              <a:rPr lang="en-US" altLang="ko-KR" sz="1300" b="1" dirty="0"/>
              <a:t> (inspect tool) </a:t>
            </a:r>
            <a:r>
              <a:rPr lang="ko-KR" altLang="en-US" sz="1300" b="1" dirty="0"/>
              <a:t>추출 하여 </a:t>
            </a:r>
            <a:endParaRPr lang="en-US" altLang="ko-KR" sz="1300" b="1" dirty="0"/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   DIBL </a:t>
            </a:r>
            <a:r>
              <a:rPr lang="ko-KR" altLang="en-US" sz="1300" b="1" dirty="0"/>
              <a:t>계산</a:t>
            </a:r>
            <a:endParaRPr lang="en-US" altLang="ko-KR" sz="13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1E192-1465-8E04-3EE4-6EE6EF36BEFA}"/>
              </a:ext>
            </a:extLst>
          </p:cNvPr>
          <p:cNvSpPr txBox="1"/>
          <p:nvPr/>
        </p:nvSpPr>
        <p:spPr>
          <a:xfrm>
            <a:off x="5992667" y="1223646"/>
            <a:ext cx="7109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3D0FB-89E8-6CCB-E19A-770DC771D628}"/>
              </a:ext>
            </a:extLst>
          </p:cNvPr>
          <p:cNvSpPr txBox="1"/>
          <p:nvPr/>
        </p:nvSpPr>
        <p:spPr>
          <a:xfrm>
            <a:off x="6929642" y="1236125"/>
            <a:ext cx="8098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channel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1C09A-EA16-D892-67C6-A89F1ED914CA}"/>
              </a:ext>
            </a:extLst>
          </p:cNvPr>
          <p:cNvSpPr txBox="1"/>
          <p:nvPr/>
        </p:nvSpPr>
        <p:spPr>
          <a:xfrm>
            <a:off x="8061491" y="1236125"/>
            <a:ext cx="5956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drain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4C254-CAF6-7B88-A326-ECB93B1ADD1E}"/>
              </a:ext>
            </a:extLst>
          </p:cNvPr>
          <p:cNvSpPr txBox="1"/>
          <p:nvPr/>
        </p:nvSpPr>
        <p:spPr>
          <a:xfrm>
            <a:off x="6171487" y="4149367"/>
            <a:ext cx="7109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source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96FBE5-7E4E-CE40-EFBC-36202FA34779}"/>
              </a:ext>
            </a:extLst>
          </p:cNvPr>
          <p:cNvSpPr txBox="1"/>
          <p:nvPr/>
        </p:nvSpPr>
        <p:spPr>
          <a:xfrm>
            <a:off x="7001782" y="4161846"/>
            <a:ext cx="8098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channel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71FF1D-BEBE-3951-8315-45932E408C16}"/>
              </a:ext>
            </a:extLst>
          </p:cNvPr>
          <p:cNvSpPr txBox="1"/>
          <p:nvPr/>
        </p:nvSpPr>
        <p:spPr>
          <a:xfrm>
            <a:off x="8034571" y="4161846"/>
            <a:ext cx="5956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drain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87BE7F-4999-47F1-37FD-4FA277B3B3B2}"/>
              </a:ext>
            </a:extLst>
          </p:cNvPr>
          <p:cNvSpPr/>
          <p:nvPr/>
        </p:nvSpPr>
        <p:spPr>
          <a:xfrm>
            <a:off x="5898371" y="3732434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0.57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760B0971-2C7B-5414-6E6F-656372246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449019"/>
              </p:ext>
            </p:extLst>
          </p:nvPr>
        </p:nvGraphicFramePr>
        <p:xfrm>
          <a:off x="5236952" y="1136019"/>
          <a:ext cx="4243491" cy="3000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3413522" imgH="23631321" progId="Origin50.Graph">
                  <p:embed/>
                </p:oleObj>
              </mc:Choice>
              <mc:Fallback>
                <p:oleObj name="Graph" r:id="rId4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36952" y="1136019"/>
                        <a:ext cx="4243491" cy="3000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871962A4-56B8-FEC8-F69D-EDCD0646A4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33849"/>
              </p:ext>
            </p:extLst>
          </p:nvPr>
        </p:nvGraphicFramePr>
        <p:xfrm>
          <a:off x="5239846" y="4056071"/>
          <a:ext cx="4257508" cy="301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3404041" imgH="23631321" progId="Origin50.Graph">
                  <p:embed/>
                </p:oleObj>
              </mc:Choice>
              <mc:Fallback>
                <p:oleObj name="Graph" r:id="rId6" imgW="33404041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39846" y="4056071"/>
                        <a:ext cx="4257508" cy="301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4747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2F9AA-37D0-EB78-F93A-3813AB32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Punch through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801D8-0548-CE91-2FDE-92B39CFD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0D0CA4-858A-A474-96D8-5EE89230249C}"/>
              </a:ext>
            </a:extLst>
          </p:cNvPr>
          <p:cNvSpPr/>
          <p:nvPr/>
        </p:nvSpPr>
        <p:spPr>
          <a:xfrm>
            <a:off x="210478" y="1597283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4339E5-A5B3-2BC1-E472-AD5E68845A89}"/>
              </a:ext>
            </a:extLst>
          </p:cNvPr>
          <p:cNvSpPr/>
          <p:nvPr/>
        </p:nvSpPr>
        <p:spPr>
          <a:xfrm>
            <a:off x="4392428" y="1597283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0.45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3C921AAB-C912-EDC7-B117-1B9846AB71CD}"/>
              </a:ext>
            </a:extLst>
          </p:cNvPr>
          <p:cNvSpPr txBox="1">
            <a:spLocks/>
          </p:cNvSpPr>
          <p:nvPr/>
        </p:nvSpPr>
        <p:spPr>
          <a:xfrm>
            <a:off x="119639" y="764507"/>
            <a:ext cx="8903804" cy="496546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2520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42900" indent="-3429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i="1" dirty="0"/>
              <a:t>V</a:t>
            </a:r>
            <a:r>
              <a:rPr lang="en-US" altLang="ko-KR" b="1" baseline="-25000" dirty="0"/>
              <a:t>GS</a:t>
            </a:r>
            <a:r>
              <a:rPr lang="en-US" altLang="ko-KR" b="1" dirty="0"/>
              <a:t> = -1.0 V, </a:t>
            </a:r>
            <a:r>
              <a:rPr lang="en-US" altLang="ko-KR" b="1" i="1" dirty="0"/>
              <a:t>V</a:t>
            </a:r>
            <a:r>
              <a:rPr lang="en-US" altLang="ko-KR" b="1" baseline="-25000" dirty="0"/>
              <a:t>DS </a:t>
            </a:r>
            <a:r>
              <a:rPr lang="en-US" altLang="ko-KR" b="1" dirty="0"/>
              <a:t>= 5.0 V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D634C1-D037-BEBF-1262-D13E8E3BC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2" y="2211579"/>
            <a:ext cx="3952975" cy="34128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83D59E-8739-533B-2126-72D47E2AB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00" y="2211579"/>
            <a:ext cx="2878547" cy="3412888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5149C06D-2B63-A619-61F1-2C7611BCDD67}"/>
              </a:ext>
            </a:extLst>
          </p:cNvPr>
          <p:cNvSpPr/>
          <p:nvPr/>
        </p:nvSpPr>
        <p:spPr>
          <a:xfrm>
            <a:off x="5138597" y="3570514"/>
            <a:ext cx="1197752" cy="8576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5AA3E3-B518-38E3-0052-948AC2515EE6}"/>
              </a:ext>
            </a:extLst>
          </p:cNvPr>
          <p:cNvSpPr txBox="1"/>
          <p:nvPr/>
        </p:nvSpPr>
        <p:spPr>
          <a:xfrm>
            <a:off x="4343802" y="4428151"/>
            <a:ext cx="158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punch through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86A7898-0217-38E4-F046-F766300CC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349" y="3570514"/>
            <a:ext cx="1818451" cy="2026814"/>
          </a:xfrm>
          <a:prstGeom prst="rect">
            <a:avLst/>
          </a:prstGeom>
        </p:spPr>
      </p:pic>
      <p:graphicFrame>
        <p:nvGraphicFramePr>
          <p:cNvPr id="15" name="개체 14">
            <a:extLst>
              <a:ext uri="{FF2B5EF4-FFF2-40B4-BE49-F238E27FC236}">
                <a16:creationId xmlns:a16="http://schemas.microsoft.com/office/drawing/2014/main" id="{DC009422-A6A4-6872-9AC8-8D4B10A5A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332012"/>
              </p:ext>
            </p:extLst>
          </p:nvPr>
        </p:nvGraphicFramePr>
        <p:xfrm>
          <a:off x="6336349" y="821531"/>
          <a:ext cx="2977423" cy="210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3404041" imgH="23631321" progId="Origin50.Graph">
                  <p:embed/>
                </p:oleObj>
              </mc:Choice>
              <mc:Fallback>
                <p:oleObj name="Graph" r:id="rId5" imgW="33404041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6349" y="821531"/>
                        <a:ext cx="2977423" cy="210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8518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E683-3227-43AC-6D5E-942AE3B7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245A8-5C67-6C33-B385-D9CF1C1D4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Punch through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9FA9C-59DA-4539-4B7D-3E1E5814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B80683-A1F4-D3FD-E037-B5A5D1549327}"/>
              </a:ext>
            </a:extLst>
          </p:cNvPr>
          <p:cNvSpPr/>
          <p:nvPr/>
        </p:nvSpPr>
        <p:spPr>
          <a:xfrm>
            <a:off x="210478" y="1597283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0.45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7872B652-801B-384D-2689-2621C569E7EF}"/>
              </a:ext>
            </a:extLst>
          </p:cNvPr>
          <p:cNvSpPr txBox="1">
            <a:spLocks/>
          </p:cNvSpPr>
          <p:nvPr/>
        </p:nvSpPr>
        <p:spPr>
          <a:xfrm>
            <a:off x="119639" y="764507"/>
            <a:ext cx="8903804" cy="496546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2520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42900" indent="-3429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i="1" dirty="0"/>
              <a:t>V</a:t>
            </a:r>
            <a:r>
              <a:rPr lang="en-US" altLang="ko-KR" b="1" baseline="-25000" dirty="0"/>
              <a:t>GS</a:t>
            </a:r>
            <a:r>
              <a:rPr lang="en-US" altLang="ko-KR" b="1" dirty="0"/>
              <a:t> = -1.0 V, </a:t>
            </a:r>
            <a:r>
              <a:rPr lang="en-US" altLang="ko-KR" b="1" i="1" dirty="0"/>
              <a:t>V</a:t>
            </a:r>
            <a:r>
              <a:rPr lang="en-US" altLang="ko-KR" b="1" baseline="-25000" dirty="0"/>
              <a:t>DS </a:t>
            </a:r>
            <a:r>
              <a:rPr lang="en-US" altLang="ko-KR" b="1" dirty="0"/>
              <a:t>= 5.0 V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6369DC-9778-CFFC-3240-4C55C3AE9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66" y="2211579"/>
            <a:ext cx="2878547" cy="3412888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3D01439-E36B-8389-54A5-91AD45969AF2}"/>
              </a:ext>
            </a:extLst>
          </p:cNvPr>
          <p:cNvCxnSpPr>
            <a:cxnSpLocks/>
          </p:cNvCxnSpPr>
          <p:nvPr/>
        </p:nvCxnSpPr>
        <p:spPr>
          <a:xfrm>
            <a:off x="2078316" y="4016943"/>
            <a:ext cx="2812122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A4DF6C-E79E-10FD-CDF4-8A9432D07BEA}"/>
              </a:ext>
            </a:extLst>
          </p:cNvPr>
          <p:cNvSpPr txBox="1"/>
          <p:nvPr/>
        </p:nvSpPr>
        <p:spPr>
          <a:xfrm>
            <a:off x="2092168" y="3969233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cut-line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BED68DD-FCEC-484A-6CF4-D16D139D5766}"/>
              </a:ext>
            </a:extLst>
          </p:cNvPr>
          <p:cNvCxnSpPr>
            <a:cxnSpLocks/>
          </p:cNvCxnSpPr>
          <p:nvPr/>
        </p:nvCxnSpPr>
        <p:spPr>
          <a:xfrm>
            <a:off x="2078316" y="3282518"/>
            <a:ext cx="2812122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6ED208-8B31-CD29-FFD3-11FABD886D92}"/>
              </a:ext>
            </a:extLst>
          </p:cNvPr>
          <p:cNvSpPr txBox="1"/>
          <p:nvPr/>
        </p:nvSpPr>
        <p:spPr>
          <a:xfrm>
            <a:off x="2092168" y="3234808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cut-line</a:t>
            </a:r>
            <a:endParaRPr lang="ko-KR" altLang="en-US" b="1" dirty="0"/>
          </a:p>
        </p:txBody>
      </p:sp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D224AB24-6C02-5256-390C-250FB568E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947410"/>
              </p:ext>
            </p:extLst>
          </p:nvPr>
        </p:nvGraphicFramePr>
        <p:xfrm>
          <a:off x="4851203" y="1181775"/>
          <a:ext cx="4898028" cy="34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2260888" imgH="22478932" progId="Origin50.Graph">
                  <p:embed/>
                </p:oleObj>
              </mc:Choice>
              <mc:Fallback>
                <p:oleObj name="Graph" r:id="rId3" imgW="32260888" imgH="22478932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1203" y="1181775"/>
                        <a:ext cx="4898028" cy="34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E55F1C15-7D6D-19B7-0BF5-86EFA9F12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853668"/>
              </p:ext>
            </p:extLst>
          </p:nvPr>
        </p:nvGraphicFramePr>
        <p:xfrm>
          <a:off x="4851203" y="4912938"/>
          <a:ext cx="4898028" cy="34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2260888" imgH="22478932" progId="Origin50.Graph">
                  <p:embed/>
                </p:oleObj>
              </mc:Choice>
              <mc:Fallback>
                <p:oleObj name="Graph" r:id="rId5" imgW="32260888" imgH="22478932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1203" y="4912938"/>
                        <a:ext cx="4898028" cy="341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FB4B2FEB-E937-65D8-44AF-887D0C0ECA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638" y="3570514"/>
            <a:ext cx="1818451" cy="2026814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EA22B02-63BD-A718-CCEB-4DE5CF6996C2}"/>
              </a:ext>
            </a:extLst>
          </p:cNvPr>
          <p:cNvCxnSpPr>
            <a:cxnSpLocks/>
          </p:cNvCxnSpPr>
          <p:nvPr/>
        </p:nvCxnSpPr>
        <p:spPr>
          <a:xfrm flipV="1">
            <a:off x="4522399" y="2284431"/>
            <a:ext cx="1030676" cy="9009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6249B0A-D118-E953-05C1-2A8FDE7B2C0D}"/>
              </a:ext>
            </a:extLst>
          </p:cNvPr>
          <p:cNvCxnSpPr>
            <a:cxnSpLocks/>
          </p:cNvCxnSpPr>
          <p:nvPr/>
        </p:nvCxnSpPr>
        <p:spPr>
          <a:xfrm>
            <a:off x="4535848" y="4125034"/>
            <a:ext cx="1102097" cy="7879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11C8523-EFA4-6973-2F6B-D25468A33DCF}"/>
              </a:ext>
            </a:extLst>
          </p:cNvPr>
          <p:cNvSpPr txBox="1"/>
          <p:nvPr/>
        </p:nvSpPr>
        <p:spPr>
          <a:xfrm>
            <a:off x="6155318" y="963687"/>
            <a:ext cx="7109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source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B5D17-1F68-0458-FB2E-FAB64F2B30D9}"/>
              </a:ext>
            </a:extLst>
          </p:cNvPr>
          <p:cNvSpPr txBox="1"/>
          <p:nvPr/>
        </p:nvSpPr>
        <p:spPr>
          <a:xfrm>
            <a:off x="7023713" y="976166"/>
            <a:ext cx="8098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channel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71971C-3C7C-CDC6-1123-F7D2DDC95789}"/>
              </a:ext>
            </a:extLst>
          </p:cNvPr>
          <p:cNvSpPr txBox="1"/>
          <p:nvPr/>
        </p:nvSpPr>
        <p:spPr>
          <a:xfrm>
            <a:off x="8018402" y="976166"/>
            <a:ext cx="5956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drain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6AE9B9-1E9B-75C9-BE75-00193CEE1DB9}"/>
              </a:ext>
            </a:extLst>
          </p:cNvPr>
          <p:cNvSpPr txBox="1"/>
          <p:nvPr/>
        </p:nvSpPr>
        <p:spPr>
          <a:xfrm>
            <a:off x="6176518" y="4286053"/>
            <a:ext cx="7109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source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B04535-B4BA-085F-9C2C-A4866822A372}"/>
              </a:ext>
            </a:extLst>
          </p:cNvPr>
          <p:cNvSpPr txBox="1"/>
          <p:nvPr/>
        </p:nvSpPr>
        <p:spPr>
          <a:xfrm>
            <a:off x="7192992" y="4298532"/>
            <a:ext cx="5293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bulk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B288D3-8FAD-DDFA-AC13-76465994E982}"/>
              </a:ext>
            </a:extLst>
          </p:cNvPr>
          <p:cNvSpPr txBox="1"/>
          <p:nvPr/>
        </p:nvSpPr>
        <p:spPr>
          <a:xfrm>
            <a:off x="8039602" y="4298532"/>
            <a:ext cx="5956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drain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D4393CF-9916-14B8-E39C-198A8CCA6D24}"/>
              </a:ext>
            </a:extLst>
          </p:cNvPr>
          <p:cNvCxnSpPr/>
          <p:nvPr/>
        </p:nvCxnSpPr>
        <p:spPr>
          <a:xfrm flipV="1">
            <a:off x="7035561" y="1597283"/>
            <a:ext cx="0" cy="27914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0FF06A8-81B9-B407-2C7D-439AF784B562}"/>
              </a:ext>
            </a:extLst>
          </p:cNvPr>
          <p:cNvSpPr txBox="1"/>
          <p:nvPr/>
        </p:nvSpPr>
        <p:spPr>
          <a:xfrm>
            <a:off x="6304271" y="1426928"/>
            <a:ext cx="7312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</a:rPr>
              <a:t>barrier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70F971E-B1BA-E697-6E88-637AD7B58F84}"/>
              </a:ext>
            </a:extLst>
          </p:cNvPr>
          <p:cNvCxnSpPr>
            <a:cxnSpLocks/>
          </p:cNvCxnSpPr>
          <p:nvPr/>
        </p:nvCxnSpPr>
        <p:spPr>
          <a:xfrm>
            <a:off x="7111226" y="5124450"/>
            <a:ext cx="4993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B71E177-B1BB-CD30-2667-51C85EFDB641}"/>
              </a:ext>
            </a:extLst>
          </p:cNvPr>
          <p:cNvCxnSpPr>
            <a:cxnSpLocks/>
          </p:cNvCxnSpPr>
          <p:nvPr/>
        </p:nvCxnSpPr>
        <p:spPr>
          <a:xfrm>
            <a:off x="7596307" y="5117307"/>
            <a:ext cx="498668" cy="5403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C9B8641-9C44-69F5-B029-AC3D5E960ED9}"/>
              </a:ext>
            </a:extLst>
          </p:cNvPr>
          <p:cNvCxnSpPr/>
          <p:nvPr/>
        </p:nvCxnSpPr>
        <p:spPr>
          <a:xfrm>
            <a:off x="8080057" y="5650472"/>
            <a:ext cx="4619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2F5577C-8588-357A-18FF-E4733D880A58}"/>
              </a:ext>
            </a:extLst>
          </p:cNvPr>
          <p:cNvSpPr txBox="1"/>
          <p:nvPr/>
        </p:nvSpPr>
        <p:spPr>
          <a:xfrm>
            <a:off x="7564873" y="4754206"/>
            <a:ext cx="5309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</a:rPr>
              <a:t>drift</a:t>
            </a:r>
          </a:p>
        </p:txBody>
      </p:sp>
    </p:spTree>
    <p:extLst>
      <p:ext uri="{BB962C8B-B14F-4D97-AF65-F5344CB8AC3E}">
        <p14:creationId xmlns:p14="http://schemas.microsoft.com/office/powerpoint/2010/main" val="2292012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93F7C-4EF6-B140-E000-4CD60796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0971A815-CDFB-022D-231A-CE5FF5762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436611"/>
              </p:ext>
            </p:extLst>
          </p:nvPr>
        </p:nvGraphicFramePr>
        <p:xfrm>
          <a:off x="3431017" y="1023054"/>
          <a:ext cx="3490968" cy="246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31017" y="1023054"/>
                        <a:ext cx="3490968" cy="246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F7420F1-970F-332F-9E96-39D71117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GIDL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A06203-ECDE-0418-7ACC-90F870DA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1B3438-0C27-C220-0978-4E4E465CAD4A}"/>
              </a:ext>
            </a:extLst>
          </p:cNvPr>
          <p:cNvSpPr/>
          <p:nvPr/>
        </p:nvSpPr>
        <p:spPr>
          <a:xfrm>
            <a:off x="210478" y="2813482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949C78D4-AB60-6881-D2BD-2E1FCE7A3B59}"/>
              </a:ext>
            </a:extLst>
          </p:cNvPr>
          <p:cNvSpPr txBox="1">
            <a:spLocks/>
          </p:cNvSpPr>
          <p:nvPr/>
        </p:nvSpPr>
        <p:spPr>
          <a:xfrm>
            <a:off x="119639" y="764507"/>
            <a:ext cx="8903804" cy="496546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2520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42900" indent="-3429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i="1" dirty="0"/>
              <a:t>V</a:t>
            </a:r>
            <a:r>
              <a:rPr lang="en-US" altLang="ko-KR" b="1" baseline="-25000" dirty="0"/>
              <a:t>GS</a:t>
            </a:r>
            <a:r>
              <a:rPr lang="en-US" altLang="ko-KR" b="1" dirty="0"/>
              <a:t> = -1.0 V, </a:t>
            </a:r>
            <a:r>
              <a:rPr lang="en-US" altLang="ko-KR" b="1" i="1" dirty="0"/>
              <a:t>V</a:t>
            </a:r>
            <a:r>
              <a:rPr lang="en-US" altLang="ko-KR" b="1" baseline="-25000" dirty="0"/>
              <a:t>DS </a:t>
            </a:r>
            <a:r>
              <a:rPr lang="en-US" altLang="ko-KR" b="1" dirty="0"/>
              <a:t>= 5.0 V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1BEAD5-470C-C0F4-26B3-2423780D6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891" y="3346550"/>
            <a:ext cx="3523859" cy="30519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0F91C2-16E3-3117-FE94-D86EE0BFF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39" y="3346550"/>
            <a:ext cx="3523860" cy="303926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38936B0-88DF-009E-0FE0-ADFC984D9F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7203"/>
          <a:stretch>
            <a:fillRect/>
          </a:stretch>
        </p:blipFill>
        <p:spPr>
          <a:xfrm>
            <a:off x="7292142" y="4440260"/>
            <a:ext cx="1709861" cy="194555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E8ED4106-9C95-361B-E731-6338D929A260}"/>
              </a:ext>
            </a:extLst>
          </p:cNvPr>
          <p:cNvSpPr/>
          <p:nvPr/>
        </p:nvSpPr>
        <p:spPr>
          <a:xfrm>
            <a:off x="2422446" y="4070928"/>
            <a:ext cx="399109" cy="369332"/>
          </a:xfrm>
          <a:prstGeom prst="ellips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8E7A8F-E3C0-DB83-609C-76AE0DC4CB6F}"/>
              </a:ext>
            </a:extLst>
          </p:cNvPr>
          <p:cNvSpPr txBox="1"/>
          <p:nvPr/>
        </p:nvSpPr>
        <p:spPr>
          <a:xfrm>
            <a:off x="2821555" y="3855386"/>
            <a:ext cx="9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Over lap</a:t>
            </a:r>
            <a:endParaRPr lang="ko-KR" altLang="en-US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D617F91-EE89-5E11-3B16-57F481D9BFCE}"/>
              </a:ext>
            </a:extLst>
          </p:cNvPr>
          <p:cNvCxnSpPr>
            <a:cxnSpLocks/>
          </p:cNvCxnSpPr>
          <p:nvPr/>
        </p:nvCxnSpPr>
        <p:spPr>
          <a:xfrm>
            <a:off x="3743818" y="4387873"/>
            <a:ext cx="3485932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D30B331-7DA5-57E1-2AB0-067953A9E601}"/>
              </a:ext>
            </a:extLst>
          </p:cNvPr>
          <p:cNvCxnSpPr>
            <a:cxnSpLocks/>
          </p:cNvCxnSpPr>
          <p:nvPr/>
        </p:nvCxnSpPr>
        <p:spPr>
          <a:xfrm flipV="1">
            <a:off x="6161309" y="3346550"/>
            <a:ext cx="0" cy="302021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D1B0083-D118-BF15-787B-111F3471F0B9}"/>
              </a:ext>
            </a:extLst>
          </p:cNvPr>
          <p:cNvCxnSpPr>
            <a:cxnSpLocks/>
          </p:cNvCxnSpPr>
          <p:nvPr/>
        </p:nvCxnSpPr>
        <p:spPr>
          <a:xfrm flipV="1">
            <a:off x="4084084" y="2672179"/>
            <a:ext cx="471020" cy="16734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4198FA3-8895-75DD-71EA-9FD303382058}"/>
              </a:ext>
            </a:extLst>
          </p:cNvPr>
          <p:cNvCxnSpPr>
            <a:cxnSpLocks/>
          </p:cNvCxnSpPr>
          <p:nvPr/>
        </p:nvCxnSpPr>
        <p:spPr>
          <a:xfrm flipV="1">
            <a:off x="6278104" y="3128129"/>
            <a:ext cx="1679576" cy="20611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A0CD67B-1B06-0D15-0B1E-048332026955}"/>
              </a:ext>
            </a:extLst>
          </p:cNvPr>
          <p:cNvCxnSpPr>
            <a:cxnSpLocks/>
          </p:cNvCxnSpPr>
          <p:nvPr/>
        </p:nvCxnSpPr>
        <p:spPr>
          <a:xfrm>
            <a:off x="5514059" y="2093620"/>
            <a:ext cx="356357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143F295-F7B7-C6D5-BE2C-3785F5FB373F}"/>
              </a:ext>
            </a:extLst>
          </p:cNvPr>
          <p:cNvCxnSpPr>
            <a:cxnSpLocks/>
          </p:cNvCxnSpPr>
          <p:nvPr/>
        </p:nvCxnSpPr>
        <p:spPr>
          <a:xfrm flipH="1">
            <a:off x="5459991" y="1958792"/>
            <a:ext cx="35635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F9AC3A4-736B-EC67-3E05-4EB60F18675A}"/>
              </a:ext>
            </a:extLst>
          </p:cNvPr>
          <p:cNvSpPr txBox="1"/>
          <p:nvPr/>
        </p:nvSpPr>
        <p:spPr>
          <a:xfrm>
            <a:off x="4985701" y="2065830"/>
            <a:ext cx="661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BTBT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16E96C-3E78-13C5-893C-A276696D0A4F}"/>
              </a:ext>
            </a:extLst>
          </p:cNvPr>
          <p:cNvSpPr txBox="1"/>
          <p:nvPr/>
        </p:nvSpPr>
        <p:spPr>
          <a:xfrm>
            <a:off x="4011883" y="879047"/>
            <a:ext cx="7109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source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FBBABD-ED09-6275-71AC-6745CE568CC4}"/>
              </a:ext>
            </a:extLst>
          </p:cNvPr>
          <p:cNvSpPr txBox="1"/>
          <p:nvPr/>
        </p:nvSpPr>
        <p:spPr>
          <a:xfrm>
            <a:off x="4779417" y="892942"/>
            <a:ext cx="8098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channel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EADD30-DE94-5CFD-0C79-AB06AE615662}"/>
              </a:ext>
            </a:extLst>
          </p:cNvPr>
          <p:cNvSpPr txBox="1"/>
          <p:nvPr/>
        </p:nvSpPr>
        <p:spPr>
          <a:xfrm>
            <a:off x="5725885" y="892942"/>
            <a:ext cx="5956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drain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F3BC1C-786A-424A-ABF0-86B5649A3D42}"/>
              </a:ext>
            </a:extLst>
          </p:cNvPr>
          <p:cNvSpPr txBox="1"/>
          <p:nvPr/>
        </p:nvSpPr>
        <p:spPr>
          <a:xfrm>
            <a:off x="7818341" y="892942"/>
            <a:ext cx="5956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drain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81AC543-73F7-943C-93D4-0EB8F6B85509}"/>
              </a:ext>
            </a:extLst>
          </p:cNvPr>
          <p:cNvSpPr txBox="1"/>
          <p:nvPr/>
        </p:nvSpPr>
        <p:spPr>
          <a:xfrm>
            <a:off x="6954197" y="892942"/>
            <a:ext cx="5180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SiO</a:t>
            </a:r>
            <a:r>
              <a:rPr lang="en-US" altLang="ko-KR" sz="1500" b="1" baseline="-250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169A06-1519-D5EA-F7A8-7936D16987E0}"/>
              </a:ext>
            </a:extLst>
          </p:cNvPr>
          <p:cNvSpPr txBox="1"/>
          <p:nvPr/>
        </p:nvSpPr>
        <p:spPr>
          <a:xfrm rot="16200000">
            <a:off x="6648096" y="2157358"/>
            <a:ext cx="52668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gate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F245AE-8B32-F3C3-7E27-259716418430}"/>
              </a:ext>
            </a:extLst>
          </p:cNvPr>
          <p:cNvSpPr txBox="1"/>
          <p:nvPr/>
        </p:nvSpPr>
        <p:spPr>
          <a:xfrm>
            <a:off x="2954" y="1216649"/>
            <a:ext cx="3964547" cy="1095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500" b="1" dirty="0"/>
              <a:t>Physics</a:t>
            </a:r>
            <a:r>
              <a:rPr lang="ko-KR" altLang="en-US" sz="1500" b="1" dirty="0"/>
              <a:t>의 </a:t>
            </a:r>
            <a:r>
              <a:rPr lang="en-US" altLang="ko-KR" sz="1500" b="1" dirty="0">
                <a:solidFill>
                  <a:srgbClr val="FF0000"/>
                </a:solidFill>
              </a:rPr>
              <a:t>recombination (Band2Band (E1)) 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rgbClr val="FF0000"/>
                </a:solidFill>
              </a:rPr>
              <a:t>       </a:t>
            </a:r>
            <a:r>
              <a:rPr lang="ko-KR" altLang="en-US" sz="1500" b="1" dirty="0"/>
              <a:t>적용시</a:t>
            </a:r>
            <a:r>
              <a:rPr lang="en-US" altLang="ko-KR" sz="1500" b="1" dirty="0"/>
              <a:t> BTBT</a:t>
            </a:r>
            <a:r>
              <a:rPr lang="ko-KR" altLang="en-US" sz="1500" b="1" dirty="0"/>
              <a:t>구현 가능</a:t>
            </a:r>
            <a:endParaRPr lang="en-US" altLang="ko-KR" sz="1500" b="1" dirty="0"/>
          </a:p>
          <a:p>
            <a:pPr>
              <a:lnSpc>
                <a:spcPct val="150000"/>
              </a:lnSpc>
            </a:pPr>
            <a:r>
              <a:rPr lang="en-US" altLang="ko-KR" sz="1500" b="1" dirty="0"/>
              <a:t>* band-to-band-tunneling (BTBT)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1849B6-D917-878B-80DF-FECBF73779DB}"/>
              </a:ext>
            </a:extLst>
          </p:cNvPr>
          <p:cNvSpPr txBox="1"/>
          <p:nvPr/>
        </p:nvSpPr>
        <p:spPr>
          <a:xfrm>
            <a:off x="3796249" y="438534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cut-line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76BAD16-AC25-92D3-44B5-76CCDA78CBE8}"/>
              </a:ext>
            </a:extLst>
          </p:cNvPr>
          <p:cNvSpPr txBox="1"/>
          <p:nvPr/>
        </p:nvSpPr>
        <p:spPr>
          <a:xfrm rot="16200000">
            <a:off x="5512135" y="5004655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cut-line</a:t>
            </a:r>
            <a:endParaRPr lang="ko-KR" altLang="en-US" b="1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366A4867-07AD-8094-3CB9-A81D4DE529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693532"/>
              </p:ext>
            </p:extLst>
          </p:nvPr>
        </p:nvGraphicFramePr>
        <p:xfrm>
          <a:off x="6078146" y="987050"/>
          <a:ext cx="3490968" cy="246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3413522" imgH="23631321" progId="Origin50.Graph">
                  <p:embed/>
                </p:oleObj>
              </mc:Choice>
              <mc:Fallback>
                <p:oleObj name="Graph" r:id="rId7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78146" y="987050"/>
                        <a:ext cx="3490968" cy="246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F84734E-6535-87D7-B570-5B6545E03BF7}"/>
              </a:ext>
            </a:extLst>
          </p:cNvPr>
          <p:cNvCxnSpPr>
            <a:cxnSpLocks/>
          </p:cNvCxnSpPr>
          <p:nvPr/>
        </p:nvCxnSpPr>
        <p:spPr>
          <a:xfrm>
            <a:off x="7217472" y="2389817"/>
            <a:ext cx="356357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FFBBD34-97A3-2ECB-0CC9-C91730F71990}"/>
              </a:ext>
            </a:extLst>
          </p:cNvPr>
          <p:cNvCxnSpPr>
            <a:cxnSpLocks/>
          </p:cNvCxnSpPr>
          <p:nvPr/>
        </p:nvCxnSpPr>
        <p:spPr>
          <a:xfrm flipH="1">
            <a:off x="7170034" y="2291501"/>
            <a:ext cx="35635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71427FC-A17A-C49D-BC2F-99FAFC2DF697}"/>
              </a:ext>
            </a:extLst>
          </p:cNvPr>
          <p:cNvSpPr txBox="1"/>
          <p:nvPr/>
        </p:nvSpPr>
        <p:spPr>
          <a:xfrm>
            <a:off x="7265145" y="1888414"/>
            <a:ext cx="661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BTBT</a:t>
            </a:r>
          </a:p>
        </p:txBody>
      </p:sp>
    </p:spTree>
    <p:extLst>
      <p:ext uri="{BB962C8B-B14F-4D97-AF65-F5344CB8AC3E}">
        <p14:creationId xmlns:p14="http://schemas.microsoft.com/office/powerpoint/2010/main" val="2683752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7780-5709-AC06-3C45-AEAD8E155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24046-CD2F-E50F-E6A9-6D7FC01F2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GIDL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305FB7-4D45-21C9-6DF0-955E10186F7E}"/>
              </a:ext>
            </a:extLst>
          </p:cNvPr>
          <p:cNvSpPr/>
          <p:nvPr/>
        </p:nvSpPr>
        <p:spPr>
          <a:xfrm>
            <a:off x="210478" y="1727473"/>
            <a:ext cx="1560618" cy="3881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L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r>
              <a:rPr lang="en-US" altLang="ko-KR" b="1" dirty="0">
                <a:solidFill>
                  <a:schemeClr val="tx1"/>
                </a:solidFill>
              </a:rPr>
              <a:t> = 1.00 </a:t>
            </a:r>
            <a:r>
              <a:rPr lang="el-GR" altLang="ko-KR" b="1" dirty="0">
                <a:solidFill>
                  <a:schemeClr val="tx1"/>
                </a:solidFill>
              </a:rPr>
              <a:t>μ</a:t>
            </a:r>
            <a:r>
              <a:rPr lang="en-US" altLang="ko-KR" b="1" dirty="0">
                <a:solidFill>
                  <a:schemeClr val="tx1"/>
                </a:solidFill>
              </a:rPr>
              <a:t>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015E1888-48DD-87A9-D6CF-57297538ECFE}"/>
              </a:ext>
            </a:extLst>
          </p:cNvPr>
          <p:cNvSpPr txBox="1">
            <a:spLocks/>
          </p:cNvSpPr>
          <p:nvPr/>
        </p:nvSpPr>
        <p:spPr>
          <a:xfrm>
            <a:off x="119639" y="764507"/>
            <a:ext cx="8903804" cy="496546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3600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2520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lang="ko-KR" alt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42900" indent="-342900" algn="l" defTabSz="914400" rtl="0" eaLnBrk="1" latinLnBrk="1" hangingPunct="1">
              <a:lnSpc>
                <a:spcPct val="150000"/>
              </a:lnSpc>
              <a:spcBef>
                <a:spcPts val="700"/>
              </a:spcBef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i="1" dirty="0"/>
              <a:t>V</a:t>
            </a:r>
            <a:r>
              <a:rPr lang="en-US" altLang="ko-KR" b="1" baseline="-25000" dirty="0"/>
              <a:t>GS</a:t>
            </a:r>
            <a:r>
              <a:rPr lang="en-US" altLang="ko-KR" b="1" dirty="0"/>
              <a:t> = -1.0 V, </a:t>
            </a:r>
            <a:r>
              <a:rPr lang="en-US" altLang="ko-KR" b="1" i="1" dirty="0"/>
              <a:t>V</a:t>
            </a:r>
            <a:r>
              <a:rPr lang="en-US" altLang="ko-KR" b="1" baseline="-25000" dirty="0"/>
              <a:t>DS </a:t>
            </a:r>
            <a:r>
              <a:rPr lang="en-US" altLang="ko-KR" b="1" dirty="0"/>
              <a:t>= 5.0 V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C70164-7288-8A11-78A1-0DF7A1386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344" y="2661947"/>
            <a:ext cx="3559976" cy="30392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7A39E4-9029-699B-E0C5-C61EBFC9E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92" y="3750208"/>
            <a:ext cx="1725083" cy="1930995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971674A7-4AF6-8BDC-544C-69281BADF315}"/>
              </a:ext>
            </a:extLst>
          </p:cNvPr>
          <p:cNvSpPr/>
          <p:nvPr/>
        </p:nvSpPr>
        <p:spPr>
          <a:xfrm>
            <a:off x="4705502" y="3386325"/>
            <a:ext cx="399109" cy="3693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E89CE7-0C06-AEC5-2E27-E14B383B75F8}"/>
              </a:ext>
            </a:extLst>
          </p:cNvPr>
          <p:cNvSpPr txBox="1"/>
          <p:nvPr/>
        </p:nvSpPr>
        <p:spPr>
          <a:xfrm>
            <a:off x="3405786" y="3167400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High E-field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6F6DE77B-F671-9867-01EB-787A3B9F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7971" y="6591500"/>
            <a:ext cx="2057400" cy="241068"/>
          </a:xfrm>
        </p:spPr>
        <p:txBody>
          <a:bodyPr/>
          <a:lstStyle/>
          <a:p>
            <a:fld id="{339888D6-CE21-4396-8044-5324720FF44B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0DD6D84-8EC6-11EA-760A-047E72C14F18}"/>
              </a:ext>
            </a:extLst>
          </p:cNvPr>
          <p:cNvCxnSpPr>
            <a:cxnSpLocks/>
          </p:cNvCxnSpPr>
          <p:nvPr/>
        </p:nvCxnSpPr>
        <p:spPr>
          <a:xfrm flipV="1">
            <a:off x="4935709" y="2652422"/>
            <a:ext cx="0" cy="3020211"/>
          </a:xfrm>
          <a:prstGeom prst="line">
            <a:avLst/>
          </a:prstGeom>
          <a:ln w="28575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6D3469-1424-4F75-FFC8-3D723764CC1B}"/>
              </a:ext>
            </a:extLst>
          </p:cNvPr>
          <p:cNvSpPr txBox="1"/>
          <p:nvPr/>
        </p:nvSpPr>
        <p:spPr>
          <a:xfrm rot="16200000">
            <a:off x="4286535" y="4310527"/>
            <a:ext cx="9060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C000"/>
                </a:solidFill>
              </a:rPr>
              <a:t>cut-line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C99E74E1-FBF4-D8DB-7013-2B72EB430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994523"/>
              </p:ext>
            </p:extLst>
          </p:nvPr>
        </p:nvGraphicFramePr>
        <p:xfrm>
          <a:off x="4440912" y="2362200"/>
          <a:ext cx="6105106" cy="4253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2260888" imgH="22478932" progId="Origin50.Graph">
                  <p:embed/>
                </p:oleObj>
              </mc:Choice>
              <mc:Fallback>
                <p:oleObj name="Graph" r:id="rId4" imgW="32260888" imgH="22478932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40912" y="2362200"/>
                        <a:ext cx="6105106" cy="4253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0126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3D39-3C49-80C7-B970-36915A9D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86B0D-131E-A318-8827-B85ACAF8A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20424D-3D93-1F0F-01BD-5287EE85BC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639" y="1006530"/>
            <a:ext cx="8903804" cy="4124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Long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channel</a:t>
            </a:r>
            <a:r>
              <a:rPr lang="ko-KR" altLang="en-US" sz="25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MOSFET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Body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Non-ideal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>
                <a:solidFill>
                  <a:schemeClr val="bg1">
                    <a:lumMod val="65000"/>
                  </a:schemeClr>
                </a:solidFill>
              </a:rPr>
              <a:t>Short channel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500" b="1" dirty="0"/>
              <a:t>Summary</a:t>
            </a:r>
            <a:endParaRPr lang="ko-KR" altLang="en-US" sz="25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62F30-0336-4C08-2F5D-09B50C40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5273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46270-1568-1467-81F0-75603088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49635-0FEC-CDE9-3238-83B88FF2C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888D6-CE21-4396-8044-5324720FF44B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D37352-B03C-F0C9-4BDD-145761A0A0A6}"/>
              </a:ext>
            </a:extLst>
          </p:cNvPr>
          <p:cNvSpPr/>
          <p:nvPr/>
        </p:nvSpPr>
        <p:spPr>
          <a:xfrm>
            <a:off x="307482" y="786485"/>
            <a:ext cx="781089" cy="2984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I</a:t>
            </a:r>
            <a:r>
              <a:rPr lang="en-US" altLang="ko-KR" b="1" baseline="-25000" dirty="0">
                <a:solidFill>
                  <a:schemeClr val="tx1"/>
                </a:solidFill>
              </a:rPr>
              <a:t>D</a:t>
            </a:r>
            <a:r>
              <a:rPr lang="en-US" altLang="ko-KR" b="1" i="1" dirty="0">
                <a:solidFill>
                  <a:schemeClr val="tx1"/>
                </a:solidFill>
              </a:rPr>
              <a:t>-V</a:t>
            </a:r>
            <a:r>
              <a:rPr lang="en-US" altLang="ko-KR" b="1" baseline="-25000" dirty="0">
                <a:solidFill>
                  <a:schemeClr val="tx1"/>
                </a:solidFill>
              </a:rPr>
              <a:t>D</a:t>
            </a:r>
            <a:endParaRPr lang="ko-KR" altLang="en-US" b="1" baseline="-25000" dirty="0">
              <a:solidFill>
                <a:schemeClr val="tx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2EB820F-BF49-B0FA-72B3-01572C8E8F78}"/>
              </a:ext>
            </a:extLst>
          </p:cNvPr>
          <p:cNvCxnSpPr/>
          <p:nvPr/>
        </p:nvCxnSpPr>
        <p:spPr>
          <a:xfrm>
            <a:off x="191589" y="3727268"/>
            <a:ext cx="883185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DA93F8-0EAC-9891-62A7-5B8CB90B996B}"/>
              </a:ext>
            </a:extLst>
          </p:cNvPr>
          <p:cNvSpPr/>
          <p:nvPr/>
        </p:nvSpPr>
        <p:spPr>
          <a:xfrm>
            <a:off x="307482" y="3876472"/>
            <a:ext cx="781089" cy="2984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>
                <a:solidFill>
                  <a:schemeClr val="tx1"/>
                </a:solidFill>
              </a:rPr>
              <a:t>I</a:t>
            </a:r>
            <a:r>
              <a:rPr lang="en-US" altLang="ko-KR" b="1" baseline="-25000" dirty="0">
                <a:solidFill>
                  <a:schemeClr val="tx1"/>
                </a:solidFill>
              </a:rPr>
              <a:t>D</a:t>
            </a:r>
            <a:r>
              <a:rPr lang="en-US" altLang="ko-KR" b="1" i="1" dirty="0">
                <a:solidFill>
                  <a:schemeClr val="tx1"/>
                </a:solidFill>
              </a:rPr>
              <a:t>-V</a:t>
            </a:r>
            <a:r>
              <a:rPr lang="en-US" altLang="ko-KR" b="1" baseline="-25000" dirty="0">
                <a:solidFill>
                  <a:schemeClr val="tx1"/>
                </a:solidFill>
              </a:rPr>
              <a:t>G</a:t>
            </a:r>
            <a:endParaRPr lang="ko-KR" altLang="en-US" b="1" baseline="-25000" dirty="0">
              <a:solidFill>
                <a:schemeClr val="tx1"/>
              </a:solidFill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082317B3-2AC5-0538-3A82-7FFA8F47CDA6}"/>
              </a:ext>
            </a:extLst>
          </p:cNvPr>
          <p:cNvSpPr/>
          <p:nvPr/>
        </p:nvSpPr>
        <p:spPr>
          <a:xfrm rot="16200000">
            <a:off x="4397847" y="2206141"/>
            <a:ext cx="420289" cy="69668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DC4C26-6364-967A-B191-51F8ACCDDC5E}"/>
              </a:ext>
            </a:extLst>
          </p:cNvPr>
          <p:cNvSpPr txBox="1"/>
          <p:nvPr/>
        </p:nvSpPr>
        <p:spPr>
          <a:xfrm>
            <a:off x="3769450" y="1698005"/>
            <a:ext cx="1673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Channel length </a:t>
            </a:r>
          </a:p>
          <a:p>
            <a:pPr algn="ctr"/>
            <a:r>
              <a:rPr lang="en-US" altLang="ko-KR" b="1" dirty="0"/>
              <a:t>decrease</a:t>
            </a:r>
            <a:endParaRPr lang="ko-KR" altLang="en-US" b="1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27961CC-04ED-E466-99C9-E63059F0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51253"/>
              </p:ext>
            </p:extLst>
          </p:nvPr>
        </p:nvGraphicFramePr>
        <p:xfrm>
          <a:off x="3830178" y="4451851"/>
          <a:ext cx="5006340" cy="1666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1585">
                  <a:extLst>
                    <a:ext uri="{9D8B030D-6E8A-4147-A177-3AD203B41FA5}">
                      <a16:colId xmlns:a16="http://schemas.microsoft.com/office/drawing/2014/main" val="2864842913"/>
                    </a:ext>
                  </a:extLst>
                </a:gridCol>
                <a:gridCol w="1251585">
                  <a:extLst>
                    <a:ext uri="{9D8B030D-6E8A-4147-A177-3AD203B41FA5}">
                      <a16:colId xmlns:a16="http://schemas.microsoft.com/office/drawing/2014/main" val="2757108716"/>
                    </a:ext>
                  </a:extLst>
                </a:gridCol>
                <a:gridCol w="1251585">
                  <a:extLst>
                    <a:ext uri="{9D8B030D-6E8A-4147-A177-3AD203B41FA5}">
                      <a16:colId xmlns:a16="http://schemas.microsoft.com/office/drawing/2014/main" val="1113585136"/>
                    </a:ext>
                  </a:extLst>
                </a:gridCol>
                <a:gridCol w="1251585">
                  <a:extLst>
                    <a:ext uri="{9D8B030D-6E8A-4147-A177-3AD203B41FA5}">
                      <a16:colId xmlns:a16="http://schemas.microsoft.com/office/drawing/2014/main" val="3671767403"/>
                    </a:ext>
                  </a:extLst>
                </a:gridCol>
              </a:tblGrid>
              <a:tr h="333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L</a:t>
                      </a:r>
                      <a:r>
                        <a:rPr lang="en-US" altLang="ko-KR" sz="1500" b="1" baseline="-25000" dirty="0"/>
                        <a:t>g</a:t>
                      </a:r>
                      <a:r>
                        <a:rPr lang="en-US" altLang="ko-KR" sz="1500" b="1" dirty="0"/>
                        <a:t> [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m]</a:t>
                      </a:r>
                      <a:endParaRPr lang="ko-KR" altLang="en-US" sz="15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V</a:t>
                      </a:r>
                      <a:r>
                        <a:rPr lang="en-US" altLang="ko-KR" sz="1500" b="1" baseline="-25000" dirty="0"/>
                        <a:t>th</a:t>
                      </a:r>
                      <a:r>
                        <a:rPr lang="en-US" altLang="ko-KR" sz="1500" b="1" dirty="0"/>
                        <a:t> [V]</a:t>
                      </a:r>
                      <a:endParaRPr lang="ko-KR" altLang="en-US" sz="15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dirty="0"/>
                        <a:t>SS</a:t>
                      </a:r>
                      <a:r>
                        <a:rPr lang="en-US" altLang="ko-KR" sz="1500" b="1" dirty="0"/>
                        <a:t> [mV/dec]</a:t>
                      </a:r>
                      <a:endParaRPr lang="ko-KR" altLang="en-US" sz="15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DIBL [mV/V]</a:t>
                      </a:r>
                      <a:endParaRPr lang="ko-KR" altLang="en-US" sz="15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429539"/>
                  </a:ext>
                </a:extLst>
              </a:tr>
              <a:tr h="333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1.00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1.37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111.63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4.49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915851"/>
                  </a:ext>
                </a:extLst>
              </a:tr>
              <a:tr h="333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0.57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1.04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108.99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53.27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263153"/>
                  </a:ext>
                </a:extLst>
              </a:tr>
              <a:tr h="333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0.48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0.58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131.83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124.29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261523"/>
                  </a:ext>
                </a:extLst>
              </a:tr>
              <a:tr h="333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0.45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0.13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337.94</a:t>
                      </a:r>
                      <a:endParaRPr lang="ko-KR" alt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202.86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840983"/>
                  </a:ext>
                </a:extLst>
              </a:tr>
            </a:tbl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DED40408-7294-652E-8730-E665C57DA8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278660"/>
              </p:ext>
            </p:extLst>
          </p:nvPr>
        </p:nvGraphicFramePr>
        <p:xfrm>
          <a:off x="307482" y="4162510"/>
          <a:ext cx="3400093" cy="240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3413522" imgH="23631321" progId="Origin50.Graph">
                  <p:embed/>
                </p:oleObj>
              </mc:Choice>
              <mc:Fallback>
                <p:oleObj name="Graph" r:id="rId2" imgW="33413522" imgH="23631321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482" y="4162510"/>
                        <a:ext cx="3400093" cy="2404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1F362B27-4DAD-E852-3C24-44A978BB6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596288"/>
              </p:ext>
            </p:extLst>
          </p:nvPr>
        </p:nvGraphicFramePr>
        <p:xfrm>
          <a:off x="5543183" y="1260551"/>
          <a:ext cx="3325994" cy="2317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2260888" imgH="22478932" progId="Origin50.Graph">
                  <p:embed/>
                </p:oleObj>
              </mc:Choice>
              <mc:Fallback>
                <p:oleObj name="Graph" r:id="rId4" imgW="32260888" imgH="22478932" progId="Origin50.Graph">
                  <p:embed/>
                  <p:pic>
                    <p:nvPicPr>
                      <p:cNvPr id="19" name="개체 18">
                        <a:extLst>
                          <a:ext uri="{FF2B5EF4-FFF2-40B4-BE49-F238E27FC236}">
                            <a16:creationId xmlns:a16="http://schemas.microsoft.com/office/drawing/2014/main" id="{84497384-64DB-52FD-DC0E-69CE82D90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43183" y="1260551"/>
                        <a:ext cx="3325994" cy="2317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개체 11">
            <a:extLst>
              <a:ext uri="{FF2B5EF4-FFF2-40B4-BE49-F238E27FC236}">
                <a16:creationId xmlns:a16="http://schemas.microsoft.com/office/drawing/2014/main" id="{F0A74529-AFCA-DD47-21B6-8C2FC2173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703555"/>
              </p:ext>
            </p:extLst>
          </p:nvPr>
        </p:nvGraphicFramePr>
        <p:xfrm>
          <a:off x="307482" y="1260551"/>
          <a:ext cx="3325994" cy="2317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2260888" imgH="22478932" progId="Origin50.Graph">
                  <p:embed/>
                </p:oleObj>
              </mc:Choice>
              <mc:Fallback>
                <p:oleObj name="Graph" r:id="rId6" imgW="32260888" imgH="22478932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0916EBDE-2599-770A-B1D2-AB57AC377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7482" y="1260551"/>
                        <a:ext cx="3325994" cy="2317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3367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1226</TotalTime>
  <Words>787</Words>
  <Application>Microsoft Office PowerPoint</Application>
  <PresentationFormat>화면 슬라이드 쇼(4:3)</PresentationFormat>
  <Paragraphs>345</Paragraphs>
  <Slides>29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맑은 고딕</vt:lpstr>
      <vt:lpstr>Arial</vt:lpstr>
      <vt:lpstr>Calibri</vt:lpstr>
      <vt:lpstr>Cambria Math</vt:lpstr>
      <vt:lpstr>Wingdings</vt:lpstr>
      <vt:lpstr>Office 테마</vt:lpstr>
      <vt:lpstr>Graph</vt:lpstr>
      <vt:lpstr>Origin Graph</vt:lpstr>
      <vt:lpstr>PowerPoint 프레젠테이션</vt:lpstr>
      <vt:lpstr>Content</vt:lpstr>
      <vt:lpstr>Content</vt:lpstr>
      <vt:lpstr>Reference</vt:lpstr>
      <vt:lpstr>Device structure</vt:lpstr>
      <vt:lpstr>Content</vt:lpstr>
      <vt:lpstr>Operation region</vt:lpstr>
      <vt:lpstr>Operation region (Accumulation)</vt:lpstr>
      <vt:lpstr>Operation region (Flat band)</vt:lpstr>
      <vt:lpstr>Operation region (Depletion)</vt:lpstr>
      <vt:lpstr>Operation region (Threshold)</vt:lpstr>
      <vt:lpstr>Operation region (Strong inversion)</vt:lpstr>
      <vt:lpstr>Content</vt:lpstr>
      <vt:lpstr>Body effect</vt:lpstr>
      <vt:lpstr>Body effect</vt:lpstr>
      <vt:lpstr>Content</vt:lpstr>
      <vt:lpstr>Channel length modulation</vt:lpstr>
      <vt:lpstr>Velocity saturation</vt:lpstr>
      <vt:lpstr>Content</vt:lpstr>
      <vt:lpstr>ID-VG</vt:lpstr>
      <vt:lpstr>Vth roll-off</vt:lpstr>
      <vt:lpstr>Vth roll-off</vt:lpstr>
      <vt:lpstr>DIBL</vt:lpstr>
      <vt:lpstr>Punch through</vt:lpstr>
      <vt:lpstr>Punch through</vt:lpstr>
      <vt:lpstr>GIDL</vt:lpstr>
      <vt:lpstr>GIDL</vt:lpstr>
      <vt:lpstr>Content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김기훈</dc:creator>
  <cp:lastModifiedBy>서상혁</cp:lastModifiedBy>
  <cp:revision>20</cp:revision>
  <dcterms:created xsi:type="dcterms:W3CDTF">2024-01-16T02:23:56Z</dcterms:created>
  <dcterms:modified xsi:type="dcterms:W3CDTF">2025-06-07T14:38:26Z</dcterms:modified>
</cp:coreProperties>
</file>