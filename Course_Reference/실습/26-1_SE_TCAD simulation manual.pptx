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68"/>
  </p:notesMasterIdLst>
  <p:sldIdLst>
    <p:sldId id="686" r:id="rId2"/>
    <p:sldId id="964" r:id="rId3"/>
    <p:sldId id="963" r:id="rId4"/>
    <p:sldId id="827" r:id="rId5"/>
    <p:sldId id="829" r:id="rId6"/>
    <p:sldId id="962" r:id="rId7"/>
    <p:sldId id="875" r:id="rId8"/>
    <p:sldId id="876" r:id="rId9"/>
    <p:sldId id="943" r:id="rId10"/>
    <p:sldId id="879" r:id="rId11"/>
    <p:sldId id="944" r:id="rId12"/>
    <p:sldId id="945" r:id="rId13"/>
    <p:sldId id="946" r:id="rId14"/>
    <p:sldId id="948" r:id="rId15"/>
    <p:sldId id="882" r:id="rId16"/>
    <p:sldId id="949" r:id="rId17"/>
    <p:sldId id="884" r:id="rId18"/>
    <p:sldId id="950" r:id="rId19"/>
    <p:sldId id="885" r:id="rId20"/>
    <p:sldId id="886" r:id="rId21"/>
    <p:sldId id="951" r:id="rId22"/>
    <p:sldId id="888" r:id="rId23"/>
    <p:sldId id="889" r:id="rId24"/>
    <p:sldId id="892" r:id="rId25"/>
    <p:sldId id="893" r:id="rId26"/>
    <p:sldId id="894" r:id="rId27"/>
    <p:sldId id="895" r:id="rId28"/>
    <p:sldId id="896" r:id="rId29"/>
    <p:sldId id="961" r:id="rId30"/>
    <p:sldId id="897" r:id="rId31"/>
    <p:sldId id="898" r:id="rId32"/>
    <p:sldId id="899" r:id="rId33"/>
    <p:sldId id="900" r:id="rId34"/>
    <p:sldId id="901" r:id="rId35"/>
    <p:sldId id="913" r:id="rId36"/>
    <p:sldId id="952" r:id="rId37"/>
    <p:sldId id="903" r:id="rId38"/>
    <p:sldId id="914" r:id="rId39"/>
    <p:sldId id="953" r:id="rId40"/>
    <p:sldId id="954" r:id="rId41"/>
    <p:sldId id="955" r:id="rId42"/>
    <p:sldId id="956" r:id="rId43"/>
    <p:sldId id="959" r:id="rId44"/>
    <p:sldId id="937" r:id="rId45"/>
    <p:sldId id="909" r:id="rId46"/>
    <p:sldId id="910" r:id="rId47"/>
    <p:sldId id="911" r:id="rId48"/>
    <p:sldId id="918" r:id="rId49"/>
    <p:sldId id="919" r:id="rId50"/>
    <p:sldId id="958" r:id="rId51"/>
    <p:sldId id="960" r:id="rId52"/>
    <p:sldId id="912" r:id="rId53"/>
    <p:sldId id="920" r:id="rId54"/>
    <p:sldId id="921" r:id="rId55"/>
    <p:sldId id="922" r:id="rId56"/>
    <p:sldId id="923" r:id="rId57"/>
    <p:sldId id="924" r:id="rId58"/>
    <p:sldId id="925" r:id="rId59"/>
    <p:sldId id="926" r:id="rId60"/>
    <p:sldId id="927" r:id="rId61"/>
    <p:sldId id="928" r:id="rId62"/>
    <p:sldId id="929" r:id="rId63"/>
    <p:sldId id="930" r:id="rId64"/>
    <p:sldId id="931" r:id="rId65"/>
    <p:sldId id="932" r:id="rId66"/>
    <p:sldId id="933" r:id="rId67"/>
  </p:sldIdLst>
  <p:sldSz cx="9144000" cy="6858000" type="screen4x3"/>
  <p:notesSz cx="9601200" cy="7315200"/>
  <p:embeddedFontLst>
    <p:embeddedFont>
      <p:font typeface="Cambria Math" panose="02040503050406030204" pitchFamily="18" charset="0"/>
      <p:regular r:id="rId69"/>
    </p:embeddedFont>
    <p:embeddedFont>
      <p:font typeface="맑은 고딕" panose="020B0503020000020004" pitchFamily="50" charset="-127"/>
      <p:regular r:id="rId70"/>
      <p:bold r:id="rId7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ECC512A2-FB67-4AF6-8A34-0E763DB50E31}">
          <p14:sldIdLst>
            <p14:sldId id="686"/>
            <p14:sldId id="964"/>
          </p14:sldIdLst>
        </p14:section>
        <p14:section name="Introduction" id="{D4773AC2-8644-4A10-BDDE-8C986C9E71B0}">
          <p14:sldIdLst>
            <p14:sldId id="963"/>
            <p14:sldId id="827"/>
            <p14:sldId id="829"/>
          </p14:sldIdLst>
        </p14:section>
        <p14:section name="SDE" id="{37407057-1B37-4C69-B871-77A26A6EB395}">
          <p14:sldIdLst>
            <p14:sldId id="962"/>
            <p14:sldId id="875"/>
            <p14:sldId id="876"/>
            <p14:sldId id="943"/>
            <p14:sldId id="879"/>
            <p14:sldId id="944"/>
            <p14:sldId id="945"/>
            <p14:sldId id="946"/>
            <p14:sldId id="948"/>
            <p14:sldId id="882"/>
            <p14:sldId id="949"/>
            <p14:sldId id="884"/>
            <p14:sldId id="950"/>
            <p14:sldId id="885"/>
            <p14:sldId id="886"/>
            <p14:sldId id="951"/>
            <p14:sldId id="888"/>
            <p14:sldId id="889"/>
            <p14:sldId id="892"/>
            <p14:sldId id="893"/>
            <p14:sldId id="894"/>
            <p14:sldId id="895"/>
            <p14:sldId id="896"/>
          </p14:sldIdLst>
        </p14:section>
        <p14:section name="SDEVICE" id="{F9BBA44C-5893-4860-9615-332DA66AC9E0}">
          <p14:sldIdLst>
            <p14:sldId id="961"/>
            <p14:sldId id="897"/>
            <p14:sldId id="898"/>
            <p14:sldId id="899"/>
            <p14:sldId id="900"/>
            <p14:sldId id="901"/>
            <p14:sldId id="913"/>
            <p14:sldId id="952"/>
            <p14:sldId id="903"/>
            <p14:sldId id="914"/>
            <p14:sldId id="953"/>
            <p14:sldId id="954"/>
            <p14:sldId id="955"/>
            <p14:sldId id="956"/>
            <p14:sldId id="959"/>
            <p14:sldId id="937"/>
            <p14:sldId id="909"/>
            <p14:sldId id="910"/>
            <p14:sldId id="911"/>
            <p14:sldId id="918"/>
            <p14:sldId id="919"/>
            <p14:sldId id="958"/>
            <p14:sldId id="960"/>
            <p14:sldId id="912"/>
            <p14:sldId id="920"/>
            <p14:sldId id="921"/>
            <p14:sldId id="922"/>
            <p14:sldId id="923"/>
            <p14:sldId id="924"/>
          </p14:sldIdLst>
        </p14:section>
        <p14:section name="Inspect" id="{E3863E6C-26B5-4F8E-AD84-97D8632FFCC1}">
          <p14:sldIdLst>
            <p14:sldId id="925"/>
            <p14:sldId id="926"/>
            <p14:sldId id="927"/>
            <p14:sldId id="928"/>
            <p14:sldId id="929"/>
            <p14:sldId id="930"/>
            <p14:sldId id="931"/>
            <p14:sldId id="932"/>
            <p14:sldId id="93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m Hyunwoo" initials="KH" lastIdx="1" clrIdx="0">
    <p:extLst>
      <p:ext uri="{19B8F6BF-5375-455C-9EA6-DF929625EA0E}">
        <p15:presenceInfo xmlns:p15="http://schemas.microsoft.com/office/powerpoint/2012/main" userId="9432ca6f309bcca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2CC"/>
    <a:srgbClr val="3E3E3C"/>
    <a:srgbClr val="EB1DDC"/>
    <a:srgbClr val="70AD47"/>
    <a:srgbClr val="B5E4FC"/>
    <a:srgbClr val="FBE5D6"/>
    <a:srgbClr val="A9D18E"/>
    <a:srgbClr val="B1B1AF"/>
    <a:srgbClr val="E2F0D9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390" autoAdjust="0"/>
    <p:restoredTop sz="97468" autoAdjust="0"/>
  </p:normalViewPr>
  <p:slideViewPr>
    <p:cSldViewPr snapToGrid="0">
      <p:cViewPr varScale="1">
        <p:scale>
          <a:sx n="110" d="100"/>
          <a:sy n="110" d="100"/>
        </p:scale>
        <p:origin x="1890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1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2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4160520" cy="367031"/>
          </a:xfrm>
          <a:prstGeom prst="rect">
            <a:avLst/>
          </a:prstGeom>
        </p:spPr>
        <p:txBody>
          <a:bodyPr vert="horz" lIns="95399" tIns="47700" rIns="95399" bIns="47700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438459" y="3"/>
            <a:ext cx="4160520" cy="367031"/>
          </a:xfrm>
          <a:prstGeom prst="rect">
            <a:avLst/>
          </a:prstGeom>
        </p:spPr>
        <p:txBody>
          <a:bodyPr vert="horz" lIns="95399" tIns="47700" rIns="95399" bIns="47700" rtlCol="0"/>
          <a:lstStyle>
            <a:lvl1pPr algn="r">
              <a:defRPr sz="1300"/>
            </a:lvl1pPr>
          </a:lstStyle>
          <a:p>
            <a:fld id="{D9F40DF9-009D-45C9-B61C-BAA40AB38BE0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157538" y="915988"/>
            <a:ext cx="3286125" cy="2465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399" tIns="47700" rIns="95399" bIns="4770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60120" y="3520441"/>
            <a:ext cx="7680960" cy="2880360"/>
          </a:xfrm>
          <a:prstGeom prst="rect">
            <a:avLst/>
          </a:prstGeom>
        </p:spPr>
        <p:txBody>
          <a:bodyPr vert="horz" lIns="95399" tIns="47700" rIns="95399" bIns="4770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948172"/>
            <a:ext cx="4160520" cy="367029"/>
          </a:xfrm>
          <a:prstGeom prst="rect">
            <a:avLst/>
          </a:prstGeom>
        </p:spPr>
        <p:txBody>
          <a:bodyPr vert="horz" lIns="95399" tIns="47700" rIns="95399" bIns="47700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438459" y="6948172"/>
            <a:ext cx="4160520" cy="367029"/>
          </a:xfrm>
          <a:prstGeom prst="rect">
            <a:avLst/>
          </a:prstGeom>
        </p:spPr>
        <p:txBody>
          <a:bodyPr vert="horz" lIns="95399" tIns="47700" rIns="95399" bIns="47700" rtlCol="0" anchor="b"/>
          <a:lstStyle>
            <a:lvl1pPr algn="r">
              <a:defRPr sz="1300"/>
            </a:lvl1pPr>
          </a:lstStyle>
          <a:p>
            <a:fld id="{2FCADA8D-7A6B-464A-9E1F-2074FF603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937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157538" y="915988"/>
            <a:ext cx="3286125" cy="24653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ADA8D-7A6B-464A-9E1F-2074FF603A9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0964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3C58D-563A-4762-B704-EF82E3D4A182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E4502-C656-4802-BA36-E2986643029C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360EBD4-6272-3695-8C31-7DBB1EE758CD}"/>
              </a:ext>
            </a:extLst>
          </p:cNvPr>
          <p:cNvCxnSpPr/>
          <p:nvPr userDrawn="1"/>
        </p:nvCxnSpPr>
        <p:spPr>
          <a:xfrm>
            <a:off x="171450" y="444500"/>
            <a:ext cx="8743950" cy="0"/>
          </a:xfrm>
          <a:prstGeom prst="line">
            <a:avLst/>
          </a:prstGeom>
          <a:ln w="57150">
            <a:solidFill>
              <a:srgbClr val="0F1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5B62DEFE-9CAE-7B5F-8E2A-8F77FB61F9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43" t="37189" r="14325" b="37220"/>
          <a:stretch/>
        </p:blipFill>
        <p:spPr>
          <a:xfrm>
            <a:off x="228601" y="554371"/>
            <a:ext cx="1846227" cy="66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567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455" y="177910"/>
            <a:ext cx="8756999" cy="411678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455" y="847108"/>
            <a:ext cx="8756999" cy="539931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3C58D-563A-4762-B704-EF82E3D4A182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E4502-C656-4802-BA36-E2986643029C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87CEC78-A0CF-1C74-B8DD-87CFFD57C11F}"/>
              </a:ext>
            </a:extLst>
          </p:cNvPr>
          <p:cNvCxnSpPr/>
          <p:nvPr userDrawn="1"/>
        </p:nvCxnSpPr>
        <p:spPr>
          <a:xfrm>
            <a:off x="171450" y="674084"/>
            <a:ext cx="8743950" cy="0"/>
          </a:xfrm>
          <a:prstGeom prst="line">
            <a:avLst/>
          </a:prstGeom>
          <a:ln w="57150">
            <a:solidFill>
              <a:srgbClr val="0F1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3207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7DA42D80-A554-B060-E6BC-CF8CCAF91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55" y="177910"/>
            <a:ext cx="8756999" cy="411678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932965E4-285B-0CE0-C2E1-969F19EBD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55" y="847108"/>
            <a:ext cx="8756999" cy="539931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8CF95D7-AFE8-C912-A0CD-8307D3BDD0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/>
          <a:p>
            <a:fld id="{B1F3C58D-563A-4762-B704-EF82E3D4A182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C1BA518C-510E-8525-12FA-34653A8BD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A6B766A0-97EE-44F5-5CE5-5D8200A0B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C8FE4502-C656-4802-BA36-E2986643029C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15BAF43-B963-A5C8-98AA-EC99672E4BA1}"/>
              </a:ext>
            </a:extLst>
          </p:cNvPr>
          <p:cNvCxnSpPr/>
          <p:nvPr userDrawn="1"/>
        </p:nvCxnSpPr>
        <p:spPr>
          <a:xfrm>
            <a:off x="171450" y="674084"/>
            <a:ext cx="8743950" cy="0"/>
          </a:xfrm>
          <a:prstGeom prst="line">
            <a:avLst/>
          </a:prstGeom>
          <a:ln w="57150">
            <a:solidFill>
              <a:srgbClr val="0F1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3837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3C58D-563A-4762-B704-EF82E3D4A182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FE4502-C656-4802-BA36-E298664302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6396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4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58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4.png"/><Relationship Id="rId4" Type="http://schemas.openxmlformats.org/officeDocument/2006/relationships/image" Target="../media/image6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0.png"/><Relationship Id="rId2" Type="http://schemas.openxmlformats.org/officeDocument/2006/relationships/image" Target="../media/image92.gif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8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2E9AF6C-8B3C-65F2-6176-F2D3EBE555AC}"/>
              </a:ext>
            </a:extLst>
          </p:cNvPr>
          <p:cNvSpPr/>
          <p:nvPr/>
        </p:nvSpPr>
        <p:spPr>
          <a:xfrm>
            <a:off x="121920" y="531223"/>
            <a:ext cx="2046514" cy="8447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871DDC-557E-17C8-B9C8-205E3179CC74}"/>
              </a:ext>
            </a:extLst>
          </p:cNvPr>
          <p:cNvSpPr txBox="1"/>
          <p:nvPr/>
        </p:nvSpPr>
        <p:spPr>
          <a:xfrm>
            <a:off x="964826" y="1733910"/>
            <a:ext cx="721434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500" b="1" dirty="0"/>
              <a:t>Physical Electronics Ⅱ</a:t>
            </a:r>
          </a:p>
          <a:p>
            <a:pPr algn="ctr"/>
            <a:r>
              <a:rPr lang="en-US" altLang="ko-KR" sz="4500" b="1" dirty="0"/>
              <a:t>Semiconductor Electronics Ⅱ</a:t>
            </a:r>
          </a:p>
          <a:p>
            <a:pPr algn="ctr"/>
            <a:endParaRPr lang="en-US" altLang="ko-KR" sz="4500" b="1" dirty="0"/>
          </a:p>
          <a:p>
            <a:pPr algn="ctr"/>
            <a:r>
              <a:rPr lang="en-US" altLang="ko-KR" sz="4000" b="1" u="sng" dirty="0"/>
              <a:t>TCAD</a:t>
            </a:r>
            <a:r>
              <a:rPr lang="ko-KR" altLang="en-US" sz="4000" b="1" u="sng" dirty="0"/>
              <a:t> </a:t>
            </a:r>
            <a:r>
              <a:rPr lang="en-US" altLang="ko-KR" sz="4000" b="1" u="sng" dirty="0"/>
              <a:t>simulation : MOSFET</a:t>
            </a:r>
            <a:endParaRPr lang="ko-KR" altLang="en-US" sz="4000" b="1" u="sng" dirty="0"/>
          </a:p>
        </p:txBody>
      </p:sp>
    </p:spTree>
    <p:extLst>
      <p:ext uri="{BB962C8B-B14F-4D97-AF65-F5344CB8AC3E}">
        <p14:creationId xmlns:p14="http://schemas.microsoft.com/office/powerpoint/2010/main" val="1333031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75BDE-719B-DEE1-C47B-85D46FDCE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FD22B7-89F7-D552-0A9F-F4D3DF519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Content</a:t>
            </a:r>
            <a:endParaRPr lang="ko-KR" altLang="en-US" dirty="0">
              <a:latin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E76396-AFD6-DB01-11DB-91EC22FE15A4}"/>
              </a:ext>
            </a:extLst>
          </p:cNvPr>
          <p:cNvSpPr txBox="1"/>
          <p:nvPr/>
        </p:nvSpPr>
        <p:spPr>
          <a:xfrm>
            <a:off x="248457" y="1021555"/>
            <a:ext cx="5294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◇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16082F-FC26-07E0-73DD-2D1D2EE846AF}"/>
              </a:ext>
            </a:extLst>
          </p:cNvPr>
          <p:cNvSpPr txBox="1"/>
          <p:nvPr/>
        </p:nvSpPr>
        <p:spPr>
          <a:xfrm>
            <a:off x="248457" y="1846258"/>
            <a:ext cx="5294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◇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87A1A4-A6DF-862E-9352-76B7D9A86BB8}"/>
              </a:ext>
            </a:extLst>
          </p:cNvPr>
          <p:cNvSpPr txBox="1"/>
          <p:nvPr/>
        </p:nvSpPr>
        <p:spPr>
          <a:xfrm>
            <a:off x="248457" y="2670961"/>
            <a:ext cx="5294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◇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SDEVICE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B83EF4-C82A-67A5-07A5-01DC0307750F}"/>
              </a:ext>
            </a:extLst>
          </p:cNvPr>
          <p:cNvSpPr txBox="1"/>
          <p:nvPr/>
        </p:nvSpPr>
        <p:spPr>
          <a:xfrm>
            <a:off x="248457" y="3495664"/>
            <a:ext cx="5294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◇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Inspect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482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A0FD7-5FD2-D90A-644A-5411AF991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082814-56DD-ABB5-3DF2-59072D186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Content</a:t>
            </a:r>
            <a:endParaRPr lang="ko-KR" altLang="en-US" dirty="0">
              <a:latin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86A24F-84DC-BFF6-0051-76E3FD4D7F26}"/>
              </a:ext>
            </a:extLst>
          </p:cNvPr>
          <p:cNvSpPr txBox="1"/>
          <p:nvPr/>
        </p:nvSpPr>
        <p:spPr>
          <a:xfrm>
            <a:off x="248457" y="1021555"/>
            <a:ext cx="5294437" cy="461665"/>
          </a:xfrm>
          <a:prstGeom prst="rect">
            <a:avLst/>
          </a:prstGeom>
          <a:solidFill>
            <a:srgbClr val="FFF2CC"/>
          </a:solidFill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◇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18E197-49CE-FFFA-7211-1DCFCBD5954D}"/>
              </a:ext>
            </a:extLst>
          </p:cNvPr>
          <p:cNvSpPr txBox="1"/>
          <p:nvPr/>
        </p:nvSpPr>
        <p:spPr>
          <a:xfrm>
            <a:off x="248457" y="1846258"/>
            <a:ext cx="5294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◇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683698-77F4-F2A2-7201-2694DAE61FE2}"/>
              </a:ext>
            </a:extLst>
          </p:cNvPr>
          <p:cNvSpPr txBox="1"/>
          <p:nvPr/>
        </p:nvSpPr>
        <p:spPr>
          <a:xfrm>
            <a:off x="248457" y="2670961"/>
            <a:ext cx="5294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◇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SDEVICE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8A4908-98CD-E016-1D75-51B4B9ECF36B}"/>
              </a:ext>
            </a:extLst>
          </p:cNvPr>
          <p:cNvSpPr txBox="1"/>
          <p:nvPr/>
        </p:nvSpPr>
        <p:spPr>
          <a:xfrm>
            <a:off x="248457" y="3495664"/>
            <a:ext cx="5294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◇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Inspect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473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B90449-DF21-1ADC-B935-662476E1E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+mj-ea"/>
              </a:rPr>
              <a:t>TCAD</a:t>
            </a:r>
            <a:r>
              <a:rPr lang="ko-KR" altLang="en-US" b="1" dirty="0">
                <a:latin typeface="+mj-ea"/>
              </a:rPr>
              <a:t> </a:t>
            </a:r>
            <a:r>
              <a:rPr lang="en-US" altLang="ko-KR" b="1" dirty="0">
                <a:latin typeface="+mj-ea"/>
              </a:rPr>
              <a:t>Simulation </a:t>
            </a:r>
            <a:r>
              <a:rPr lang="ko-KR" altLang="en-US" b="1" dirty="0">
                <a:latin typeface="+mj-ea"/>
              </a:rPr>
              <a:t>소개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A6A639-0B99-84C8-8E44-A1DAB0636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55" y="847108"/>
            <a:ext cx="8726212" cy="5399312"/>
          </a:xfrm>
        </p:spPr>
        <p:txBody>
          <a:bodyPr>
            <a:normAutofit/>
          </a:bodyPr>
          <a:lstStyle/>
          <a:p>
            <a:r>
              <a:rPr lang="en-US" altLang="ko-KR" sz="1800" b="1" dirty="0">
                <a:latin typeface="+mj-ea"/>
                <a:ea typeface="+mj-ea"/>
              </a:rPr>
              <a:t>Technology Computer-Aided Design (TCAD)</a:t>
            </a:r>
          </a:p>
          <a:p>
            <a:pPr marL="0" indent="0">
              <a:buNone/>
            </a:pPr>
            <a:r>
              <a:rPr lang="en-US" altLang="ko-KR" sz="1800" b="1" dirty="0">
                <a:latin typeface="+mj-ea"/>
                <a:ea typeface="+mj-ea"/>
              </a:rPr>
              <a:t>     : </a:t>
            </a:r>
            <a:r>
              <a:rPr lang="ko-KR" altLang="en-US" sz="1800" b="1" dirty="0">
                <a:latin typeface="+mj-ea"/>
                <a:ea typeface="+mj-ea"/>
              </a:rPr>
              <a:t>반도체 소자 성능 예측 및 최적조건 제시 </a:t>
            </a:r>
            <a:r>
              <a:rPr lang="en-US" altLang="ko-KR" sz="1800" b="1" dirty="0">
                <a:latin typeface="+mj-ea"/>
                <a:ea typeface="+mj-ea"/>
              </a:rPr>
              <a:t>+ </a:t>
            </a:r>
            <a:r>
              <a:rPr lang="ko-KR" altLang="en-US" sz="1800" b="1" dirty="0">
                <a:latin typeface="+mj-ea"/>
                <a:ea typeface="+mj-ea"/>
              </a:rPr>
              <a:t>제작 비용 및 시간 절감</a:t>
            </a:r>
            <a:endParaRPr lang="en-US" altLang="ko-KR" sz="1800" b="1" dirty="0">
              <a:latin typeface="+mj-ea"/>
              <a:ea typeface="+mj-ea"/>
            </a:endParaRPr>
          </a:p>
          <a:p>
            <a:r>
              <a:rPr lang="en-US" altLang="ko-KR" sz="1800" b="1" dirty="0">
                <a:latin typeface="+mj-ea"/>
                <a:ea typeface="+mj-ea"/>
              </a:rPr>
              <a:t>Physical Model </a:t>
            </a:r>
            <a:r>
              <a:rPr lang="ko-KR" altLang="en-US" sz="1800" b="1" dirty="0">
                <a:latin typeface="+mj-ea"/>
                <a:ea typeface="+mj-ea"/>
              </a:rPr>
              <a:t>기반 소자</a:t>
            </a:r>
            <a:r>
              <a:rPr lang="en-US" altLang="ko-KR" sz="1800" b="1" dirty="0">
                <a:latin typeface="+mj-ea"/>
                <a:ea typeface="+mj-ea"/>
              </a:rPr>
              <a:t>/</a:t>
            </a:r>
            <a:r>
              <a:rPr lang="ko-KR" altLang="en-US" sz="1800" b="1" dirty="0">
                <a:latin typeface="+mj-ea"/>
                <a:ea typeface="+mj-ea"/>
              </a:rPr>
              <a:t>회로 해석 </a:t>
            </a:r>
            <a:r>
              <a:rPr lang="en-US" altLang="ko-KR" sz="1800" b="1" dirty="0">
                <a:latin typeface="+mj-ea"/>
                <a:ea typeface="+mj-ea"/>
              </a:rPr>
              <a:t>(</a:t>
            </a:r>
            <a:r>
              <a:rPr lang="ko-KR" altLang="en-US" sz="1800" b="1" dirty="0">
                <a:latin typeface="+mj-ea"/>
                <a:ea typeface="+mj-ea"/>
              </a:rPr>
              <a:t>반도체 재료</a:t>
            </a:r>
            <a:r>
              <a:rPr lang="en-US" altLang="ko-KR" sz="1800" b="1" dirty="0">
                <a:latin typeface="+mj-ea"/>
                <a:ea typeface="+mj-ea"/>
              </a:rPr>
              <a:t>/</a:t>
            </a:r>
            <a:r>
              <a:rPr lang="ko-KR" altLang="en-US" sz="1800" b="1" dirty="0">
                <a:latin typeface="+mj-ea"/>
                <a:ea typeface="+mj-ea"/>
              </a:rPr>
              <a:t>소자의</a:t>
            </a:r>
            <a:r>
              <a:rPr lang="en-US" altLang="ko-KR" sz="1800" b="1" dirty="0">
                <a:latin typeface="+mj-ea"/>
                <a:ea typeface="+mj-ea"/>
              </a:rPr>
              <a:t> </a:t>
            </a:r>
            <a:r>
              <a:rPr lang="ko-KR" altLang="en-US" sz="1800" b="1" dirty="0">
                <a:latin typeface="+mj-ea"/>
                <a:ea typeface="+mj-ea"/>
              </a:rPr>
              <a:t>물리적 특성 이해</a:t>
            </a:r>
            <a:r>
              <a:rPr lang="en-US" altLang="ko-KR" sz="1800" b="1" dirty="0">
                <a:latin typeface="+mj-ea"/>
                <a:ea typeface="+mj-ea"/>
              </a:rPr>
              <a:t>)</a:t>
            </a:r>
          </a:p>
          <a:p>
            <a:pPr marL="0" indent="0">
              <a:buNone/>
            </a:pPr>
            <a:r>
              <a:rPr lang="en-US" altLang="ko-KR" sz="1800" b="1" dirty="0">
                <a:latin typeface="+mj-ea"/>
                <a:ea typeface="+mj-ea"/>
              </a:rPr>
              <a:t>    cf.) Equivalent Circuit Model (</a:t>
            </a:r>
            <a:r>
              <a:rPr lang="en-US" altLang="ko-KR" sz="1800" b="1" dirty="0">
                <a:latin typeface="+mj-ea"/>
                <a:ea typeface="+mj-ea"/>
                <a:sym typeface="Wingdings" panose="05000000000000000000" pitchFamily="2" charset="2"/>
              </a:rPr>
              <a:t> SPICE)</a:t>
            </a:r>
            <a:endParaRPr lang="en-US" altLang="ko-KR" sz="1800" b="1" dirty="0">
              <a:latin typeface="+mj-ea"/>
              <a:ea typeface="+mj-ea"/>
            </a:endParaRPr>
          </a:p>
          <a:p>
            <a:endParaRPr lang="ko-KR" altLang="en-US" sz="1800" b="1" dirty="0">
              <a:latin typeface="+mj-ea"/>
              <a:ea typeface="+mj-ea"/>
            </a:endParaRPr>
          </a:p>
        </p:txBody>
      </p:sp>
      <p:pic>
        <p:nvPicPr>
          <p:cNvPr id="94" name="그림 93">
            <a:extLst>
              <a:ext uri="{FF2B5EF4-FFF2-40B4-BE49-F238E27FC236}">
                <a16:creationId xmlns:a16="http://schemas.microsoft.com/office/drawing/2014/main" id="{4757D2C7-6AFC-4DCC-59D5-DF3D04B79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835" y="2382980"/>
            <a:ext cx="8354329" cy="3796147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D295E5D6-B887-C057-1E43-21925B132709}"/>
              </a:ext>
            </a:extLst>
          </p:cNvPr>
          <p:cNvSpPr txBox="1"/>
          <p:nvPr/>
        </p:nvSpPr>
        <p:spPr>
          <a:xfrm>
            <a:off x="3673625" y="6159334"/>
            <a:ext cx="10839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Arial" panose="020B0604020202020204" pitchFamily="34" charset="0"/>
              </a:rPr>
              <a:t>IBM.com</a:t>
            </a:r>
          </a:p>
        </p:txBody>
      </p:sp>
    </p:spTree>
    <p:extLst>
      <p:ext uri="{BB962C8B-B14F-4D97-AF65-F5344CB8AC3E}">
        <p14:creationId xmlns:p14="http://schemas.microsoft.com/office/powerpoint/2010/main" val="3539746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A6A639-0B99-84C8-8E44-A1DAB0636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800" b="1" dirty="0">
                <a:latin typeface="+mj-ea"/>
                <a:ea typeface="+mj-ea"/>
              </a:rPr>
              <a:t>Synopsys </a:t>
            </a:r>
            <a:r>
              <a:rPr lang="ko-KR" altLang="en-US" sz="1800" b="1" dirty="0">
                <a:latin typeface="+mj-ea"/>
                <a:ea typeface="+mj-ea"/>
              </a:rPr>
              <a:t>는</a:t>
            </a:r>
            <a:r>
              <a:rPr lang="en-US" altLang="ko-KR" sz="1800" b="1" dirty="0">
                <a:latin typeface="+mj-ea"/>
                <a:ea typeface="+mj-ea"/>
              </a:rPr>
              <a:t> </a:t>
            </a:r>
            <a:r>
              <a:rPr lang="ko-KR" altLang="en-US" sz="1800" b="1" dirty="0">
                <a:latin typeface="+mj-ea"/>
                <a:ea typeface="+mj-ea"/>
              </a:rPr>
              <a:t>원자 단위에서 회로 레벨까지 다양한 시뮬레이션 해석 툴 제공</a:t>
            </a:r>
            <a:endParaRPr lang="en-US" altLang="ko-KR" sz="1800" b="1" dirty="0">
              <a:latin typeface="+mj-ea"/>
              <a:ea typeface="+mj-ea"/>
            </a:endParaRPr>
          </a:p>
          <a:p>
            <a:endParaRPr lang="en-US" altLang="ko-KR" sz="1800" b="1" dirty="0">
              <a:latin typeface="+mj-ea"/>
              <a:ea typeface="+mj-ea"/>
            </a:endParaRPr>
          </a:p>
          <a:p>
            <a:endParaRPr lang="en-US" altLang="ko-KR" sz="1800" b="1" dirty="0">
              <a:latin typeface="+mj-ea"/>
              <a:ea typeface="+mj-ea"/>
            </a:endParaRPr>
          </a:p>
          <a:p>
            <a:endParaRPr lang="en-US" altLang="ko-KR" sz="1800" b="1" dirty="0">
              <a:latin typeface="+mj-ea"/>
              <a:ea typeface="+mj-ea"/>
            </a:endParaRPr>
          </a:p>
          <a:p>
            <a:endParaRPr lang="en-US" altLang="ko-KR" sz="1800" b="1" dirty="0">
              <a:latin typeface="+mj-ea"/>
              <a:ea typeface="+mj-ea"/>
            </a:endParaRPr>
          </a:p>
          <a:p>
            <a:endParaRPr lang="en-US" altLang="ko-KR" sz="1800" b="1" dirty="0">
              <a:latin typeface="+mj-ea"/>
              <a:ea typeface="+mj-ea"/>
            </a:endParaRPr>
          </a:p>
          <a:p>
            <a:endParaRPr lang="en-US" altLang="ko-KR" sz="1800" b="1" dirty="0">
              <a:latin typeface="+mj-ea"/>
              <a:ea typeface="+mj-ea"/>
            </a:endParaRPr>
          </a:p>
          <a:p>
            <a:endParaRPr lang="en-US" altLang="ko-KR" sz="1800" b="1" dirty="0">
              <a:latin typeface="+mj-ea"/>
              <a:ea typeface="+mj-ea"/>
            </a:endParaRPr>
          </a:p>
          <a:p>
            <a:r>
              <a:rPr lang="ko-KR" altLang="en-US" sz="1800" b="1" dirty="0">
                <a:latin typeface="+mj-ea"/>
                <a:ea typeface="+mj-ea"/>
              </a:rPr>
              <a:t>실습 툴 소개 </a:t>
            </a:r>
            <a:r>
              <a:rPr lang="en-US" altLang="ko-KR" sz="1800" b="1" dirty="0">
                <a:latin typeface="+mj-ea"/>
                <a:ea typeface="+mj-ea"/>
              </a:rPr>
              <a:t>[Most Synopsys tools: </a:t>
            </a:r>
            <a:r>
              <a:rPr lang="en-US" altLang="ko-KR" sz="1800" b="1" dirty="0" err="1">
                <a:latin typeface="+mj-ea"/>
                <a:ea typeface="+mj-ea"/>
              </a:rPr>
              <a:t>Tclsh</a:t>
            </a:r>
            <a:r>
              <a:rPr lang="en-US" altLang="ko-KR" sz="1800" b="1" dirty="0">
                <a:latin typeface="+mj-ea"/>
                <a:ea typeface="+mj-ea"/>
              </a:rPr>
              <a:t> script, excluding SDE (Scheme)]</a:t>
            </a:r>
          </a:p>
          <a:p>
            <a:endParaRPr lang="en-US" altLang="ko-KR" sz="1800" b="1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ko-KR" sz="1800" b="1" dirty="0">
                <a:latin typeface="+mj-ea"/>
                <a:ea typeface="+mj-ea"/>
              </a:rPr>
              <a:t>     </a:t>
            </a:r>
          </a:p>
          <a:p>
            <a:pPr marL="0" indent="0">
              <a:buNone/>
            </a:pPr>
            <a:endParaRPr lang="en-US" altLang="ko-KR" sz="1800" b="1" dirty="0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ko-KR" sz="1800" b="1" dirty="0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ko-KR" sz="1800" b="1" dirty="0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ko-KR" sz="1800" b="1" dirty="0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ko-KR" sz="1800" b="1" dirty="0">
              <a:latin typeface="+mj-ea"/>
              <a:ea typeface="+mj-ea"/>
            </a:endParaRP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1B90449-DF21-1ADC-B935-662476E1E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+mj-ea"/>
              </a:rPr>
              <a:t>TCAD</a:t>
            </a:r>
            <a:r>
              <a:rPr lang="ko-KR" altLang="en-US" b="1" dirty="0">
                <a:latin typeface="+mj-ea"/>
              </a:rPr>
              <a:t> </a:t>
            </a:r>
            <a:r>
              <a:rPr lang="en-US" altLang="ko-KR" b="1" dirty="0">
                <a:latin typeface="+mj-ea"/>
              </a:rPr>
              <a:t>Simulation </a:t>
            </a:r>
            <a:r>
              <a:rPr lang="ko-KR" altLang="en-US" b="1" dirty="0">
                <a:latin typeface="+mj-ea"/>
              </a:rPr>
              <a:t>소개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247B215-C869-1699-5BD6-A9295D1F5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86" y="1682338"/>
            <a:ext cx="2159776" cy="644937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92C62DE-B464-5AAC-3182-1404E4655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3136" y="1414951"/>
            <a:ext cx="5531966" cy="2049675"/>
          </a:xfrm>
          <a:prstGeom prst="rect">
            <a:avLst/>
          </a:prstGeom>
          <a:ln w="28575">
            <a:solidFill>
              <a:schemeClr val="bg1">
                <a:lumMod val="85000"/>
              </a:schemeClr>
            </a:solidFill>
            <a:prstDash val="sysDash"/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72B2B07-D324-49AB-7933-715A72E97B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328" y="2499359"/>
            <a:ext cx="2067493" cy="592778"/>
          </a:xfrm>
          <a:prstGeom prst="rect">
            <a:avLst/>
          </a:prstGeom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B5D46D6-D4E0-19E3-B899-FD2D83C08DB9}"/>
              </a:ext>
            </a:extLst>
          </p:cNvPr>
          <p:cNvCxnSpPr>
            <a:cxnSpLocks/>
          </p:cNvCxnSpPr>
          <p:nvPr/>
        </p:nvCxnSpPr>
        <p:spPr>
          <a:xfrm flipV="1">
            <a:off x="2662238" y="1390650"/>
            <a:ext cx="429705" cy="27463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345C3BE-99B0-724C-47A4-79697470B595}"/>
              </a:ext>
            </a:extLst>
          </p:cNvPr>
          <p:cNvCxnSpPr>
            <a:cxnSpLocks/>
          </p:cNvCxnSpPr>
          <p:nvPr/>
        </p:nvCxnSpPr>
        <p:spPr>
          <a:xfrm>
            <a:off x="2662238" y="2327275"/>
            <a:ext cx="409575" cy="1161652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2A3FF9EC-0E53-E6F4-2613-B135CFCEEE0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420" t="75462" r="81607" b="3056"/>
          <a:stretch/>
        </p:blipFill>
        <p:spPr>
          <a:xfrm>
            <a:off x="4615096" y="4378685"/>
            <a:ext cx="952501" cy="95367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8AE002D-F81E-B2DB-4DB1-8087229D70A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8358" t="9048" r="25670" b="69469"/>
          <a:stretch/>
        </p:blipFill>
        <p:spPr>
          <a:xfrm>
            <a:off x="385233" y="4368029"/>
            <a:ext cx="952501" cy="95367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895EEEF-54C5-331D-E11F-6562179F2E7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140" t="42356" r="81630" b="36162"/>
          <a:stretch/>
        </p:blipFill>
        <p:spPr>
          <a:xfrm>
            <a:off x="385233" y="5522994"/>
            <a:ext cx="967905" cy="95367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E1F2775-87BA-2448-FA1C-689A2AC8C1C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9289" t="75462" r="44480" b="3056"/>
          <a:stretch/>
        </p:blipFill>
        <p:spPr>
          <a:xfrm>
            <a:off x="4607393" y="5522993"/>
            <a:ext cx="967905" cy="95367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1DD0D3C-7467-9F4E-F159-73FFD9F32DE3}"/>
              </a:ext>
            </a:extLst>
          </p:cNvPr>
          <p:cNvSpPr txBox="1"/>
          <p:nvPr/>
        </p:nvSpPr>
        <p:spPr>
          <a:xfrm>
            <a:off x="1331977" y="4315606"/>
            <a:ext cx="3507485" cy="842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b="1" dirty="0" err="1">
                <a:latin typeface="+mj-ea"/>
                <a:ea typeface="+mj-ea"/>
                <a:cs typeface="Arial" panose="020B0604020202020204" pitchFamily="34" charset="0"/>
              </a:rPr>
              <a:t>Sentaurus</a:t>
            </a:r>
            <a:r>
              <a:rPr lang="en-US" altLang="ko-KR" sz="1400" b="1" dirty="0">
                <a:latin typeface="+mj-ea"/>
                <a:ea typeface="+mj-ea"/>
                <a:cs typeface="Arial" panose="020B0604020202020204" pitchFamily="34" charset="0"/>
              </a:rPr>
              <a:t> Device Editor (SDE)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latin typeface="+mj-ea"/>
                <a:ea typeface="+mj-ea"/>
                <a:cs typeface="Arial" panose="020B0604020202020204" pitchFamily="34" charset="0"/>
              </a:rPr>
              <a:t>: 2D/3D </a:t>
            </a:r>
            <a:r>
              <a:rPr lang="ko-KR" altLang="en-US" sz="1400" dirty="0">
                <a:latin typeface="+mj-ea"/>
                <a:ea typeface="+mj-ea"/>
                <a:cs typeface="Arial" panose="020B0604020202020204" pitchFamily="34" charset="0"/>
              </a:rPr>
              <a:t>구조 형성</a:t>
            </a:r>
            <a:r>
              <a:rPr lang="en-US" altLang="ko-KR" sz="1400" dirty="0">
                <a:latin typeface="+mj-ea"/>
                <a:ea typeface="+mj-ea"/>
                <a:cs typeface="Arial" panose="020B0604020202020204" pitchFamily="34" charset="0"/>
              </a:rPr>
              <a:t>(Drawing, Boolean)</a:t>
            </a:r>
            <a:r>
              <a:rPr lang="ko-KR" altLang="en-US" sz="1400" dirty="0">
                <a:latin typeface="+mj-ea"/>
                <a:ea typeface="+mj-ea"/>
                <a:cs typeface="Arial" panose="020B0604020202020204" pitchFamily="34" charset="0"/>
              </a:rPr>
              <a:t> </a:t>
            </a:r>
            <a:endParaRPr lang="en-US" altLang="ko-KR" sz="1400" dirty="0">
              <a:latin typeface="+mj-ea"/>
              <a:ea typeface="+mj-ea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latin typeface="+mj-ea"/>
                <a:ea typeface="+mj-ea"/>
                <a:cs typeface="Arial" panose="020B0604020202020204" pitchFamily="34" charset="0"/>
              </a:rPr>
              <a:t> (Process simulation</a:t>
            </a:r>
            <a:r>
              <a:rPr lang="ko-KR" altLang="en-US" sz="1400" dirty="0">
                <a:latin typeface="+mj-ea"/>
                <a:ea typeface="+mj-ea"/>
                <a:cs typeface="Arial" panose="020B0604020202020204" pitchFamily="34" charset="0"/>
              </a:rPr>
              <a:t> </a:t>
            </a:r>
            <a:r>
              <a:rPr lang="en-US" altLang="ko-KR" sz="1400" dirty="0">
                <a:latin typeface="+mj-ea"/>
                <a:ea typeface="+mj-ea"/>
                <a:cs typeface="Arial" panose="020B0604020202020204" pitchFamily="34" charset="0"/>
              </a:rPr>
              <a:t>X)</a:t>
            </a:r>
            <a:endParaRPr lang="ko-KR" altLang="en-US" sz="1400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EB0C71-FC14-5DB2-3CE3-4453F050852A}"/>
              </a:ext>
            </a:extLst>
          </p:cNvPr>
          <p:cNvSpPr txBox="1"/>
          <p:nvPr/>
        </p:nvSpPr>
        <p:spPr>
          <a:xfrm>
            <a:off x="1327743" y="5428969"/>
            <a:ext cx="3507485" cy="842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b="1" dirty="0">
                <a:latin typeface="+mj-ea"/>
                <a:ea typeface="+mj-ea"/>
                <a:cs typeface="Arial" panose="020B0604020202020204" pitchFamily="34" charset="0"/>
              </a:rPr>
              <a:t>SDEVICE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latin typeface="+mj-ea"/>
                <a:ea typeface="+mj-ea"/>
                <a:cs typeface="Arial" panose="020B0604020202020204" pitchFamily="34" charset="0"/>
              </a:rPr>
              <a:t>: </a:t>
            </a:r>
            <a:r>
              <a:rPr lang="ko-KR" altLang="en-US" sz="1400" dirty="0">
                <a:latin typeface="+mj-ea"/>
                <a:ea typeface="+mj-ea"/>
                <a:cs typeface="Arial" panose="020B0604020202020204" pitchFamily="34" charset="0"/>
              </a:rPr>
              <a:t>물리 모델 기반 소자 특성 시뮬레이션</a:t>
            </a:r>
            <a:endParaRPr lang="en-US" altLang="ko-KR" sz="1400" dirty="0">
              <a:latin typeface="+mj-ea"/>
              <a:ea typeface="+mj-ea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latin typeface="+mj-ea"/>
                <a:ea typeface="+mj-ea"/>
                <a:cs typeface="Arial" panose="020B0604020202020204" pitchFamily="34" charset="0"/>
              </a:rPr>
              <a:t>  DC,</a:t>
            </a:r>
            <a:r>
              <a:rPr lang="ko-KR" altLang="en-US" sz="1400" dirty="0">
                <a:latin typeface="+mj-ea"/>
                <a:ea typeface="+mj-ea"/>
                <a:cs typeface="Arial" panose="020B0604020202020204" pitchFamily="34" charset="0"/>
              </a:rPr>
              <a:t> </a:t>
            </a:r>
            <a:r>
              <a:rPr lang="en-US" altLang="ko-KR" sz="1400" dirty="0">
                <a:latin typeface="+mj-ea"/>
                <a:ea typeface="+mj-ea"/>
                <a:cs typeface="Arial" panose="020B0604020202020204" pitchFamily="34" charset="0"/>
              </a:rPr>
              <a:t>AC,</a:t>
            </a:r>
            <a:r>
              <a:rPr lang="ko-KR" altLang="en-US" sz="1400" dirty="0">
                <a:latin typeface="+mj-ea"/>
                <a:ea typeface="+mj-ea"/>
                <a:cs typeface="Arial" panose="020B0604020202020204" pitchFamily="34" charset="0"/>
              </a:rPr>
              <a:t> </a:t>
            </a:r>
            <a:r>
              <a:rPr lang="en-US" altLang="ko-KR" sz="1400" dirty="0">
                <a:latin typeface="+mj-ea"/>
                <a:ea typeface="+mj-ea"/>
                <a:cs typeface="Arial" panose="020B0604020202020204" pitchFamily="34" charset="0"/>
              </a:rPr>
              <a:t>Transient</a:t>
            </a:r>
            <a:r>
              <a:rPr lang="ko-KR" altLang="en-US" sz="1400" dirty="0">
                <a:latin typeface="+mj-ea"/>
                <a:ea typeface="+mj-ea"/>
                <a:cs typeface="Arial" panose="020B0604020202020204" pitchFamily="34" charset="0"/>
              </a:rPr>
              <a:t> 해석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B20768-60BC-B244-AF86-BB3FA9D46CFF}"/>
              </a:ext>
            </a:extLst>
          </p:cNvPr>
          <p:cNvSpPr txBox="1"/>
          <p:nvPr/>
        </p:nvSpPr>
        <p:spPr>
          <a:xfrm>
            <a:off x="5591060" y="4315606"/>
            <a:ext cx="3507485" cy="842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b="1" dirty="0">
                <a:latin typeface="+mj-ea"/>
                <a:ea typeface="+mj-ea"/>
                <a:cs typeface="Arial" panose="020B0604020202020204" pitchFamily="34" charset="0"/>
              </a:rPr>
              <a:t>SVISUAL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latin typeface="+mj-ea"/>
                <a:ea typeface="+mj-ea"/>
                <a:cs typeface="Arial" panose="020B0604020202020204" pitchFamily="34" charset="0"/>
              </a:rPr>
              <a:t>: </a:t>
            </a:r>
            <a:r>
              <a:rPr lang="ko-KR" altLang="en-US" sz="1400" dirty="0">
                <a:latin typeface="+mj-ea"/>
                <a:ea typeface="+mj-ea"/>
                <a:cs typeface="Arial" panose="020B0604020202020204" pitchFamily="34" charset="0"/>
              </a:rPr>
              <a:t>소자</a:t>
            </a:r>
            <a:r>
              <a:rPr lang="en-US" altLang="ko-KR" sz="1400" dirty="0">
                <a:latin typeface="+mj-ea"/>
                <a:ea typeface="+mj-ea"/>
                <a:cs typeface="Arial" panose="020B0604020202020204" pitchFamily="34" charset="0"/>
              </a:rPr>
              <a:t> </a:t>
            </a:r>
            <a:r>
              <a:rPr lang="ko-KR" altLang="en-US" sz="1400" dirty="0">
                <a:latin typeface="+mj-ea"/>
                <a:ea typeface="+mj-ea"/>
                <a:cs typeface="Arial" panose="020B0604020202020204" pitchFamily="34" charset="0"/>
              </a:rPr>
              <a:t>구조 내 현상 분석</a:t>
            </a:r>
            <a:r>
              <a:rPr lang="en-US" altLang="ko-KR" sz="1400" dirty="0">
                <a:latin typeface="+mj-ea"/>
                <a:ea typeface="+mj-ea"/>
                <a:cs typeface="Arial" panose="020B0604020202020204" pitchFamily="34" charset="0"/>
              </a:rPr>
              <a:t>, 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latin typeface="+mj-ea"/>
                <a:ea typeface="+mj-ea"/>
                <a:cs typeface="Arial" panose="020B0604020202020204" pitchFamily="34" charset="0"/>
              </a:rPr>
              <a:t>  </a:t>
            </a:r>
            <a:r>
              <a:rPr lang="ko-KR" altLang="en-US" sz="1400" dirty="0">
                <a:latin typeface="+mj-ea"/>
                <a:ea typeface="+mj-ea"/>
                <a:cs typeface="Arial" panose="020B0604020202020204" pitchFamily="34" charset="0"/>
              </a:rPr>
              <a:t>전기적 특성 분석</a:t>
            </a:r>
            <a:r>
              <a:rPr lang="en-US" altLang="ko-KR" sz="1400" dirty="0"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atin typeface="+mj-ea"/>
                <a:ea typeface="+mj-ea"/>
                <a:cs typeface="Arial" panose="020B0604020202020204" pitchFamily="34" charset="0"/>
              </a:rPr>
              <a:t>주요 파라미터 추출</a:t>
            </a:r>
            <a:endParaRPr lang="en-US" altLang="ko-KR" sz="1400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AA19AA-4BE2-C9BB-07FA-88376328787E}"/>
              </a:ext>
            </a:extLst>
          </p:cNvPr>
          <p:cNvSpPr txBox="1"/>
          <p:nvPr/>
        </p:nvSpPr>
        <p:spPr>
          <a:xfrm>
            <a:off x="5586826" y="5428969"/>
            <a:ext cx="3507485" cy="583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b="1" dirty="0">
                <a:latin typeface="+mj-ea"/>
                <a:ea typeface="+mj-ea"/>
                <a:cs typeface="Arial" panose="020B0604020202020204" pitchFamily="34" charset="0"/>
              </a:rPr>
              <a:t>INSPECT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latin typeface="+mj-ea"/>
                <a:ea typeface="+mj-ea"/>
                <a:cs typeface="Arial" panose="020B0604020202020204" pitchFamily="34" charset="0"/>
              </a:rPr>
              <a:t>: </a:t>
            </a:r>
            <a:r>
              <a:rPr lang="ko-KR" altLang="en-US" sz="1400" dirty="0">
                <a:latin typeface="+mj-ea"/>
                <a:ea typeface="+mj-ea"/>
                <a:cs typeface="Arial" panose="020B0604020202020204" pitchFamily="34" charset="0"/>
              </a:rPr>
              <a:t>전기적 특성 분석</a:t>
            </a:r>
            <a:r>
              <a:rPr lang="en-US" altLang="ko-KR" sz="1400" dirty="0">
                <a:latin typeface="+mj-ea"/>
                <a:ea typeface="+mj-ea"/>
                <a:cs typeface="Arial" panose="020B0604020202020204" pitchFamily="34" charset="0"/>
              </a:rPr>
              <a:t>, </a:t>
            </a:r>
            <a:r>
              <a:rPr lang="ko-KR" altLang="en-US" sz="1400" dirty="0">
                <a:latin typeface="+mj-ea"/>
                <a:ea typeface="+mj-ea"/>
                <a:cs typeface="Arial" panose="020B0604020202020204" pitchFamily="34" charset="0"/>
              </a:rPr>
              <a:t>주요 파라미터 추출</a:t>
            </a:r>
            <a:endParaRPr lang="en-US" altLang="ko-KR" sz="1400" dirty="0"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443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A72E5-9D33-B43C-833D-C66B92BD6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FD2366-910D-EDD3-5A49-546B27555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Content</a:t>
            </a:r>
            <a:endParaRPr lang="ko-KR" altLang="en-US" dirty="0">
              <a:latin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913F6C-2880-2827-450A-377FBD374455}"/>
              </a:ext>
            </a:extLst>
          </p:cNvPr>
          <p:cNvSpPr txBox="1"/>
          <p:nvPr/>
        </p:nvSpPr>
        <p:spPr>
          <a:xfrm>
            <a:off x="248457" y="1021555"/>
            <a:ext cx="5294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◇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CF367B-FC0B-D960-EF83-F12D62B7704B}"/>
              </a:ext>
            </a:extLst>
          </p:cNvPr>
          <p:cNvSpPr txBox="1"/>
          <p:nvPr/>
        </p:nvSpPr>
        <p:spPr>
          <a:xfrm>
            <a:off x="248457" y="1846258"/>
            <a:ext cx="5294437" cy="461665"/>
          </a:xfrm>
          <a:prstGeom prst="rect">
            <a:avLst/>
          </a:prstGeom>
          <a:solidFill>
            <a:srgbClr val="FFF2CC"/>
          </a:solidFill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◇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77067D-2EA4-4A23-F0F8-91B11B3BB150}"/>
              </a:ext>
            </a:extLst>
          </p:cNvPr>
          <p:cNvSpPr txBox="1"/>
          <p:nvPr/>
        </p:nvSpPr>
        <p:spPr>
          <a:xfrm>
            <a:off x="248457" y="2670961"/>
            <a:ext cx="5294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◇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SDEVICE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5918D8-E621-5F4F-D6BF-0B5F60E30968}"/>
              </a:ext>
            </a:extLst>
          </p:cNvPr>
          <p:cNvSpPr txBox="1"/>
          <p:nvPr/>
        </p:nvSpPr>
        <p:spPr>
          <a:xfrm>
            <a:off x="248457" y="3495664"/>
            <a:ext cx="5294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◇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Inspect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814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953413-9F95-792C-187E-E5C40EECE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55" y="847108"/>
            <a:ext cx="8756999" cy="5832982"/>
          </a:xfrm>
        </p:spPr>
        <p:txBody>
          <a:bodyPr>
            <a:normAutofit/>
          </a:bodyPr>
          <a:lstStyle/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No Tools’ </a:t>
            </a: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우클릭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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Add’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클릭</a:t>
            </a:r>
          </a:p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Add Tool’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창이 열리면 ‘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Tools’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클릭</a:t>
            </a:r>
          </a:p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Select DB Tool’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창이 열리면 ‘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SDE’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클릭 후 ‘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OK’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클릭</a:t>
            </a:r>
          </a:p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4. Name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과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Label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에 ‘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SDE’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설정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5. Batch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클릭 후 ‘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OK’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클릭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EDEC122-1408-54FD-01BC-3CBA0E0FB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3701" y="1213828"/>
            <a:ext cx="2970344" cy="275742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F370CFB-A1DD-C8D5-3710-A9368E5FF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SDE </a:t>
            </a:r>
            <a:r>
              <a:rPr lang="ko-KR" altLang="en-US" dirty="0">
                <a:latin typeface="+mj-ea"/>
              </a:rPr>
              <a:t>생성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663DF51-0F1A-34B1-3AA2-E4F50CE52F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7617"/>
          <a:stretch/>
        </p:blipFill>
        <p:spPr>
          <a:xfrm>
            <a:off x="69300" y="1227777"/>
            <a:ext cx="2148909" cy="275980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8BECBDD4-2E4D-4570-1BE8-0AA2D74118C0}"/>
              </a:ext>
            </a:extLst>
          </p:cNvPr>
          <p:cNvSpPr/>
          <p:nvPr/>
        </p:nvSpPr>
        <p:spPr>
          <a:xfrm>
            <a:off x="938727" y="1702262"/>
            <a:ext cx="1279482" cy="1872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82B0CA3-4D97-2EA0-1420-8B9728878555}"/>
              </a:ext>
            </a:extLst>
          </p:cNvPr>
          <p:cNvSpPr/>
          <p:nvPr/>
        </p:nvSpPr>
        <p:spPr>
          <a:xfrm>
            <a:off x="7082816" y="2046186"/>
            <a:ext cx="325967" cy="1872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0EB3FE87-B704-19F5-F7B2-DE8F0FA6C40D}"/>
              </a:ext>
            </a:extLst>
          </p:cNvPr>
          <p:cNvSpPr/>
          <p:nvPr/>
        </p:nvSpPr>
        <p:spPr>
          <a:xfrm>
            <a:off x="2272169" y="2382048"/>
            <a:ext cx="321951" cy="420991"/>
          </a:xfrm>
          <a:prstGeom prst="rightArrow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CA2900DA-C83D-BD4B-3541-DB8DF05BB5D9}"/>
              </a:ext>
            </a:extLst>
          </p:cNvPr>
          <p:cNvSpPr/>
          <p:nvPr/>
        </p:nvSpPr>
        <p:spPr>
          <a:xfrm>
            <a:off x="5702084" y="2360388"/>
            <a:ext cx="321951" cy="420991"/>
          </a:xfrm>
          <a:prstGeom prst="rightArrow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73B81A80-C2AE-8114-B813-E39C5AA6D0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3547" y="1227777"/>
            <a:ext cx="2970344" cy="276141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49A90D16-2D6D-E4BE-E804-C5DA97D41762}"/>
              </a:ext>
            </a:extLst>
          </p:cNvPr>
          <p:cNvSpPr/>
          <p:nvPr/>
        </p:nvSpPr>
        <p:spPr>
          <a:xfrm>
            <a:off x="5211289" y="1555120"/>
            <a:ext cx="325967" cy="1872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97033E7-4EF1-9C25-78FF-C7A389C8F35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1244" t="5964" r="26674" b="50162"/>
          <a:stretch/>
        </p:blipFill>
        <p:spPr>
          <a:xfrm>
            <a:off x="4158719" y="1832699"/>
            <a:ext cx="1337050" cy="132082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16318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370CFB-A1DD-C8D5-3710-A9368E5FF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SDE Input Command</a:t>
            </a:r>
            <a:endParaRPr lang="ko-KR" altLang="en-US" dirty="0">
              <a:latin typeface="+mj-ea"/>
            </a:endParaRPr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36AD7098-B9F4-AD85-8FC2-8F9E08670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55" y="847108"/>
            <a:ext cx="8756999" cy="583298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1. ‘SDE’ </a:t>
            </a: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우클릭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‘Edit input’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클릭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‘Commands’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클릭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파일 내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SDE command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입력 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6A4A615-6F2A-E25C-16E4-D1DA1E9A8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42" y="1421215"/>
            <a:ext cx="3156768" cy="270498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6E1B7987-5775-A145-8B33-F7AD1840F780}"/>
              </a:ext>
            </a:extLst>
          </p:cNvPr>
          <p:cNvSpPr/>
          <p:nvPr/>
        </p:nvSpPr>
        <p:spPr>
          <a:xfrm>
            <a:off x="2365501" y="2859908"/>
            <a:ext cx="744597" cy="1736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1FB3BF03-DA99-8731-457A-BB50BD1651AD}"/>
              </a:ext>
            </a:extLst>
          </p:cNvPr>
          <p:cNvSpPr/>
          <p:nvPr/>
        </p:nvSpPr>
        <p:spPr>
          <a:xfrm>
            <a:off x="3447835" y="2536988"/>
            <a:ext cx="436227" cy="420991"/>
          </a:xfrm>
          <a:prstGeom prst="rightArrow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5A5D8A5-BE70-4567-C561-8FFFA744C8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45516" b="47019"/>
          <a:stretch/>
        </p:blipFill>
        <p:spPr>
          <a:xfrm>
            <a:off x="4049487" y="1421215"/>
            <a:ext cx="4982094" cy="272506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61835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5A1CF-BF41-AFD0-485F-65FC773B5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FD7C47-18AC-C2B3-7196-3AD769B08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SDE</a:t>
            </a:r>
            <a:r>
              <a:rPr lang="ko-KR" altLang="en-US" dirty="0">
                <a:latin typeface="+mj-ea"/>
              </a:rPr>
              <a:t> 활용한 </a:t>
            </a:r>
            <a:r>
              <a:rPr lang="en-US" altLang="ko-KR" dirty="0">
                <a:latin typeface="+mj-ea"/>
              </a:rPr>
              <a:t>MOSFET </a:t>
            </a:r>
            <a:r>
              <a:rPr lang="ko-KR" altLang="en-US" dirty="0">
                <a:latin typeface="+mj-ea"/>
              </a:rPr>
              <a:t>구조 생성</a:t>
            </a: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2A7DF32A-E29C-A83C-A283-AC9C4FD5FB11}"/>
              </a:ext>
            </a:extLst>
          </p:cNvPr>
          <p:cNvCxnSpPr>
            <a:cxnSpLocks/>
          </p:cNvCxnSpPr>
          <p:nvPr/>
        </p:nvCxnSpPr>
        <p:spPr>
          <a:xfrm>
            <a:off x="463669" y="2027031"/>
            <a:ext cx="736131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5A90352-A064-C902-09B0-68EA22773E44}"/>
              </a:ext>
            </a:extLst>
          </p:cNvPr>
          <p:cNvSpPr txBox="1"/>
          <p:nvPr/>
        </p:nvSpPr>
        <p:spPr>
          <a:xfrm>
            <a:off x="859058" y="2003551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ko-KR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22BC3D4D-92D6-5E46-35B3-B401EB647493}"/>
              </a:ext>
            </a:extLst>
          </p:cNvPr>
          <p:cNvCxnSpPr>
            <a:cxnSpLocks/>
          </p:cNvCxnSpPr>
          <p:nvPr/>
        </p:nvCxnSpPr>
        <p:spPr>
          <a:xfrm flipV="1">
            <a:off x="464138" y="1289031"/>
            <a:ext cx="0" cy="7380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46CD6B4-0C53-EC82-0B8E-139212965254}"/>
              </a:ext>
            </a:extLst>
          </p:cNvPr>
          <p:cNvSpPr txBox="1"/>
          <p:nvPr/>
        </p:nvSpPr>
        <p:spPr>
          <a:xfrm>
            <a:off x="103629" y="1245230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endParaRPr lang="ko-KR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55FC4DC7-633E-54D3-84E1-07760594AE92}"/>
              </a:ext>
            </a:extLst>
          </p:cNvPr>
          <p:cNvSpPr/>
          <p:nvPr/>
        </p:nvSpPr>
        <p:spPr>
          <a:xfrm>
            <a:off x="391661" y="1959511"/>
            <a:ext cx="144016" cy="13503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29F4248-0324-3967-8C80-96AE93855B70}"/>
              </a:ext>
            </a:extLst>
          </p:cNvPr>
          <p:cNvSpPr txBox="1"/>
          <p:nvPr/>
        </p:nvSpPr>
        <p:spPr>
          <a:xfrm>
            <a:off x="214537" y="941742"/>
            <a:ext cx="1449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Coordinate</a:t>
            </a:r>
            <a:endParaRPr lang="ko-KR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BD747AC1-6A6C-038C-E05C-84EDD4278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537857"/>
              </p:ext>
            </p:extLst>
          </p:nvPr>
        </p:nvGraphicFramePr>
        <p:xfrm>
          <a:off x="1379347" y="4044962"/>
          <a:ext cx="6096000" cy="26351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4522903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525944341"/>
                    </a:ext>
                  </a:extLst>
                </a:gridCol>
              </a:tblGrid>
              <a:tr h="3293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/>
                        <a:t>Parameters</a:t>
                      </a:r>
                      <a:endParaRPr lang="ko-KR" altLang="en-US" sz="15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/>
                        <a:t>Values</a:t>
                      </a:r>
                      <a:endParaRPr lang="ko-KR" altLang="en-US" sz="15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4036039"/>
                  </a:ext>
                </a:extLst>
              </a:tr>
              <a:tr h="3293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i="1" dirty="0"/>
                        <a:t>L</a:t>
                      </a:r>
                      <a:r>
                        <a:rPr lang="en-US" altLang="ko-KR" sz="1500" b="1" baseline="-25000" dirty="0"/>
                        <a:t>g</a:t>
                      </a:r>
                      <a:endParaRPr lang="ko-KR" altLang="en-US" sz="1500" b="1" baseline="-250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/>
                        <a:t>1.0 </a:t>
                      </a:r>
                      <a:r>
                        <a:rPr lang="el-GR" altLang="ko-KR" sz="1500" b="1" dirty="0"/>
                        <a:t>μ</a:t>
                      </a:r>
                      <a:r>
                        <a:rPr lang="en-US" altLang="ko-KR" sz="1500" b="1" dirty="0"/>
                        <a:t>m</a:t>
                      </a:r>
                      <a:endParaRPr lang="ko-KR" altLang="en-US" sz="1500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993748965"/>
                  </a:ext>
                </a:extLst>
              </a:tr>
              <a:tr h="3293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i="1" dirty="0" err="1"/>
                        <a:t>L</a:t>
                      </a:r>
                      <a:r>
                        <a:rPr lang="en-US" altLang="ko-KR" sz="1500" b="1" baseline="-25000" dirty="0" err="1"/>
                        <a:t>sd</a:t>
                      </a:r>
                      <a:endParaRPr lang="ko-KR" altLang="en-US" sz="1500" b="1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/>
                        <a:t>0.5 </a:t>
                      </a:r>
                      <a:r>
                        <a:rPr lang="el-GR" altLang="ko-KR" sz="1500" b="1" dirty="0"/>
                        <a:t>μ</a:t>
                      </a:r>
                      <a:r>
                        <a:rPr lang="en-US" altLang="ko-KR" sz="1500" b="1" dirty="0"/>
                        <a:t>m</a:t>
                      </a:r>
                      <a:endParaRPr lang="ko-KR" altLang="en-US" sz="15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086794"/>
                  </a:ext>
                </a:extLst>
              </a:tr>
              <a:tr h="3293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i="1" dirty="0" err="1"/>
                        <a:t>T</a:t>
                      </a:r>
                      <a:r>
                        <a:rPr lang="en-US" altLang="ko-KR" sz="1500" b="1" baseline="-25000" dirty="0" err="1"/>
                        <a:t>body</a:t>
                      </a:r>
                      <a:endParaRPr lang="en-US" altLang="ko-KR" sz="1500" b="1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/>
                        <a:t>1.2 </a:t>
                      </a:r>
                      <a:r>
                        <a:rPr lang="el-GR" altLang="ko-KR" sz="1500" b="1" dirty="0"/>
                        <a:t>μ</a:t>
                      </a:r>
                      <a:r>
                        <a:rPr lang="en-US" altLang="ko-KR" sz="1500" b="1" dirty="0"/>
                        <a:t>m</a:t>
                      </a:r>
                      <a:endParaRPr lang="ko-KR" altLang="en-US" sz="15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377581"/>
                  </a:ext>
                </a:extLst>
              </a:tr>
              <a:tr h="3293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i="1" dirty="0" err="1"/>
                        <a:t>T</a:t>
                      </a:r>
                      <a:r>
                        <a:rPr lang="en-US" altLang="ko-KR" sz="1500" b="1" baseline="-25000" dirty="0" err="1"/>
                        <a:t>sd</a:t>
                      </a:r>
                      <a:endParaRPr lang="ko-KR" altLang="en-US" sz="1500" b="1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/>
                        <a:t>0.3 </a:t>
                      </a:r>
                      <a:r>
                        <a:rPr lang="el-GR" altLang="ko-KR" sz="1500" b="1" dirty="0"/>
                        <a:t>μ</a:t>
                      </a:r>
                      <a:r>
                        <a:rPr lang="en-US" altLang="ko-KR" sz="1500" b="1" dirty="0"/>
                        <a:t>m</a:t>
                      </a:r>
                      <a:endParaRPr lang="ko-KR" altLang="en-US" sz="15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923529"/>
                  </a:ext>
                </a:extLst>
              </a:tr>
              <a:tr h="3293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i="1" dirty="0"/>
                        <a:t>T</a:t>
                      </a:r>
                      <a:r>
                        <a:rPr lang="en-US" altLang="ko-KR" sz="1500" b="1" baseline="-25000" dirty="0"/>
                        <a:t>ox</a:t>
                      </a:r>
                      <a:endParaRPr lang="ko-KR" altLang="en-US" sz="1500" b="1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/>
                        <a:t>0.02 </a:t>
                      </a:r>
                      <a:r>
                        <a:rPr lang="el-GR" altLang="ko-KR" sz="1500" b="1" dirty="0"/>
                        <a:t>μ</a:t>
                      </a:r>
                      <a:r>
                        <a:rPr lang="en-US" altLang="ko-KR" sz="1500" b="1" dirty="0"/>
                        <a:t>m</a:t>
                      </a:r>
                      <a:endParaRPr lang="ko-KR" altLang="en-US" sz="15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497480"/>
                  </a:ext>
                </a:extLst>
              </a:tr>
              <a:tr h="3293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i="1" dirty="0"/>
                        <a:t>N</a:t>
                      </a:r>
                      <a:r>
                        <a:rPr lang="en-US" altLang="ko-KR" sz="1500" b="1" baseline="-25000" dirty="0"/>
                        <a:t>d</a:t>
                      </a:r>
                      <a:endParaRPr lang="ko-KR" altLang="en-US" sz="1500" b="1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/>
                        <a:t>Arsenic 10</a:t>
                      </a:r>
                      <a:r>
                        <a:rPr lang="en-US" altLang="ko-KR" sz="1500" b="1" baseline="30000" dirty="0"/>
                        <a:t>20</a:t>
                      </a:r>
                      <a:r>
                        <a:rPr lang="en-US" altLang="ko-KR" sz="1500" b="1" dirty="0"/>
                        <a:t> cm</a:t>
                      </a:r>
                      <a:r>
                        <a:rPr lang="en-US" altLang="ko-KR" sz="1500" b="1" baseline="30000" dirty="0"/>
                        <a:t>-3</a:t>
                      </a:r>
                      <a:endParaRPr lang="ko-KR" altLang="en-US" sz="1500" b="1" baseline="30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3287958"/>
                  </a:ext>
                </a:extLst>
              </a:tr>
              <a:tr h="3293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i="1" dirty="0"/>
                        <a:t>N</a:t>
                      </a:r>
                      <a:r>
                        <a:rPr lang="en-US" altLang="ko-KR" sz="1500" b="1" i="1" baseline="-25000" dirty="0"/>
                        <a:t>a</a:t>
                      </a:r>
                      <a:endParaRPr lang="ko-KR" altLang="en-US" sz="1500" b="1" baseline="-250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b="1" dirty="0"/>
                        <a:t>Boron 10</a:t>
                      </a:r>
                      <a:r>
                        <a:rPr lang="en-US" altLang="ko-KR" sz="1500" b="1" baseline="30000" dirty="0"/>
                        <a:t>17</a:t>
                      </a:r>
                      <a:r>
                        <a:rPr lang="en-US" altLang="ko-KR" sz="1500" b="1" dirty="0"/>
                        <a:t> cm</a:t>
                      </a:r>
                      <a:r>
                        <a:rPr lang="en-US" altLang="ko-KR" sz="1500" b="1" baseline="30000" dirty="0"/>
                        <a:t>-3</a:t>
                      </a:r>
                      <a:endParaRPr lang="ko-KR" altLang="en-US" sz="1500" b="1" baseline="300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7903238"/>
                  </a:ext>
                </a:extLst>
              </a:tr>
            </a:tbl>
          </a:graphicData>
        </a:graphic>
      </p:graphicFrame>
      <p:grpSp>
        <p:nvGrpSpPr>
          <p:cNvPr id="17" name="그룹 16">
            <a:extLst>
              <a:ext uri="{FF2B5EF4-FFF2-40B4-BE49-F238E27FC236}">
                <a16:creationId xmlns:a16="http://schemas.microsoft.com/office/drawing/2014/main" id="{5064BFF2-2020-706F-5DAC-2335D4BA2F85}"/>
              </a:ext>
            </a:extLst>
          </p:cNvPr>
          <p:cNvGrpSpPr/>
          <p:nvPr/>
        </p:nvGrpSpPr>
        <p:grpSpPr>
          <a:xfrm>
            <a:off x="939452" y="961166"/>
            <a:ext cx="6975790" cy="2993304"/>
            <a:chOff x="939452" y="786485"/>
            <a:chExt cx="6975790" cy="2993304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09CBB660-11BA-2767-34ED-66E44622F955}"/>
                </a:ext>
              </a:extLst>
            </p:cNvPr>
            <p:cNvSpPr/>
            <p:nvPr/>
          </p:nvSpPr>
          <p:spPr>
            <a:xfrm>
              <a:off x="1971375" y="1743955"/>
              <a:ext cx="5201250" cy="203583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8054964F-3EA7-C2C7-7CF8-A8A2E8D36CA1}"/>
                </a:ext>
              </a:extLst>
            </p:cNvPr>
            <p:cNvSpPr/>
            <p:nvPr/>
          </p:nvSpPr>
          <p:spPr>
            <a:xfrm>
              <a:off x="1971376" y="1743955"/>
              <a:ext cx="1300312" cy="78455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EE324370-AD41-9364-A83F-F2C14A184375}"/>
                </a:ext>
              </a:extLst>
            </p:cNvPr>
            <p:cNvSpPr/>
            <p:nvPr/>
          </p:nvSpPr>
          <p:spPr>
            <a:xfrm>
              <a:off x="5872312" y="1743955"/>
              <a:ext cx="1300312" cy="78455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66F678BC-3606-F2D8-B906-C1434790E8B3}"/>
                </a:ext>
              </a:extLst>
            </p:cNvPr>
            <p:cNvSpPr/>
            <p:nvPr/>
          </p:nvSpPr>
          <p:spPr>
            <a:xfrm>
              <a:off x="3271229" y="1422022"/>
              <a:ext cx="2600623" cy="32193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1E21C48-E56A-0BED-9FDA-4DC427B4367A}"/>
                </a:ext>
              </a:extLst>
            </p:cNvPr>
            <p:cNvSpPr/>
            <p:nvPr/>
          </p:nvSpPr>
          <p:spPr>
            <a:xfrm>
              <a:off x="3271687" y="786485"/>
              <a:ext cx="2600623" cy="635537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FE5585C-B869-9FE4-7207-9E1341DE1521}"/>
                </a:ext>
              </a:extLst>
            </p:cNvPr>
            <p:cNvSpPr txBox="1"/>
            <p:nvPr/>
          </p:nvSpPr>
          <p:spPr>
            <a:xfrm>
              <a:off x="2219545" y="1770655"/>
              <a:ext cx="83061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b="1" dirty="0">
                  <a:solidFill>
                    <a:schemeClr val="bg1"/>
                  </a:solidFill>
                </a:rPr>
                <a:t>Source</a:t>
              </a:r>
            </a:p>
            <a:p>
              <a:pPr algn="ctr"/>
              <a:r>
                <a:rPr lang="en-US" altLang="ko-KR" b="1" i="1" dirty="0">
                  <a:solidFill>
                    <a:schemeClr val="bg1"/>
                  </a:solidFill>
                </a:rPr>
                <a:t>N</a:t>
              </a:r>
              <a:r>
                <a:rPr lang="en-US" altLang="ko-KR" b="1" baseline="-25000" dirty="0">
                  <a:solidFill>
                    <a:schemeClr val="bg1"/>
                  </a:solidFill>
                </a:rPr>
                <a:t>d</a:t>
              </a:r>
              <a:endParaRPr lang="ko-KR" altLang="en-US" b="1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0948C68-1EB8-26DA-ACD1-1D68D84230DD}"/>
                </a:ext>
              </a:extLst>
            </p:cNvPr>
            <p:cNvSpPr txBox="1"/>
            <p:nvPr/>
          </p:nvSpPr>
          <p:spPr>
            <a:xfrm>
              <a:off x="3668857" y="1398322"/>
              <a:ext cx="18053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chemeClr val="bg1"/>
                  </a:solidFill>
                </a:rPr>
                <a:t>Gate oxide (SiO</a:t>
              </a:r>
              <a:r>
                <a:rPr lang="en-US" altLang="ko-KR" b="1" baseline="-25000" dirty="0">
                  <a:solidFill>
                    <a:schemeClr val="bg1"/>
                  </a:solidFill>
                </a:rPr>
                <a:t>2</a:t>
              </a:r>
              <a:r>
                <a:rPr lang="en-US" altLang="ko-KR" b="1" dirty="0">
                  <a:solidFill>
                    <a:schemeClr val="bg1"/>
                  </a:solidFill>
                </a:rPr>
                <a:t>)</a:t>
              </a:r>
              <a:endParaRPr lang="ko-KR" altLang="en-US" b="1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3BD3763-EE33-8D17-6393-496398A1E0DC}"/>
                </a:ext>
              </a:extLst>
            </p:cNvPr>
            <p:cNvSpPr txBox="1"/>
            <p:nvPr/>
          </p:nvSpPr>
          <p:spPr>
            <a:xfrm>
              <a:off x="3994020" y="895888"/>
              <a:ext cx="11559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chemeClr val="bg1"/>
                  </a:solidFill>
                </a:rPr>
                <a:t>Gate (</a:t>
              </a:r>
              <a:r>
                <a:rPr lang="en-US" altLang="ko-KR" b="1" dirty="0" err="1">
                  <a:solidFill>
                    <a:schemeClr val="bg1"/>
                  </a:solidFill>
                </a:rPr>
                <a:t>TiN</a:t>
              </a:r>
              <a:r>
                <a:rPr lang="en-US" altLang="ko-KR" b="1" dirty="0">
                  <a:solidFill>
                    <a:schemeClr val="bg1"/>
                  </a:solidFill>
                </a:rPr>
                <a:t>)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38A6F0BA-890B-4121-DB1D-501206EC2F79}"/>
                </a:ext>
              </a:extLst>
            </p:cNvPr>
            <p:cNvCxnSpPr/>
            <p:nvPr/>
          </p:nvCxnSpPr>
          <p:spPr>
            <a:xfrm>
              <a:off x="1783080" y="1743955"/>
              <a:ext cx="0" cy="2035834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6BB7BBAC-35A1-ECBA-8ACF-285A35A95DEB}"/>
                </a:ext>
              </a:extLst>
            </p:cNvPr>
            <p:cNvCxnSpPr>
              <a:cxnSpLocks/>
            </p:cNvCxnSpPr>
            <p:nvPr/>
          </p:nvCxnSpPr>
          <p:spPr>
            <a:xfrm>
              <a:off x="7406640" y="1743955"/>
              <a:ext cx="0" cy="784555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화살표 연결선 44">
              <a:extLst>
                <a:ext uri="{FF2B5EF4-FFF2-40B4-BE49-F238E27FC236}">
                  <a16:creationId xmlns:a16="http://schemas.microsoft.com/office/drawing/2014/main" id="{05A61AEA-11F3-E891-60D3-B39270AED9A2}"/>
                </a:ext>
              </a:extLst>
            </p:cNvPr>
            <p:cNvCxnSpPr>
              <a:cxnSpLocks/>
            </p:cNvCxnSpPr>
            <p:nvPr/>
          </p:nvCxnSpPr>
          <p:spPr>
            <a:xfrm>
              <a:off x="6042660" y="1422022"/>
              <a:ext cx="0" cy="345632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E700DC4E-BCCB-E6F4-8072-2231614D65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71375" y="2690436"/>
              <a:ext cx="1300312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96633A39-727A-DF07-A5F3-2C4F04B886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1229" y="1940470"/>
              <a:ext cx="2601081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99AE288-697C-940C-6804-E3F09A28A938}"/>
                </a:ext>
              </a:extLst>
            </p:cNvPr>
            <p:cNvSpPr txBox="1"/>
            <p:nvPr/>
          </p:nvSpPr>
          <p:spPr>
            <a:xfrm>
              <a:off x="4323372" y="1967533"/>
              <a:ext cx="3642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i="1" dirty="0"/>
                <a:t>L</a:t>
              </a:r>
              <a:r>
                <a:rPr lang="en-US" altLang="ko-KR" b="1" i="1" baseline="-25000" dirty="0"/>
                <a:t>g</a:t>
              </a:r>
              <a:endParaRPr lang="ko-KR" altLang="en-US" b="1" baseline="-250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0D91BFC-7BE5-5BBE-3CA6-FCFA43117FD2}"/>
                </a:ext>
              </a:extLst>
            </p:cNvPr>
            <p:cNvSpPr txBox="1"/>
            <p:nvPr/>
          </p:nvSpPr>
          <p:spPr>
            <a:xfrm>
              <a:off x="7472492" y="1903447"/>
              <a:ext cx="442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i="1" dirty="0" err="1"/>
                <a:t>T</a:t>
              </a:r>
              <a:r>
                <a:rPr lang="en-US" altLang="ko-KR" b="1" baseline="-25000" dirty="0" err="1"/>
                <a:t>sd</a:t>
              </a:r>
              <a:endParaRPr lang="ko-KR" altLang="en-US" b="1" baseline="-250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8FADA4F-C7FD-1F41-27FB-8A8DF5D3CDDF}"/>
                </a:ext>
              </a:extLst>
            </p:cNvPr>
            <p:cNvSpPr txBox="1"/>
            <p:nvPr/>
          </p:nvSpPr>
          <p:spPr>
            <a:xfrm>
              <a:off x="939452" y="2499181"/>
              <a:ext cx="6206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i="1" dirty="0" err="1"/>
                <a:t>T</a:t>
              </a:r>
              <a:r>
                <a:rPr lang="en-US" altLang="ko-KR" b="1" baseline="-25000" dirty="0" err="1"/>
                <a:t>body</a:t>
              </a:r>
              <a:endParaRPr lang="ko-KR" altLang="en-US" b="1" baseline="-25000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6598D28-2D6B-2E8E-2A08-397556D40CBB}"/>
                </a:ext>
              </a:extLst>
            </p:cNvPr>
            <p:cNvSpPr txBox="1"/>
            <p:nvPr/>
          </p:nvSpPr>
          <p:spPr>
            <a:xfrm>
              <a:off x="2372905" y="2713176"/>
              <a:ext cx="4267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i="1" dirty="0" err="1"/>
                <a:t>L</a:t>
              </a:r>
              <a:r>
                <a:rPr lang="en-US" altLang="ko-KR" b="1" baseline="-25000" dirty="0" err="1"/>
                <a:t>sd</a:t>
              </a:r>
              <a:endParaRPr lang="ko-KR" altLang="en-US" b="1" baseline="-25000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6BE8BD5-F3F1-A74D-41FE-5BC580E97ED6}"/>
                </a:ext>
              </a:extLst>
            </p:cNvPr>
            <p:cNvSpPr txBox="1"/>
            <p:nvPr/>
          </p:nvSpPr>
          <p:spPr>
            <a:xfrm>
              <a:off x="6128349" y="1374623"/>
              <a:ext cx="4492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i="1" dirty="0"/>
                <a:t>T</a:t>
              </a:r>
              <a:r>
                <a:rPr lang="en-US" altLang="ko-KR" b="1" baseline="-25000" dirty="0"/>
                <a:t>ox</a:t>
              </a:r>
              <a:endParaRPr lang="ko-KR" altLang="en-US" b="1" baseline="-25000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C6AB5AB-E61E-A81A-0381-E0E5AE5130B0}"/>
                </a:ext>
              </a:extLst>
            </p:cNvPr>
            <p:cNvSpPr txBox="1"/>
            <p:nvPr/>
          </p:nvSpPr>
          <p:spPr>
            <a:xfrm>
              <a:off x="6193367" y="1770655"/>
              <a:ext cx="70057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b="1" dirty="0">
                  <a:solidFill>
                    <a:schemeClr val="bg1"/>
                  </a:solidFill>
                </a:rPr>
                <a:t>Drain</a:t>
              </a:r>
            </a:p>
            <a:p>
              <a:pPr algn="ctr"/>
              <a:r>
                <a:rPr lang="en-US" altLang="ko-KR" b="1" i="1" dirty="0">
                  <a:solidFill>
                    <a:schemeClr val="bg1"/>
                  </a:solidFill>
                </a:rPr>
                <a:t>N</a:t>
              </a:r>
              <a:r>
                <a:rPr lang="en-US" altLang="ko-KR" b="1" baseline="-25000" dirty="0">
                  <a:solidFill>
                    <a:schemeClr val="bg1"/>
                  </a:solidFill>
                </a:rPr>
                <a:t>d</a:t>
              </a:r>
              <a:endParaRPr lang="ko-KR" altLang="en-US" b="1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1388AF62-198A-0E1C-F2B2-8AC06352F698}"/>
                </a:ext>
              </a:extLst>
            </p:cNvPr>
            <p:cNvSpPr txBox="1"/>
            <p:nvPr/>
          </p:nvSpPr>
          <p:spPr>
            <a:xfrm>
              <a:off x="4272946" y="2870155"/>
              <a:ext cx="67037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b="1" dirty="0">
                  <a:solidFill>
                    <a:schemeClr val="bg1"/>
                  </a:solidFill>
                </a:rPr>
                <a:t>Body</a:t>
              </a:r>
            </a:p>
            <a:p>
              <a:pPr algn="ctr"/>
              <a:r>
                <a:rPr lang="en-US" altLang="ko-KR" b="1" i="1" dirty="0">
                  <a:solidFill>
                    <a:schemeClr val="bg1"/>
                  </a:solidFill>
                </a:rPr>
                <a:t>N</a:t>
              </a:r>
              <a:r>
                <a:rPr lang="en-US" altLang="ko-KR" b="1" i="1" baseline="-25000" dirty="0">
                  <a:solidFill>
                    <a:schemeClr val="bg1"/>
                  </a:solidFill>
                </a:rPr>
                <a:t>a</a:t>
              </a:r>
              <a:endParaRPr lang="ko-KR" altLang="en-US" b="1" baseline="-250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DAC3F383-A402-B9B1-C11E-41BA5D1F4B84}"/>
              </a:ext>
            </a:extLst>
          </p:cNvPr>
          <p:cNvCxnSpPr>
            <a:cxnSpLocks/>
          </p:cNvCxnSpPr>
          <p:nvPr/>
        </p:nvCxnSpPr>
        <p:spPr>
          <a:xfrm>
            <a:off x="6042660" y="965442"/>
            <a:ext cx="0" cy="583862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35CCC71-D49A-180D-6308-5D9C372972EE}"/>
              </a:ext>
            </a:extLst>
          </p:cNvPr>
          <p:cNvSpPr txBox="1"/>
          <p:nvPr/>
        </p:nvSpPr>
        <p:spPr>
          <a:xfrm>
            <a:off x="6145353" y="1070569"/>
            <a:ext cx="1087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i="1" dirty="0" err="1"/>
              <a:t>T</a:t>
            </a:r>
            <a:r>
              <a:rPr lang="en-US" altLang="ko-KR" b="1" i="1" baseline="-25000" dirty="0" err="1"/>
              <a:t>g</a:t>
            </a:r>
            <a:r>
              <a:rPr lang="en-US" altLang="ko-KR" b="1" dirty="0"/>
              <a:t>=0.5</a:t>
            </a:r>
            <a:r>
              <a:rPr lang="el-GR" altLang="ko-KR" b="1" dirty="0"/>
              <a:t>μ</a:t>
            </a:r>
            <a:r>
              <a:rPr lang="en-US" altLang="ko-KR" b="1" dirty="0"/>
              <a:t>m</a:t>
            </a:r>
            <a:endParaRPr lang="ko-KR" altLang="en-US" b="1" baseline="-25000" dirty="0"/>
          </a:p>
        </p:txBody>
      </p:sp>
    </p:spTree>
    <p:extLst>
      <p:ext uri="{BB962C8B-B14F-4D97-AF65-F5344CB8AC3E}">
        <p14:creationId xmlns:p14="http://schemas.microsoft.com/office/powerpoint/2010/main" val="1216424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370CFB-A1DD-C8D5-3710-A9368E5FF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SDE</a:t>
            </a:r>
            <a:r>
              <a:rPr lang="ko-KR" altLang="en-US" dirty="0">
                <a:latin typeface="+mj-ea"/>
              </a:rPr>
              <a:t> 활용한 </a:t>
            </a:r>
            <a:r>
              <a:rPr lang="en-US" altLang="ko-KR" dirty="0">
                <a:latin typeface="+mj-ea"/>
              </a:rPr>
              <a:t>MOSFET </a:t>
            </a:r>
            <a:r>
              <a:rPr lang="ko-KR" altLang="en-US" dirty="0">
                <a:latin typeface="+mj-ea"/>
              </a:rPr>
              <a:t>구조 생성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4797CDF-65DB-B6DC-2008-D98573A28EB9}"/>
              </a:ext>
            </a:extLst>
          </p:cNvPr>
          <p:cNvSpPr/>
          <p:nvPr/>
        </p:nvSpPr>
        <p:spPr>
          <a:xfrm>
            <a:off x="248455" y="1179634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D71C83C9-052F-77F1-3DF7-2537E93C3D20}"/>
              </a:ext>
            </a:extLst>
          </p:cNvPr>
          <p:cNvSpPr/>
          <p:nvPr/>
        </p:nvSpPr>
        <p:spPr>
          <a:xfrm>
            <a:off x="248455" y="2026653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4874EFDF-93EC-2294-CA94-D03674478C29}"/>
              </a:ext>
            </a:extLst>
          </p:cNvPr>
          <p:cNvCxnSpPr>
            <a:cxnSpLocks/>
          </p:cNvCxnSpPr>
          <p:nvPr/>
        </p:nvCxnSpPr>
        <p:spPr>
          <a:xfrm>
            <a:off x="142613" y="3181204"/>
            <a:ext cx="8825218" cy="0"/>
          </a:xfrm>
          <a:prstGeom prst="line">
            <a:avLst/>
          </a:prstGeom>
          <a:ln w="1905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3B7AEEE-8F89-8C05-E8CF-C8AE6A17D46F}"/>
              </a:ext>
            </a:extLst>
          </p:cNvPr>
          <p:cNvSpPr txBox="1"/>
          <p:nvPr/>
        </p:nvSpPr>
        <p:spPr>
          <a:xfrm>
            <a:off x="511176" y="3395103"/>
            <a:ext cx="8456655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이전에 수행하였던 작업을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clear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하여 새로운 작업공간 형성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E422EEF6-0B78-8714-A9B1-23ECD21EEA4C}"/>
              </a:ext>
            </a:extLst>
          </p:cNvPr>
          <p:cNvSpPr/>
          <p:nvPr/>
        </p:nvSpPr>
        <p:spPr>
          <a:xfrm>
            <a:off x="142613" y="3435753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912DE42C-F8C1-CA57-89FD-4C94F273FEA9}"/>
              </a:ext>
            </a:extLst>
          </p:cNvPr>
          <p:cNvSpPr/>
          <p:nvPr/>
        </p:nvSpPr>
        <p:spPr>
          <a:xfrm>
            <a:off x="142613" y="4107410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5B3CEA-706C-652D-942F-3DFCA0B9568C}"/>
              </a:ext>
            </a:extLst>
          </p:cNvPr>
          <p:cNvSpPr txBox="1"/>
          <p:nvPr/>
        </p:nvSpPr>
        <p:spPr>
          <a:xfrm>
            <a:off x="511176" y="4066760"/>
            <a:ext cx="8456655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Parameter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변수 선언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6B7A9A-AED6-E043-C692-3DEF79E59535}"/>
              </a:ext>
            </a:extLst>
          </p:cNvPr>
          <p:cNvSpPr txBox="1"/>
          <p:nvPr/>
        </p:nvSpPr>
        <p:spPr>
          <a:xfrm>
            <a:off x="511176" y="4444852"/>
            <a:ext cx="8301743" cy="508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(define </a:t>
            </a:r>
            <a:r>
              <a:rPr lang="ko-KR" alt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변수 명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@</a:t>
            </a:r>
            <a:r>
              <a:rPr lang="ko-KR" alt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변수 이름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@)    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1C8EAB-A5AB-1701-2224-83AC58DBAEB3}"/>
              </a:ext>
            </a:extLst>
          </p:cNvPr>
          <p:cNvSpPr txBox="1"/>
          <p:nvPr/>
        </p:nvSpPr>
        <p:spPr>
          <a:xfrm>
            <a:off x="142613" y="5896242"/>
            <a:ext cx="8825217" cy="507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200000"/>
              </a:lnSpc>
            </a:pP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ko-KR" altLang="en-US" sz="16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빨간색</a:t>
            </a:r>
            <a:r>
              <a:rPr lang="ko-KR" altLang="en-US" sz="1600" u="sng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으로 표시한 부분만 수정하여 작성할 것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00E377-A51C-0CAE-AC7B-36E3306F9164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 command (1)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변수 선언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EBFA88A-A9F9-4FA5-394F-6EA15D4D5691}"/>
              </a:ext>
            </a:extLst>
          </p:cNvPr>
          <p:cNvSpPr/>
          <p:nvPr/>
        </p:nvSpPr>
        <p:spPr>
          <a:xfrm>
            <a:off x="2433892" y="2051448"/>
            <a:ext cx="3131678" cy="1915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A9D0F9B-539F-7F93-2886-E9E34D525DC3}"/>
              </a:ext>
            </a:extLst>
          </p:cNvPr>
          <p:cNvSpPr/>
          <p:nvPr/>
        </p:nvSpPr>
        <p:spPr>
          <a:xfrm>
            <a:off x="5566823" y="2051448"/>
            <a:ext cx="663764" cy="1915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E5C35E6-80A5-66BA-AC02-22691F423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475" y="1208285"/>
            <a:ext cx="5459930" cy="175902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E21E05EF-65EC-0877-5F13-61768C342BD3}"/>
              </a:ext>
            </a:extLst>
          </p:cNvPr>
          <p:cNvSpPr/>
          <p:nvPr/>
        </p:nvSpPr>
        <p:spPr>
          <a:xfrm>
            <a:off x="1344882" y="1494966"/>
            <a:ext cx="207694" cy="1915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E6FEE42-C9A3-BAB3-ACEC-AD874A7C4E99}"/>
              </a:ext>
            </a:extLst>
          </p:cNvPr>
          <p:cNvSpPr/>
          <p:nvPr/>
        </p:nvSpPr>
        <p:spPr>
          <a:xfrm>
            <a:off x="1621107" y="1494966"/>
            <a:ext cx="326756" cy="1915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8BF7FE7-530B-D3AB-BE98-8E0C5C347C69}"/>
              </a:ext>
            </a:extLst>
          </p:cNvPr>
          <p:cNvSpPr/>
          <p:nvPr/>
        </p:nvSpPr>
        <p:spPr>
          <a:xfrm>
            <a:off x="3173670" y="1494966"/>
            <a:ext cx="224850" cy="1915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57F8FAC6-D3F7-B34B-AC9E-097FE21EFBA0}"/>
              </a:ext>
            </a:extLst>
          </p:cNvPr>
          <p:cNvCxnSpPr/>
          <p:nvPr/>
        </p:nvCxnSpPr>
        <p:spPr>
          <a:xfrm flipV="1">
            <a:off x="3520440" y="1264920"/>
            <a:ext cx="3063240" cy="20274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781E08B-AE5A-F2B5-B3F6-751BEDE01C6A}"/>
              </a:ext>
            </a:extLst>
          </p:cNvPr>
          <p:cNvSpPr txBox="1"/>
          <p:nvPr/>
        </p:nvSpPr>
        <p:spPr>
          <a:xfrm>
            <a:off x="6583680" y="1112837"/>
            <a:ext cx="99738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/>
              <a:t>주석 처리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777C2F-35A4-B46F-3557-0E98A731B9D2}"/>
              </a:ext>
            </a:extLst>
          </p:cNvPr>
          <p:cNvSpPr txBox="1"/>
          <p:nvPr/>
        </p:nvSpPr>
        <p:spPr>
          <a:xfrm>
            <a:off x="500653" y="4993927"/>
            <a:ext cx="65049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 </a:t>
            </a:r>
            <a:r>
              <a:rPr lang="ko-KR" altLang="en-US" sz="14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변수명과 변수이름은 같을 </a:t>
            </a:r>
            <a:r>
              <a:rPr lang="ko-KR" altLang="en-US" sz="14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필요없음</a:t>
            </a:r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</a:p>
          <a:p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 @XX@ </a:t>
            </a:r>
            <a:r>
              <a:rPr lang="ko-KR" altLang="en-US" sz="14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내 동일한 이름 </a:t>
            </a:r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(XX)</a:t>
            </a:r>
            <a:r>
              <a:rPr lang="ko-KR" altLang="en-US" sz="14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이 </a:t>
            </a:r>
            <a:r>
              <a:rPr lang="en-US" altLang="ko-KR" sz="14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swb</a:t>
            </a:r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sz="14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내 변수로 반드시 지정되어야 함</a:t>
            </a:r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  <a:r>
              <a:rPr lang="ko-KR" altLang="en-US" sz="14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endParaRPr lang="en-US" altLang="ko-KR" sz="1400" b="1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64255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4DBE2-0C86-6910-E317-940D4CE91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073F44-35FB-2D2A-5BF2-8AE101DB9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SDE</a:t>
            </a:r>
            <a:r>
              <a:rPr lang="ko-KR" altLang="en-US" dirty="0">
                <a:latin typeface="+mj-ea"/>
              </a:rPr>
              <a:t> 활용한 </a:t>
            </a:r>
            <a:r>
              <a:rPr lang="en-US" altLang="ko-KR" dirty="0">
                <a:latin typeface="+mj-ea"/>
              </a:rPr>
              <a:t>MOSFET </a:t>
            </a:r>
            <a:r>
              <a:rPr lang="ko-KR" altLang="en-US" dirty="0">
                <a:latin typeface="+mj-ea"/>
              </a:rPr>
              <a:t>구조 생성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7B490EFD-FB8F-EA6B-4D7D-AE83B80A4434}"/>
              </a:ext>
            </a:extLst>
          </p:cNvPr>
          <p:cNvSpPr/>
          <p:nvPr/>
        </p:nvSpPr>
        <p:spPr>
          <a:xfrm>
            <a:off x="248455" y="1265339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59960651-DFF2-E819-D4E6-A59805D13CA6}"/>
              </a:ext>
            </a:extLst>
          </p:cNvPr>
          <p:cNvCxnSpPr>
            <a:cxnSpLocks/>
          </p:cNvCxnSpPr>
          <p:nvPr/>
        </p:nvCxnSpPr>
        <p:spPr>
          <a:xfrm>
            <a:off x="142613" y="2524448"/>
            <a:ext cx="8825218" cy="0"/>
          </a:xfrm>
          <a:prstGeom prst="line">
            <a:avLst/>
          </a:prstGeom>
          <a:ln w="1905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타원 21">
            <a:extLst>
              <a:ext uri="{FF2B5EF4-FFF2-40B4-BE49-F238E27FC236}">
                <a16:creationId xmlns:a16="http://schemas.microsoft.com/office/drawing/2014/main" id="{E33F7D1C-7646-0FCF-7C56-C416DE77CADF}"/>
              </a:ext>
            </a:extLst>
          </p:cNvPr>
          <p:cNvSpPr/>
          <p:nvPr/>
        </p:nvSpPr>
        <p:spPr>
          <a:xfrm>
            <a:off x="142613" y="2812894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67B9CD-7102-9D88-56E2-6F4DA1DEEFD9}"/>
              </a:ext>
            </a:extLst>
          </p:cNvPr>
          <p:cNvSpPr txBox="1"/>
          <p:nvPr/>
        </p:nvSpPr>
        <p:spPr>
          <a:xfrm>
            <a:off x="511176" y="2772244"/>
            <a:ext cx="8456655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영역 정의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2F7582-A37A-DED2-5724-346A0DFB021E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 command (2)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소자 영역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설정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A99CDC-05E8-8C75-5510-EBE54939CA36}"/>
              </a:ext>
            </a:extLst>
          </p:cNvPr>
          <p:cNvSpPr txBox="1"/>
          <p:nvPr/>
        </p:nvSpPr>
        <p:spPr>
          <a:xfrm>
            <a:off x="511176" y="3100926"/>
            <a:ext cx="8301743" cy="10004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sdegeo:create-rectangle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(position </a:t>
            </a:r>
            <a:r>
              <a:rPr lang="ko-KR" alt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영역 </a:t>
            </a:r>
            <a:r>
              <a:rPr lang="ko-KR" altLang="en-US" sz="1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좌하단</a:t>
            </a:r>
            <a:r>
              <a:rPr lang="ko-KR" alt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좌표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 (position </a:t>
            </a:r>
            <a:r>
              <a:rPr lang="ko-KR" alt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영역 </a:t>
            </a:r>
            <a:r>
              <a:rPr lang="ko-KR" altLang="en-US" sz="1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우상단</a:t>
            </a:r>
            <a:r>
              <a:rPr lang="ko-KR" alt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좌표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 “</a:t>
            </a:r>
            <a:r>
              <a:rPr lang="ko-KR" alt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영역 물질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” “</a:t>
            </a:r>
            <a:r>
              <a:rPr lang="ko-KR" alt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영역 이름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”)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4564D4D-F081-C3BB-A5DF-8DE5C949B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125" y="1293530"/>
            <a:ext cx="8270705" cy="91804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C5E162DA-155C-0547-DD45-3F30B3F46D5D}"/>
              </a:ext>
            </a:extLst>
          </p:cNvPr>
          <p:cNvSpPr/>
          <p:nvPr/>
        </p:nvSpPr>
        <p:spPr>
          <a:xfrm>
            <a:off x="2556922" y="1553372"/>
            <a:ext cx="1230218" cy="2109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B6297BE-DFDF-9DAD-590C-2DD70D884A3C}"/>
              </a:ext>
            </a:extLst>
          </p:cNvPr>
          <p:cNvSpPr/>
          <p:nvPr/>
        </p:nvSpPr>
        <p:spPr>
          <a:xfrm>
            <a:off x="4572000" y="1553372"/>
            <a:ext cx="1714500" cy="2109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5F5EA1A-AE5F-BC93-90DC-C9BF6E0BC761}"/>
              </a:ext>
            </a:extLst>
          </p:cNvPr>
          <p:cNvSpPr/>
          <p:nvPr/>
        </p:nvSpPr>
        <p:spPr>
          <a:xfrm>
            <a:off x="6370320" y="1553372"/>
            <a:ext cx="754380" cy="2109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FF7E23E-1A2D-03F1-30FD-CC837158FA4C}"/>
              </a:ext>
            </a:extLst>
          </p:cNvPr>
          <p:cNvSpPr/>
          <p:nvPr/>
        </p:nvSpPr>
        <p:spPr>
          <a:xfrm>
            <a:off x="7124700" y="1553372"/>
            <a:ext cx="533400" cy="2109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AA8F91-7C29-CBA0-6DD7-7353823948CD}"/>
              </a:ext>
            </a:extLst>
          </p:cNvPr>
          <p:cNvSpPr txBox="1"/>
          <p:nvPr/>
        </p:nvSpPr>
        <p:spPr>
          <a:xfrm>
            <a:off x="511176" y="4171900"/>
            <a:ext cx="8942663" cy="414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SDE Scheme script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내 변수의 사칙연산은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연산자 변수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/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숫자 변수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/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숫자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….. )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로 지정해야 함</a:t>
            </a:r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53BABC-CE44-0807-CD65-3A86C5A92207}"/>
              </a:ext>
            </a:extLst>
          </p:cNvPr>
          <p:cNvSpPr txBox="1"/>
          <p:nvPr/>
        </p:nvSpPr>
        <p:spPr>
          <a:xfrm>
            <a:off x="7005593" y="5147853"/>
            <a:ext cx="17094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ko-KR" altLang="en-US" sz="14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연산자 </a:t>
            </a:r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+, -, *, / )</a:t>
            </a:r>
            <a:endParaRPr lang="ko-KR" altLang="en-US" sz="1400" b="1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E848A71-9286-A272-8051-02ED67E52B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726496"/>
              </p:ext>
            </p:extLst>
          </p:nvPr>
        </p:nvGraphicFramePr>
        <p:xfrm>
          <a:off x="2664911" y="5147853"/>
          <a:ext cx="4138662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69331">
                  <a:extLst>
                    <a:ext uri="{9D8B030D-6E8A-4147-A177-3AD203B41FA5}">
                      <a16:colId xmlns:a16="http://schemas.microsoft.com/office/drawing/2014/main" val="2562379820"/>
                    </a:ext>
                  </a:extLst>
                </a:gridCol>
                <a:gridCol w="2069331">
                  <a:extLst>
                    <a:ext uri="{9D8B030D-6E8A-4147-A177-3AD203B41FA5}">
                      <a16:colId xmlns:a16="http://schemas.microsoft.com/office/drawing/2014/main" val="311743255"/>
                    </a:ext>
                  </a:extLst>
                </a:gridCol>
              </a:tblGrid>
              <a:tr h="150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Example</a:t>
                      </a:r>
                      <a:endParaRPr lang="ko-KR" altLang="en-US" sz="1200" b="1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Scheme script</a:t>
                      </a:r>
                      <a:endParaRPr lang="ko-KR" altLang="en-US" sz="1200" b="1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77121"/>
                  </a:ext>
                </a:extLst>
              </a:tr>
              <a:tr h="150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a + b</a:t>
                      </a:r>
                      <a:endParaRPr lang="ko-KR" altLang="en-US" sz="1200" b="1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(+ a b)</a:t>
                      </a:r>
                      <a:endParaRPr lang="ko-KR" altLang="en-US" sz="1200" b="1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6194453"/>
                  </a:ext>
                </a:extLst>
              </a:tr>
              <a:tr h="150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0.5a + b </a:t>
                      </a:r>
                      <a:endParaRPr lang="ko-KR" altLang="en-US" sz="1200" b="1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(+ (* 0.5 a) b)</a:t>
                      </a:r>
                      <a:endParaRPr lang="ko-KR" altLang="en-US" sz="1200" b="1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9862527"/>
                  </a:ext>
                </a:extLst>
              </a:tr>
              <a:tr h="150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a/2 + 5</a:t>
                      </a:r>
                      <a:endParaRPr lang="ko-KR" altLang="en-US" sz="1200" b="1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(+ (/ a 2) 5)</a:t>
                      </a:r>
                      <a:endParaRPr lang="ko-KR" altLang="en-US" sz="1200" b="1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9370435"/>
                  </a:ext>
                </a:extLst>
              </a:tr>
              <a:tr h="150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-a</a:t>
                      </a:r>
                      <a:endParaRPr lang="ko-KR" altLang="en-US" sz="1200" b="1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(- 0 a) or (* -1 a)</a:t>
                      </a:r>
                      <a:endParaRPr lang="ko-KR" altLang="en-US" sz="1200" b="1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8258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20999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BA84C-409D-F3D3-C74F-52D57F9D9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695AF9-2713-BEB2-9610-2DFF9E68F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SDE</a:t>
            </a:r>
            <a:r>
              <a:rPr lang="ko-KR" altLang="en-US" dirty="0">
                <a:latin typeface="+mj-ea"/>
              </a:rPr>
              <a:t> 활용한 </a:t>
            </a:r>
            <a:r>
              <a:rPr lang="en-US" altLang="ko-KR" dirty="0">
                <a:latin typeface="+mj-ea"/>
              </a:rPr>
              <a:t>MOSFET </a:t>
            </a:r>
            <a:r>
              <a:rPr lang="ko-KR" altLang="en-US" dirty="0">
                <a:latin typeface="+mj-ea"/>
              </a:rPr>
              <a:t>구조 생성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50A7EE2D-387D-3FAB-9C7C-A8DD11B18B42}"/>
              </a:ext>
            </a:extLst>
          </p:cNvPr>
          <p:cNvSpPr/>
          <p:nvPr/>
        </p:nvSpPr>
        <p:spPr>
          <a:xfrm>
            <a:off x="248455" y="1265339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E1FF55EB-9B18-A76C-6973-12FFD143AAF4}"/>
              </a:ext>
            </a:extLst>
          </p:cNvPr>
          <p:cNvCxnSpPr>
            <a:cxnSpLocks/>
          </p:cNvCxnSpPr>
          <p:nvPr/>
        </p:nvCxnSpPr>
        <p:spPr>
          <a:xfrm>
            <a:off x="142613" y="2524448"/>
            <a:ext cx="8825218" cy="0"/>
          </a:xfrm>
          <a:prstGeom prst="line">
            <a:avLst/>
          </a:prstGeom>
          <a:ln w="1905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4DD4FAD-73E9-4EDD-AB1F-3C6ABBE168AB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 command (2)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소자 영역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설정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B338D96-FBF0-D79B-2D39-B608D1A30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125" y="1293530"/>
            <a:ext cx="8270705" cy="91804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4BB1632A-6AFA-6849-EA09-64B464BD7AB1}"/>
              </a:ext>
            </a:extLst>
          </p:cNvPr>
          <p:cNvSpPr/>
          <p:nvPr/>
        </p:nvSpPr>
        <p:spPr>
          <a:xfrm>
            <a:off x="255028" y="3242288"/>
            <a:ext cx="8633944" cy="3437801"/>
          </a:xfrm>
          <a:prstGeom prst="roundRect">
            <a:avLst>
              <a:gd name="adj" fmla="val 10447"/>
            </a:avLst>
          </a:prstGeom>
          <a:solidFill>
            <a:schemeClr val="bg1">
              <a:alpha val="50000"/>
            </a:schemeClr>
          </a:solidFill>
          <a:ln w="28575">
            <a:solidFill>
              <a:srgbClr val="002060"/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64442F4-2492-26EB-CD84-BF0728F9720D}"/>
              </a:ext>
            </a:extLst>
          </p:cNvPr>
          <p:cNvSpPr/>
          <p:nvPr/>
        </p:nvSpPr>
        <p:spPr>
          <a:xfrm>
            <a:off x="1691680" y="4867054"/>
            <a:ext cx="5760640" cy="1224136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BEC3DA-1D66-FA8F-552B-E1083694EE7E}"/>
              </a:ext>
            </a:extLst>
          </p:cNvPr>
          <p:cNvSpPr txBox="1"/>
          <p:nvPr/>
        </p:nvSpPr>
        <p:spPr>
          <a:xfrm>
            <a:off x="255029" y="2722957"/>
            <a:ext cx="2926322" cy="40011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해당 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command </a:t>
            </a:r>
            <a:r>
              <a: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입력 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F50753-EDC9-EEC4-014C-4F6D9874C0DA}"/>
              </a:ext>
            </a:extLst>
          </p:cNvPr>
          <p:cNvSpPr txBox="1"/>
          <p:nvPr/>
        </p:nvSpPr>
        <p:spPr>
          <a:xfrm>
            <a:off x="5818788" y="4408748"/>
            <a:ext cx="3149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((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Lsd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Lg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Lsd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Tbody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, 0)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ADE65D03-7E2E-9616-6C59-79E928E47683}"/>
              </a:ext>
            </a:extLst>
          </p:cNvPr>
          <p:cNvSpPr/>
          <p:nvPr/>
        </p:nvSpPr>
        <p:spPr>
          <a:xfrm>
            <a:off x="7380312" y="4799533"/>
            <a:ext cx="144016" cy="13503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EE7E6877-D5FC-5F9C-D0A0-95125DD5B9F9}"/>
              </a:ext>
            </a:extLst>
          </p:cNvPr>
          <p:cNvSpPr/>
          <p:nvPr/>
        </p:nvSpPr>
        <p:spPr>
          <a:xfrm>
            <a:off x="1619672" y="6032695"/>
            <a:ext cx="144016" cy="13503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1D4D61-9483-F626-4E37-EB5ED3D5471A}"/>
              </a:ext>
            </a:extLst>
          </p:cNvPr>
          <p:cNvSpPr txBox="1"/>
          <p:nvPr/>
        </p:nvSpPr>
        <p:spPr>
          <a:xfrm>
            <a:off x="1011970" y="6216646"/>
            <a:ext cx="1646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(0.0, 0.0, 0.0)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5174D38F-A058-49FE-CBC4-EE13E0001C8C}"/>
              </a:ext>
            </a:extLst>
          </p:cNvPr>
          <p:cNvCxnSpPr>
            <a:cxnSpLocks/>
          </p:cNvCxnSpPr>
          <p:nvPr/>
        </p:nvCxnSpPr>
        <p:spPr>
          <a:xfrm>
            <a:off x="1718190" y="6100214"/>
            <a:ext cx="736131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752DE27-968B-946C-41D0-F30B25217E84}"/>
              </a:ext>
            </a:extLst>
          </p:cNvPr>
          <p:cNvSpPr txBox="1"/>
          <p:nvPr/>
        </p:nvSpPr>
        <p:spPr>
          <a:xfrm>
            <a:off x="2431801" y="5760130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ko-KR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7BAFBFB4-BFBC-E0A9-AA8A-24C6243D25EA}"/>
              </a:ext>
            </a:extLst>
          </p:cNvPr>
          <p:cNvCxnSpPr>
            <a:cxnSpLocks/>
          </p:cNvCxnSpPr>
          <p:nvPr/>
        </p:nvCxnSpPr>
        <p:spPr>
          <a:xfrm flipV="1">
            <a:off x="1691680" y="5308759"/>
            <a:ext cx="0" cy="7380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8C5F327-9DD2-95E3-5A07-5BD135C52624}"/>
              </a:ext>
            </a:extLst>
          </p:cNvPr>
          <p:cNvSpPr txBox="1"/>
          <p:nvPr/>
        </p:nvSpPr>
        <p:spPr>
          <a:xfrm>
            <a:off x="1331639" y="5065066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endParaRPr lang="ko-KR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17C4CF-FC64-EB1E-A9D9-3E1D9646368D}"/>
              </a:ext>
            </a:extLst>
          </p:cNvPr>
          <p:cNvSpPr txBox="1"/>
          <p:nvPr/>
        </p:nvSpPr>
        <p:spPr>
          <a:xfrm>
            <a:off x="5773803" y="5636290"/>
            <a:ext cx="1993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(Body)</a:t>
            </a:r>
            <a:endParaRPr lang="ko-KR" alt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4307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D5633-8E6E-25CF-14AB-13E53E233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21CB24-E99F-AC9F-946F-4B288E048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SDE</a:t>
            </a:r>
            <a:r>
              <a:rPr lang="ko-KR" altLang="en-US" dirty="0">
                <a:latin typeface="+mj-ea"/>
              </a:rPr>
              <a:t> 활용한 </a:t>
            </a:r>
            <a:r>
              <a:rPr lang="en-US" altLang="ko-KR" dirty="0">
                <a:latin typeface="+mj-ea"/>
              </a:rPr>
              <a:t>MOSFET </a:t>
            </a:r>
            <a:r>
              <a:rPr lang="ko-KR" altLang="en-US" dirty="0">
                <a:latin typeface="+mj-ea"/>
              </a:rPr>
              <a:t>구조 생성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FA8D0802-61B4-FFBB-E34C-F4811A6195C8}"/>
              </a:ext>
            </a:extLst>
          </p:cNvPr>
          <p:cNvSpPr/>
          <p:nvPr/>
        </p:nvSpPr>
        <p:spPr>
          <a:xfrm>
            <a:off x="248455" y="1265339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9D79A9D-8A43-6E07-A547-E20686300203}"/>
              </a:ext>
            </a:extLst>
          </p:cNvPr>
          <p:cNvCxnSpPr>
            <a:cxnSpLocks/>
          </p:cNvCxnSpPr>
          <p:nvPr/>
        </p:nvCxnSpPr>
        <p:spPr>
          <a:xfrm>
            <a:off x="142613" y="2524448"/>
            <a:ext cx="8825218" cy="0"/>
          </a:xfrm>
          <a:prstGeom prst="line">
            <a:avLst/>
          </a:prstGeom>
          <a:ln w="1905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58A20C5-A454-246C-F355-746ECA01BF17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 command (2)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소자 영역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설정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F21C895-F594-ED20-0263-F108CEB5F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125" y="1293530"/>
            <a:ext cx="8270705" cy="91804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DEE80451-63A4-F7A6-2C61-8D8A01ADE8A0}"/>
              </a:ext>
            </a:extLst>
          </p:cNvPr>
          <p:cNvSpPr/>
          <p:nvPr/>
        </p:nvSpPr>
        <p:spPr>
          <a:xfrm>
            <a:off x="255028" y="3242288"/>
            <a:ext cx="8633944" cy="3437801"/>
          </a:xfrm>
          <a:prstGeom prst="roundRect">
            <a:avLst>
              <a:gd name="adj" fmla="val 10447"/>
            </a:avLst>
          </a:prstGeom>
          <a:solidFill>
            <a:schemeClr val="bg1">
              <a:alpha val="50000"/>
            </a:schemeClr>
          </a:solidFill>
          <a:ln w="28575">
            <a:solidFill>
              <a:srgbClr val="002060"/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1EDC26-E7F8-A277-41B9-7F992C8E4ABC}"/>
              </a:ext>
            </a:extLst>
          </p:cNvPr>
          <p:cNvSpPr txBox="1"/>
          <p:nvPr/>
        </p:nvSpPr>
        <p:spPr>
          <a:xfrm>
            <a:off x="255029" y="2722957"/>
            <a:ext cx="2926322" cy="40011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해당 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command </a:t>
            </a:r>
            <a:r>
              <a: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입력 시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9DB7A345-FE94-C726-2C00-479A90D555A0}"/>
              </a:ext>
            </a:extLst>
          </p:cNvPr>
          <p:cNvGrpSpPr/>
          <p:nvPr/>
        </p:nvGrpSpPr>
        <p:grpSpPr>
          <a:xfrm>
            <a:off x="1691680" y="4227095"/>
            <a:ext cx="6075639" cy="2216520"/>
            <a:chOff x="1691680" y="4227095"/>
            <a:chExt cx="6075639" cy="221652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0F52BEC-5435-EED6-E7F5-DF3CF83AA3FB}"/>
                </a:ext>
              </a:extLst>
            </p:cNvPr>
            <p:cNvSpPr/>
            <p:nvPr/>
          </p:nvSpPr>
          <p:spPr>
            <a:xfrm>
              <a:off x="1691680" y="5219479"/>
              <a:ext cx="5760640" cy="1224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C1ADB6B-5C4A-DDB3-23C9-42F0DAFA6C95}"/>
                </a:ext>
              </a:extLst>
            </p:cNvPr>
            <p:cNvSpPr txBox="1"/>
            <p:nvPr/>
          </p:nvSpPr>
          <p:spPr>
            <a:xfrm>
              <a:off x="5773803" y="5988715"/>
              <a:ext cx="199351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(Body)</a:t>
              </a:r>
              <a:endParaRPr lang="ko-KR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2ECEE83-88E3-F491-D822-C660224966C4}"/>
                </a:ext>
              </a:extLst>
            </p:cNvPr>
            <p:cNvSpPr/>
            <p:nvPr/>
          </p:nvSpPr>
          <p:spPr>
            <a:xfrm>
              <a:off x="3348086" y="4937123"/>
              <a:ext cx="2451971" cy="2733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(Gate Oxide)</a:t>
              </a:r>
              <a:endParaRPr lang="ko-KR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885BC3C-523B-B976-EABA-C121510F95AC}"/>
                </a:ext>
              </a:extLst>
            </p:cNvPr>
            <p:cNvSpPr/>
            <p:nvPr/>
          </p:nvSpPr>
          <p:spPr>
            <a:xfrm>
              <a:off x="3348086" y="4227095"/>
              <a:ext cx="2451971" cy="71002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(Gate)</a:t>
              </a:r>
              <a:endParaRPr lang="ko-KR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2B80D66-A6E0-DED8-A2C0-022F50FE5DCB}"/>
              </a:ext>
            </a:extLst>
          </p:cNvPr>
          <p:cNvSpPr txBox="1"/>
          <p:nvPr/>
        </p:nvSpPr>
        <p:spPr>
          <a:xfrm>
            <a:off x="392470" y="3366760"/>
            <a:ext cx="7151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Source/Drain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constant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doping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시 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source/drain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영역 설정 필요</a:t>
            </a:r>
            <a:endParaRPr lang="en-US" altLang="ko-K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본 시뮬레이션에서는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gaussian doping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예정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F0A4AAFA-FD02-D7BF-5F98-894B7B3CE59C}"/>
              </a:ext>
            </a:extLst>
          </p:cNvPr>
          <p:cNvGrpSpPr/>
          <p:nvPr/>
        </p:nvGrpSpPr>
        <p:grpSpPr>
          <a:xfrm>
            <a:off x="1341845" y="5419963"/>
            <a:ext cx="1460202" cy="1102668"/>
            <a:chOff x="-1800181" y="5417491"/>
            <a:chExt cx="1460202" cy="1102668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ACB156E1-52B5-A0B4-925F-499BC52E3DFC}"/>
                </a:ext>
              </a:extLst>
            </p:cNvPr>
            <p:cNvSpPr/>
            <p:nvPr/>
          </p:nvSpPr>
          <p:spPr>
            <a:xfrm>
              <a:off x="-1512148" y="6385120"/>
              <a:ext cx="144016" cy="13503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1E95BCE7-A87D-AD59-9C6F-979C6392FCF2}"/>
                </a:ext>
              </a:extLst>
            </p:cNvPr>
            <p:cNvCxnSpPr>
              <a:cxnSpLocks/>
            </p:cNvCxnSpPr>
            <p:nvPr/>
          </p:nvCxnSpPr>
          <p:spPr>
            <a:xfrm>
              <a:off x="-1413630" y="6452639"/>
              <a:ext cx="73613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9206D0F-A7D2-759C-F9FF-B754CEC2C78D}"/>
                </a:ext>
              </a:extLst>
            </p:cNvPr>
            <p:cNvSpPr txBox="1"/>
            <p:nvPr/>
          </p:nvSpPr>
          <p:spPr>
            <a:xfrm>
              <a:off x="-700019" y="6112555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  <a:endParaRPr lang="ko-KR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B9CFF422-A6E1-8BA6-09D4-3D18728357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440140" y="5661184"/>
              <a:ext cx="0" cy="738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9A2B09B-5645-56BB-4CFA-BAC8A3798751}"/>
                </a:ext>
              </a:extLst>
            </p:cNvPr>
            <p:cNvSpPr txBox="1"/>
            <p:nvPr/>
          </p:nvSpPr>
          <p:spPr>
            <a:xfrm>
              <a:off x="-1800181" y="5417491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y</a:t>
              </a:r>
              <a:endParaRPr lang="ko-KR" alt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48992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C32DC-1723-7D04-D387-DE4E72D45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DACA5B-8CEF-F1EF-8E6B-45AFE65BC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SDE</a:t>
            </a:r>
            <a:r>
              <a:rPr lang="ko-KR" altLang="en-US" dirty="0">
                <a:latin typeface="+mj-ea"/>
              </a:rPr>
              <a:t> 활용한 </a:t>
            </a:r>
            <a:r>
              <a:rPr lang="en-US" altLang="ko-KR" dirty="0">
                <a:latin typeface="+mj-ea"/>
              </a:rPr>
              <a:t>MOSFET </a:t>
            </a:r>
            <a:r>
              <a:rPr lang="ko-KR" altLang="en-US" dirty="0">
                <a:latin typeface="+mj-ea"/>
              </a:rPr>
              <a:t>구조 생성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6D5210A-5AEA-D0DD-860C-B4C599B396AC}"/>
              </a:ext>
            </a:extLst>
          </p:cNvPr>
          <p:cNvSpPr/>
          <p:nvPr/>
        </p:nvSpPr>
        <p:spPr>
          <a:xfrm>
            <a:off x="327269" y="1267055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C51373CD-9069-0A34-D99C-D97B39E291DC}"/>
              </a:ext>
            </a:extLst>
          </p:cNvPr>
          <p:cNvCxnSpPr>
            <a:cxnSpLocks/>
          </p:cNvCxnSpPr>
          <p:nvPr/>
        </p:nvCxnSpPr>
        <p:spPr>
          <a:xfrm>
            <a:off x="180236" y="2543305"/>
            <a:ext cx="8825218" cy="0"/>
          </a:xfrm>
          <a:prstGeom prst="line">
            <a:avLst/>
          </a:prstGeom>
          <a:ln w="1905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6EA1080-B9F3-08B6-5F24-32FFC3C6B2E6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 command (3)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Contact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영역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설정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D9164E1-50DE-3C41-EE46-ED87757C0F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3814"/>
          <a:stretch/>
        </p:blipFill>
        <p:spPr>
          <a:xfrm>
            <a:off x="824359" y="1268417"/>
            <a:ext cx="7992372" cy="99581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23" name="타원 22">
            <a:extLst>
              <a:ext uri="{FF2B5EF4-FFF2-40B4-BE49-F238E27FC236}">
                <a16:creationId xmlns:a16="http://schemas.microsoft.com/office/drawing/2014/main" id="{5735FD44-A8A0-0EED-2AAB-F699F03B4730}"/>
              </a:ext>
            </a:extLst>
          </p:cNvPr>
          <p:cNvSpPr/>
          <p:nvPr/>
        </p:nvSpPr>
        <p:spPr>
          <a:xfrm>
            <a:off x="325493" y="2874308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0A569D-F556-1CDC-F3BB-E8FA7877759F}"/>
              </a:ext>
            </a:extLst>
          </p:cNvPr>
          <p:cNvSpPr txBox="1"/>
          <p:nvPr/>
        </p:nvSpPr>
        <p:spPr>
          <a:xfrm>
            <a:off x="694056" y="2822384"/>
            <a:ext cx="8154075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contact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정의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31EC26-402C-ECD6-1115-567714CBD4A3}"/>
              </a:ext>
            </a:extLst>
          </p:cNvPr>
          <p:cNvSpPr txBox="1"/>
          <p:nvPr/>
        </p:nvSpPr>
        <p:spPr>
          <a:xfrm>
            <a:off x="694056" y="3089242"/>
            <a:ext cx="8301743" cy="507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sdegeo:define-contact-set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“</a:t>
            </a:r>
            <a:r>
              <a:rPr lang="en-US" altLang="ko-K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contact</a:t>
            </a:r>
            <a:r>
              <a:rPr lang="ko-KR" alt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이름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” 4.0 (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color:rgb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1.0 0.0 0.0) “##”)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9287509-6ABF-29B4-359F-192355E7368C}"/>
              </a:ext>
            </a:extLst>
          </p:cNvPr>
          <p:cNvSpPr/>
          <p:nvPr/>
        </p:nvSpPr>
        <p:spPr>
          <a:xfrm>
            <a:off x="2756947" y="1555086"/>
            <a:ext cx="672053" cy="2005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216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그림 49">
            <a:extLst>
              <a:ext uri="{FF2B5EF4-FFF2-40B4-BE49-F238E27FC236}">
                <a16:creationId xmlns:a16="http://schemas.microsoft.com/office/drawing/2014/main" id="{34FBF09E-8DE2-EB67-1A79-03A541F7E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359" y="1267055"/>
            <a:ext cx="7992372" cy="201732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F370CFB-A1DD-C8D5-3710-A9368E5FF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SDE</a:t>
            </a:r>
            <a:r>
              <a:rPr lang="ko-KR" altLang="en-US" dirty="0">
                <a:latin typeface="+mj-ea"/>
              </a:rPr>
              <a:t> 활용한 </a:t>
            </a:r>
            <a:r>
              <a:rPr lang="en-US" altLang="ko-KR" dirty="0">
                <a:latin typeface="+mj-ea"/>
              </a:rPr>
              <a:t>MOSFET </a:t>
            </a:r>
            <a:r>
              <a:rPr lang="ko-KR" altLang="en-US" dirty="0">
                <a:latin typeface="+mj-ea"/>
              </a:rPr>
              <a:t>구조 생성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695150B-FDDA-0BB1-435C-B4913FEFF0D5}"/>
              </a:ext>
            </a:extLst>
          </p:cNvPr>
          <p:cNvSpPr/>
          <p:nvPr/>
        </p:nvSpPr>
        <p:spPr>
          <a:xfrm>
            <a:off x="327269" y="1267055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71EEDD32-E967-A202-DDD5-40872A88BCDE}"/>
              </a:ext>
            </a:extLst>
          </p:cNvPr>
          <p:cNvCxnSpPr>
            <a:cxnSpLocks/>
          </p:cNvCxnSpPr>
          <p:nvPr/>
        </p:nvCxnSpPr>
        <p:spPr>
          <a:xfrm>
            <a:off x="180236" y="3519014"/>
            <a:ext cx="8825218" cy="0"/>
          </a:xfrm>
          <a:prstGeom prst="line">
            <a:avLst/>
          </a:prstGeom>
          <a:ln w="1905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E920903-4249-FB0D-F731-14B686DE6DBE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 command (3)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Contact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영역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설정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10C9BDFC-B0FE-719A-C15F-E611DA8ADA40}"/>
              </a:ext>
            </a:extLst>
          </p:cNvPr>
          <p:cNvSpPr/>
          <p:nvPr/>
        </p:nvSpPr>
        <p:spPr>
          <a:xfrm>
            <a:off x="331802" y="3782531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E4B748D-7B87-A3CF-7A9D-B884A60CC415}"/>
              </a:ext>
            </a:extLst>
          </p:cNvPr>
          <p:cNvSpPr txBox="1"/>
          <p:nvPr/>
        </p:nvSpPr>
        <p:spPr>
          <a:xfrm>
            <a:off x="700365" y="3730607"/>
            <a:ext cx="8154075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contact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위치 설정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2D4AA0-CAFC-4E02-C005-FE1C0FFFA0DD}"/>
              </a:ext>
            </a:extLst>
          </p:cNvPr>
          <p:cNvSpPr txBox="1"/>
          <p:nvPr/>
        </p:nvSpPr>
        <p:spPr>
          <a:xfrm>
            <a:off x="694056" y="4108327"/>
            <a:ext cx="8301743" cy="1524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sdegeo:insert-vertex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(</a:t>
            </a:r>
            <a:r>
              <a:rPr lang="en-US" altLang="ko-K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vertex </a:t>
            </a:r>
            <a:r>
              <a:rPr lang="ko-KR" alt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위치 좌표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))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sdegeo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set-contact(list(car(find-edge-id(</a:t>
            </a:r>
            <a:r>
              <a:rPr lang="en-US" altLang="ko-K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contact </a:t>
            </a:r>
            <a:r>
              <a:rPr lang="ko-KR" alt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위치 좌표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)))) “</a:t>
            </a:r>
            <a:r>
              <a:rPr lang="en-US" altLang="ko-K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contact </a:t>
            </a:r>
            <a:r>
              <a:rPr lang="ko-KR" alt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이름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”)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964AA28-1B14-5A88-73F0-B3174838BD2C}"/>
              </a:ext>
            </a:extLst>
          </p:cNvPr>
          <p:cNvSpPr txBox="1"/>
          <p:nvPr/>
        </p:nvSpPr>
        <p:spPr>
          <a:xfrm>
            <a:off x="325493" y="6221646"/>
            <a:ext cx="8154075" cy="508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 </a:t>
            </a:r>
            <a:r>
              <a:rPr lang="ko-KR" altLang="en-US" sz="16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정의된 </a:t>
            </a: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contact </a:t>
            </a:r>
            <a:r>
              <a:rPr lang="ko-KR" altLang="en-US" sz="16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에 </a:t>
            </a: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Device Simulation </a:t>
            </a:r>
            <a:r>
              <a:rPr lang="ko-KR" altLang="en-US" sz="16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시 원하는 </a:t>
            </a: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Bias </a:t>
            </a:r>
            <a:r>
              <a:rPr lang="ko-KR" altLang="en-US" sz="16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인가 및 조건 설정 가능</a:t>
            </a: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532F2755-7772-0F29-BFBF-99F5DA4E7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148" y="1026830"/>
            <a:ext cx="2124306" cy="838958"/>
          </a:xfrm>
          <a:prstGeom prst="rect">
            <a:avLst/>
          </a:prstGeom>
        </p:spPr>
      </p:pic>
      <p:sp>
        <p:nvSpPr>
          <p:cNvPr id="42" name="직사각형 41">
            <a:extLst>
              <a:ext uri="{FF2B5EF4-FFF2-40B4-BE49-F238E27FC236}">
                <a16:creationId xmlns:a16="http://schemas.microsoft.com/office/drawing/2014/main" id="{6D776D9B-683C-4CD3-A4B9-AF239C6A5B2F}"/>
              </a:ext>
            </a:extLst>
          </p:cNvPr>
          <p:cNvSpPr/>
          <p:nvPr/>
        </p:nvSpPr>
        <p:spPr>
          <a:xfrm>
            <a:off x="840182" y="1555087"/>
            <a:ext cx="5386571" cy="34697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54F9F813-390F-2287-7526-8A55CE0B5272}"/>
              </a:ext>
            </a:extLst>
          </p:cNvPr>
          <p:cNvSpPr/>
          <p:nvPr/>
        </p:nvSpPr>
        <p:spPr>
          <a:xfrm>
            <a:off x="6930118" y="1328050"/>
            <a:ext cx="144016" cy="135039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84127FE8-0349-F63D-C963-3C90F105025D}"/>
              </a:ext>
            </a:extLst>
          </p:cNvPr>
          <p:cNvSpPr/>
          <p:nvPr/>
        </p:nvSpPr>
        <p:spPr>
          <a:xfrm>
            <a:off x="7268543" y="1328050"/>
            <a:ext cx="144016" cy="135039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F264003-FE52-F2FC-992E-747AD037EFB7}"/>
              </a:ext>
            </a:extLst>
          </p:cNvPr>
          <p:cNvSpPr txBox="1"/>
          <p:nvPr/>
        </p:nvSpPr>
        <p:spPr>
          <a:xfrm>
            <a:off x="5786476" y="1272356"/>
            <a:ext cx="13775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vertex </a:t>
            </a:r>
            <a:r>
              <a:rPr lang="ko-KR" altLang="en-US" sz="10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형성</a:t>
            </a:r>
            <a:endParaRPr lang="ko-KR" altLang="en-US" sz="1000" b="1" dirty="0">
              <a:solidFill>
                <a:schemeClr val="accent6"/>
              </a:solidFill>
            </a:endParaRP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6C139146-C6DC-0AFC-B1E1-A9445D5AEF4A}"/>
              </a:ext>
            </a:extLst>
          </p:cNvPr>
          <p:cNvCxnSpPr>
            <a:cxnSpLocks/>
          </p:cNvCxnSpPr>
          <p:nvPr/>
        </p:nvCxnSpPr>
        <p:spPr>
          <a:xfrm flipV="1">
            <a:off x="6415476" y="1446309"/>
            <a:ext cx="390947" cy="111265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4E1B248-6BD8-ECC7-081F-CA7900AAF160}"/>
              </a:ext>
            </a:extLst>
          </p:cNvPr>
          <p:cNvSpPr/>
          <p:nvPr/>
        </p:nvSpPr>
        <p:spPr>
          <a:xfrm>
            <a:off x="4290471" y="2780717"/>
            <a:ext cx="3701003" cy="2181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3104175-70D0-EB8F-794E-F6E6C3142626}"/>
              </a:ext>
            </a:extLst>
          </p:cNvPr>
          <p:cNvSpPr/>
          <p:nvPr/>
        </p:nvSpPr>
        <p:spPr>
          <a:xfrm>
            <a:off x="8242762" y="2780717"/>
            <a:ext cx="573970" cy="2181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70922ADA-DEC9-3EA3-76AA-A0986278C0D4}"/>
              </a:ext>
            </a:extLst>
          </p:cNvPr>
          <p:cNvSpPr/>
          <p:nvPr/>
        </p:nvSpPr>
        <p:spPr>
          <a:xfrm>
            <a:off x="3245435" y="5826720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53EFB6C-F788-1ACC-B7C3-946C2E067F69}"/>
              </a:ext>
            </a:extLst>
          </p:cNvPr>
          <p:cNvCxnSpPr>
            <a:cxnSpLocks/>
          </p:cNvCxnSpPr>
          <p:nvPr/>
        </p:nvCxnSpPr>
        <p:spPr>
          <a:xfrm>
            <a:off x="6566651" y="5259977"/>
            <a:ext cx="1210103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>
            <a:extLst>
              <a:ext uri="{FF2B5EF4-FFF2-40B4-BE49-F238E27FC236}">
                <a16:creationId xmlns:a16="http://schemas.microsoft.com/office/drawing/2014/main" id="{D7FE2CA7-4C40-2E0F-69C0-B6F0B9CBCC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4859" b="87624"/>
          <a:stretch>
            <a:fillRect/>
          </a:stretch>
        </p:blipFill>
        <p:spPr>
          <a:xfrm>
            <a:off x="3648152" y="5735418"/>
            <a:ext cx="5206288" cy="47063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74094B66-5A1F-A3DC-7348-A3D22B6F1CAE}"/>
              </a:ext>
            </a:extLst>
          </p:cNvPr>
          <p:cNvCxnSpPr>
            <a:cxnSpLocks/>
          </p:cNvCxnSpPr>
          <p:nvPr/>
        </p:nvCxnSpPr>
        <p:spPr>
          <a:xfrm flipH="1">
            <a:off x="6004560" y="5363062"/>
            <a:ext cx="1114514" cy="60767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1833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D6721-3FFB-5C7F-A34F-D56D59289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F79B5D-860F-4054-6048-5570369C6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SDE</a:t>
            </a:r>
            <a:r>
              <a:rPr lang="ko-KR" altLang="en-US" dirty="0">
                <a:latin typeface="+mj-ea"/>
              </a:rPr>
              <a:t> 활용한 </a:t>
            </a:r>
            <a:r>
              <a:rPr lang="en-US" altLang="ko-KR" dirty="0">
                <a:latin typeface="+mj-ea"/>
              </a:rPr>
              <a:t>MOSFET </a:t>
            </a:r>
            <a:r>
              <a:rPr lang="ko-KR" altLang="en-US" dirty="0">
                <a:latin typeface="+mj-ea"/>
              </a:rPr>
              <a:t>구조 생성</a:t>
            </a:r>
          </a:p>
        </p:txBody>
      </p:sp>
      <p:sp>
        <p:nvSpPr>
          <p:cNvPr id="4" name="모서리가 둥근 직사각형 2">
            <a:extLst>
              <a:ext uri="{FF2B5EF4-FFF2-40B4-BE49-F238E27FC236}">
                <a16:creationId xmlns:a16="http://schemas.microsoft.com/office/drawing/2014/main" id="{4D7E04DA-8709-894E-0371-FC883DFA017E}"/>
              </a:ext>
            </a:extLst>
          </p:cNvPr>
          <p:cNvSpPr/>
          <p:nvPr/>
        </p:nvSpPr>
        <p:spPr>
          <a:xfrm>
            <a:off x="255028" y="3421509"/>
            <a:ext cx="8633944" cy="3368663"/>
          </a:xfrm>
          <a:prstGeom prst="roundRect">
            <a:avLst>
              <a:gd name="adj" fmla="val 10447"/>
            </a:avLst>
          </a:prstGeom>
          <a:solidFill>
            <a:schemeClr val="bg1">
              <a:alpha val="50000"/>
            </a:schemeClr>
          </a:solidFill>
          <a:ln w="28575">
            <a:solidFill>
              <a:srgbClr val="002060"/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B9AED1F-960A-AE0A-68C0-E5393256C0BE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 command (3)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Contact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영역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설정</a:t>
            </a: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07E186FC-C000-3EDC-507B-5E71F228F7D8}"/>
              </a:ext>
            </a:extLst>
          </p:cNvPr>
          <p:cNvSpPr/>
          <p:nvPr/>
        </p:nvSpPr>
        <p:spPr>
          <a:xfrm>
            <a:off x="327269" y="1267055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4DF3D87F-13EF-59B8-73B6-D1B41CB99EF9}"/>
              </a:ext>
            </a:extLst>
          </p:cNvPr>
          <p:cNvSpPr/>
          <p:nvPr/>
        </p:nvSpPr>
        <p:spPr>
          <a:xfrm>
            <a:off x="327269" y="2541784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7D50BDAF-7A4B-E974-6B68-8481086C47F2}"/>
              </a:ext>
            </a:extLst>
          </p:cNvPr>
          <p:cNvGrpSpPr/>
          <p:nvPr/>
        </p:nvGrpSpPr>
        <p:grpSpPr>
          <a:xfrm>
            <a:off x="1971375" y="3609188"/>
            <a:ext cx="5201250" cy="2993304"/>
            <a:chOff x="1971375" y="3609188"/>
            <a:chExt cx="5201250" cy="2993304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60AF0D7-A34A-0D34-8C77-EABE6233B61B}"/>
                </a:ext>
              </a:extLst>
            </p:cNvPr>
            <p:cNvSpPr/>
            <p:nvPr/>
          </p:nvSpPr>
          <p:spPr>
            <a:xfrm>
              <a:off x="1971375" y="4566658"/>
              <a:ext cx="5201250" cy="203583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E3A3AF4-6B48-A5BD-2F3F-BAE442BE95EC}"/>
                </a:ext>
              </a:extLst>
            </p:cNvPr>
            <p:cNvSpPr/>
            <p:nvPr/>
          </p:nvSpPr>
          <p:spPr>
            <a:xfrm>
              <a:off x="1971376" y="4566658"/>
              <a:ext cx="1300312" cy="78455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52BDFFC-B1AD-F032-BBEA-B2E6299BC562}"/>
                </a:ext>
              </a:extLst>
            </p:cNvPr>
            <p:cNvSpPr/>
            <p:nvPr/>
          </p:nvSpPr>
          <p:spPr>
            <a:xfrm>
              <a:off x="5872312" y="4566658"/>
              <a:ext cx="1300312" cy="78455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D23424F-0801-0F67-FF1E-7DD79C652A29}"/>
                </a:ext>
              </a:extLst>
            </p:cNvPr>
            <p:cNvSpPr/>
            <p:nvPr/>
          </p:nvSpPr>
          <p:spPr>
            <a:xfrm>
              <a:off x="3271229" y="4244725"/>
              <a:ext cx="2600623" cy="32193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9DB6BE3-D9F8-9C37-02E5-27C99254A940}"/>
                </a:ext>
              </a:extLst>
            </p:cNvPr>
            <p:cNvSpPr/>
            <p:nvPr/>
          </p:nvSpPr>
          <p:spPr>
            <a:xfrm>
              <a:off x="3271687" y="3609188"/>
              <a:ext cx="2600623" cy="635537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40684F0-92E5-5895-EDCE-437BC4890AFD}"/>
                </a:ext>
              </a:extLst>
            </p:cNvPr>
            <p:cNvSpPr txBox="1"/>
            <p:nvPr/>
          </p:nvSpPr>
          <p:spPr>
            <a:xfrm>
              <a:off x="2219545" y="4593358"/>
              <a:ext cx="83061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b="1" dirty="0">
                  <a:solidFill>
                    <a:schemeClr val="bg1"/>
                  </a:solidFill>
                </a:rPr>
                <a:t>Source</a:t>
              </a:r>
            </a:p>
            <a:p>
              <a:pPr algn="ctr"/>
              <a:r>
                <a:rPr lang="en-US" altLang="ko-KR" b="1" i="1" dirty="0" err="1">
                  <a:solidFill>
                    <a:schemeClr val="bg1"/>
                  </a:solidFill>
                </a:rPr>
                <a:t>N</a:t>
              </a:r>
              <a:r>
                <a:rPr lang="en-US" altLang="ko-KR" b="1" baseline="-25000" dirty="0" err="1">
                  <a:solidFill>
                    <a:schemeClr val="bg1"/>
                  </a:solidFill>
                </a:rPr>
                <a:t>sd</a:t>
              </a:r>
              <a:endParaRPr lang="ko-KR" altLang="en-US" b="1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2B9BF81-C840-5278-C360-C41A93ADA8FD}"/>
                </a:ext>
              </a:extLst>
            </p:cNvPr>
            <p:cNvSpPr txBox="1"/>
            <p:nvPr/>
          </p:nvSpPr>
          <p:spPr>
            <a:xfrm>
              <a:off x="3668857" y="4221025"/>
              <a:ext cx="18053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chemeClr val="bg1"/>
                  </a:solidFill>
                </a:rPr>
                <a:t>Gate oxide (SiO</a:t>
              </a:r>
              <a:r>
                <a:rPr lang="en-US" altLang="ko-KR" b="1" baseline="-25000" dirty="0">
                  <a:solidFill>
                    <a:schemeClr val="bg1"/>
                  </a:solidFill>
                </a:rPr>
                <a:t>2</a:t>
              </a:r>
              <a:r>
                <a:rPr lang="en-US" altLang="ko-KR" b="1" dirty="0">
                  <a:solidFill>
                    <a:schemeClr val="bg1"/>
                  </a:solidFill>
                </a:rPr>
                <a:t>)</a:t>
              </a:r>
              <a:endParaRPr lang="ko-KR" altLang="en-US" b="1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3C0C3C1-7A5F-1C59-08E8-CE5BEE88A7B1}"/>
                </a:ext>
              </a:extLst>
            </p:cNvPr>
            <p:cNvSpPr txBox="1"/>
            <p:nvPr/>
          </p:nvSpPr>
          <p:spPr>
            <a:xfrm>
              <a:off x="3994020" y="3718591"/>
              <a:ext cx="11559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>
                  <a:solidFill>
                    <a:schemeClr val="bg1"/>
                  </a:solidFill>
                </a:rPr>
                <a:t>Gate (</a:t>
              </a:r>
              <a:r>
                <a:rPr lang="en-US" altLang="ko-KR" b="1" dirty="0" err="1">
                  <a:solidFill>
                    <a:schemeClr val="bg1"/>
                  </a:solidFill>
                </a:rPr>
                <a:t>TiN</a:t>
              </a:r>
              <a:r>
                <a:rPr lang="en-US" altLang="ko-KR" b="1" dirty="0">
                  <a:solidFill>
                    <a:schemeClr val="bg1"/>
                  </a:solidFill>
                </a:rPr>
                <a:t>)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DA90260-1DB4-AB45-CC8C-A495D3800F21}"/>
                </a:ext>
              </a:extLst>
            </p:cNvPr>
            <p:cNvSpPr txBox="1"/>
            <p:nvPr/>
          </p:nvSpPr>
          <p:spPr>
            <a:xfrm>
              <a:off x="6193367" y="4593358"/>
              <a:ext cx="70057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b="1" dirty="0">
                  <a:solidFill>
                    <a:schemeClr val="bg1"/>
                  </a:solidFill>
                </a:rPr>
                <a:t>Drain</a:t>
              </a:r>
            </a:p>
            <a:p>
              <a:pPr algn="ctr"/>
              <a:r>
                <a:rPr lang="en-US" altLang="ko-KR" b="1" i="1" dirty="0" err="1">
                  <a:solidFill>
                    <a:schemeClr val="bg1"/>
                  </a:solidFill>
                </a:rPr>
                <a:t>N</a:t>
              </a:r>
              <a:r>
                <a:rPr lang="en-US" altLang="ko-KR" b="1" baseline="-25000" dirty="0" err="1">
                  <a:solidFill>
                    <a:schemeClr val="bg1"/>
                  </a:solidFill>
                </a:rPr>
                <a:t>sd</a:t>
              </a:r>
              <a:endParaRPr lang="ko-KR" altLang="en-US" b="1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C5737CE-FC7C-D35C-EDC7-E6ABF98F7B0D}"/>
                </a:ext>
              </a:extLst>
            </p:cNvPr>
            <p:cNvSpPr txBox="1"/>
            <p:nvPr/>
          </p:nvSpPr>
          <p:spPr>
            <a:xfrm>
              <a:off x="4272946" y="5692858"/>
              <a:ext cx="67037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b="1" dirty="0">
                  <a:solidFill>
                    <a:schemeClr val="bg1"/>
                  </a:solidFill>
                </a:rPr>
                <a:t>Body</a:t>
              </a:r>
            </a:p>
            <a:p>
              <a:pPr algn="ctr"/>
              <a:r>
                <a:rPr lang="en-US" altLang="ko-KR" b="1" i="1" dirty="0" err="1">
                  <a:solidFill>
                    <a:schemeClr val="bg1"/>
                  </a:solidFill>
                </a:rPr>
                <a:t>N</a:t>
              </a:r>
              <a:r>
                <a:rPr lang="en-US" altLang="ko-KR" b="1" i="1" baseline="-25000" dirty="0" err="1">
                  <a:solidFill>
                    <a:schemeClr val="bg1"/>
                  </a:solidFill>
                </a:rPr>
                <a:t>body</a:t>
              </a:r>
              <a:endParaRPr lang="ko-KR" altLang="en-US" b="1" baseline="-25000" dirty="0">
                <a:solidFill>
                  <a:schemeClr val="bg1"/>
                </a:solidFill>
              </a:endParaRPr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66B435EC-5856-98CD-BBAA-6EBFD30E168B}"/>
                </a:ext>
              </a:extLst>
            </p:cNvPr>
            <p:cNvCxnSpPr>
              <a:cxnSpLocks/>
            </p:cNvCxnSpPr>
            <p:nvPr/>
          </p:nvCxnSpPr>
          <p:spPr>
            <a:xfrm>
              <a:off x="2268265" y="4566658"/>
              <a:ext cx="706535" cy="0"/>
            </a:xfrm>
            <a:prstGeom prst="line">
              <a:avLst/>
            </a:prstGeom>
            <a:ln w="76200">
              <a:solidFill>
                <a:srgbClr val="EB1D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6A0A7B9A-5E96-B2BD-0FAA-8DE2DD5337A6}"/>
                </a:ext>
              </a:extLst>
            </p:cNvPr>
            <p:cNvCxnSpPr>
              <a:cxnSpLocks/>
            </p:cNvCxnSpPr>
            <p:nvPr/>
          </p:nvCxnSpPr>
          <p:spPr>
            <a:xfrm>
              <a:off x="6193367" y="4566658"/>
              <a:ext cx="706535" cy="0"/>
            </a:xfrm>
            <a:prstGeom prst="line">
              <a:avLst/>
            </a:prstGeom>
            <a:ln w="76200">
              <a:solidFill>
                <a:srgbClr val="EB1D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9C852471-189F-B328-EB1B-8223AA86B202}"/>
                </a:ext>
              </a:extLst>
            </p:cNvPr>
            <p:cNvCxnSpPr>
              <a:cxnSpLocks/>
            </p:cNvCxnSpPr>
            <p:nvPr/>
          </p:nvCxnSpPr>
          <p:spPr>
            <a:xfrm>
              <a:off x="3271229" y="3609188"/>
              <a:ext cx="2600623" cy="0"/>
            </a:xfrm>
            <a:prstGeom prst="line">
              <a:avLst/>
            </a:prstGeom>
            <a:ln w="76200">
              <a:solidFill>
                <a:srgbClr val="EB1D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4431EE9C-5BE7-3AC8-A224-67FD4A5FB4B4}"/>
                </a:ext>
              </a:extLst>
            </p:cNvPr>
            <p:cNvCxnSpPr>
              <a:cxnSpLocks/>
            </p:cNvCxnSpPr>
            <p:nvPr/>
          </p:nvCxnSpPr>
          <p:spPr>
            <a:xfrm>
              <a:off x="1971377" y="6602492"/>
              <a:ext cx="5201247" cy="0"/>
            </a:xfrm>
            <a:prstGeom prst="line">
              <a:avLst/>
            </a:prstGeom>
            <a:ln w="76200">
              <a:solidFill>
                <a:srgbClr val="EB1D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2B37DE42-7E7B-7217-CCD5-8508C2A484B2}"/>
              </a:ext>
            </a:extLst>
          </p:cNvPr>
          <p:cNvSpPr txBox="1"/>
          <p:nvPr/>
        </p:nvSpPr>
        <p:spPr>
          <a:xfrm>
            <a:off x="615301" y="4125681"/>
            <a:ext cx="1320288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‘source’ contact</a:t>
            </a:r>
            <a:endParaRPr lang="ko-KR" alt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CED7E41-FE7F-307B-284C-F7712A9CA11F}"/>
              </a:ext>
            </a:extLst>
          </p:cNvPr>
          <p:cNvSpPr txBox="1"/>
          <p:nvPr/>
        </p:nvSpPr>
        <p:spPr>
          <a:xfrm>
            <a:off x="7280325" y="4221025"/>
            <a:ext cx="1320288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‘drain’ contact</a:t>
            </a:r>
            <a:endParaRPr lang="ko-KR" alt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13DB4E5-B179-2D67-30E2-03359D34FFEB}"/>
              </a:ext>
            </a:extLst>
          </p:cNvPr>
          <p:cNvSpPr txBox="1"/>
          <p:nvPr/>
        </p:nvSpPr>
        <p:spPr>
          <a:xfrm>
            <a:off x="7280325" y="6364446"/>
            <a:ext cx="1320288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‘body’ contact</a:t>
            </a:r>
            <a:endParaRPr lang="ko-KR" alt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C02E846-3515-EC11-FE24-E7FF5F9D7C95}"/>
              </a:ext>
            </a:extLst>
          </p:cNvPr>
          <p:cNvSpPr txBox="1"/>
          <p:nvPr/>
        </p:nvSpPr>
        <p:spPr>
          <a:xfrm>
            <a:off x="1753032" y="3494948"/>
            <a:ext cx="1320288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‘gate’ contact</a:t>
            </a:r>
            <a:endParaRPr lang="ko-KR" altLang="en-US" sz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4B488CE1-D81F-572D-3CB1-23FCACEFD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13" y="1198176"/>
            <a:ext cx="5084639" cy="20675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446350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370CFB-A1DD-C8D5-3710-A9368E5FF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SDE</a:t>
            </a:r>
            <a:r>
              <a:rPr lang="ko-KR" altLang="en-US" dirty="0">
                <a:latin typeface="+mj-ea"/>
              </a:rPr>
              <a:t> 활용한 </a:t>
            </a:r>
            <a:r>
              <a:rPr lang="en-US" altLang="ko-KR" dirty="0">
                <a:latin typeface="+mj-ea"/>
              </a:rPr>
              <a:t>MOSFET </a:t>
            </a:r>
            <a:r>
              <a:rPr lang="ko-KR" altLang="en-US" dirty="0">
                <a:latin typeface="+mj-ea"/>
              </a:rPr>
              <a:t>구조 생성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71EEDD32-E967-A202-DDD5-40872A88BCDE}"/>
              </a:ext>
            </a:extLst>
          </p:cNvPr>
          <p:cNvCxnSpPr>
            <a:cxnSpLocks/>
          </p:cNvCxnSpPr>
          <p:nvPr/>
        </p:nvCxnSpPr>
        <p:spPr>
          <a:xfrm>
            <a:off x="183253" y="2327406"/>
            <a:ext cx="8825218" cy="0"/>
          </a:xfrm>
          <a:prstGeom prst="line">
            <a:avLst/>
          </a:prstGeom>
          <a:ln w="1905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타원 2">
            <a:extLst>
              <a:ext uri="{FF2B5EF4-FFF2-40B4-BE49-F238E27FC236}">
                <a16:creationId xmlns:a16="http://schemas.microsoft.com/office/drawing/2014/main" id="{6783A4A8-AD9A-6AAC-42D4-1D820DEDBEC0}"/>
              </a:ext>
            </a:extLst>
          </p:cNvPr>
          <p:cNvSpPr/>
          <p:nvPr/>
        </p:nvSpPr>
        <p:spPr>
          <a:xfrm>
            <a:off x="111012" y="1512758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F08D9BC6-5D45-2A5B-3376-A1515EAAA5DF}"/>
              </a:ext>
            </a:extLst>
          </p:cNvPr>
          <p:cNvSpPr/>
          <p:nvPr/>
        </p:nvSpPr>
        <p:spPr>
          <a:xfrm>
            <a:off x="111012" y="2790704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34C9FA-F779-255E-8C8A-14F37A19D92B}"/>
              </a:ext>
            </a:extLst>
          </p:cNvPr>
          <p:cNvSpPr txBox="1"/>
          <p:nvPr/>
        </p:nvSpPr>
        <p:spPr>
          <a:xfrm>
            <a:off x="511176" y="2755889"/>
            <a:ext cx="8456655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Constant doping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영역 형성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C18E71-5CC8-1989-3250-4E5B0F19CCAA}"/>
              </a:ext>
            </a:extLst>
          </p:cNvPr>
          <p:cNvSpPr txBox="1"/>
          <p:nvPr/>
        </p:nvSpPr>
        <p:spPr>
          <a:xfrm>
            <a:off x="511176" y="3125221"/>
            <a:ext cx="8531224" cy="886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sdedr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define-constant-profile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“Const.</a:t>
            </a:r>
            <a:r>
              <a:rPr lang="ko-KR" alt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이름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” “</a:t>
            </a:r>
            <a:r>
              <a:rPr lang="ko-KR" altLang="en-US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도펀트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” </a:t>
            </a:r>
            <a:r>
              <a:rPr lang="ko-KR" alt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도핑농도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sdedr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define-constant-profile-region “</a:t>
            </a:r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PlaceCD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  <a:r>
              <a:rPr lang="ko-KR" alt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이름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” “Const.</a:t>
            </a:r>
            <a:r>
              <a:rPr lang="ko-KR" alt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이름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” “</a:t>
            </a:r>
            <a:r>
              <a:rPr lang="ko-KR" alt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영역 이름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”)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59CFC4-0031-E9FC-8F58-31B6C37502BE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 command (4)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Doping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영역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설정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FC102B9-F095-8C6A-AA56-B323D179DD64}"/>
              </a:ext>
            </a:extLst>
          </p:cNvPr>
          <p:cNvCxnSpPr>
            <a:cxnSpLocks/>
          </p:cNvCxnSpPr>
          <p:nvPr/>
        </p:nvCxnSpPr>
        <p:spPr>
          <a:xfrm>
            <a:off x="3083560" y="3550920"/>
            <a:ext cx="847090" cy="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DF0C1FE-78FF-5188-0413-11EEE8F1EA45}"/>
              </a:ext>
            </a:extLst>
          </p:cNvPr>
          <p:cNvCxnSpPr>
            <a:cxnSpLocks/>
          </p:cNvCxnSpPr>
          <p:nvPr/>
        </p:nvCxnSpPr>
        <p:spPr>
          <a:xfrm>
            <a:off x="4864100" y="3982720"/>
            <a:ext cx="1136650" cy="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83B24FC2-CEF3-DB39-ECEB-DF163CE0F261}"/>
              </a:ext>
            </a:extLst>
          </p:cNvPr>
          <p:cNvCxnSpPr/>
          <p:nvPr/>
        </p:nvCxnSpPr>
        <p:spPr>
          <a:xfrm>
            <a:off x="3545840" y="3550920"/>
            <a:ext cx="650240" cy="12598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8E223DA5-81A2-BB65-9876-6FC8C9DA8E66}"/>
              </a:ext>
            </a:extLst>
          </p:cNvPr>
          <p:cNvCxnSpPr>
            <a:cxnSpLocks/>
          </p:cNvCxnSpPr>
          <p:nvPr/>
        </p:nvCxnSpPr>
        <p:spPr>
          <a:xfrm flipH="1">
            <a:off x="4348480" y="3976620"/>
            <a:ext cx="1055370" cy="8341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2CEBD94-A6B6-980F-1436-9C26C96D33BD}"/>
              </a:ext>
            </a:extLst>
          </p:cNvPr>
          <p:cNvSpPr txBox="1"/>
          <p:nvPr/>
        </p:nvSpPr>
        <p:spPr>
          <a:xfrm>
            <a:off x="3545840" y="4809740"/>
            <a:ext cx="23892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이름 같아야 함</a:t>
            </a:r>
            <a:endParaRPr lang="ko-KR" altLang="en-US" b="1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45222AB-C91E-45FC-C136-DF45EBB03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54" y="1481609"/>
            <a:ext cx="6373114" cy="72400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68CE66E1-DFA5-4C2B-664E-6BF8AEE0B2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8950"/>
          <a:stretch/>
        </p:blipFill>
        <p:spPr>
          <a:xfrm>
            <a:off x="460509" y="5742354"/>
            <a:ext cx="8270705" cy="46865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DCF0D9BE-11CA-689A-1907-FE9189DAA071}"/>
              </a:ext>
            </a:extLst>
          </p:cNvPr>
          <p:cNvCxnSpPr>
            <a:cxnSpLocks/>
          </p:cNvCxnSpPr>
          <p:nvPr/>
        </p:nvCxnSpPr>
        <p:spPr>
          <a:xfrm flipH="1" flipV="1">
            <a:off x="6591300" y="4056815"/>
            <a:ext cx="492433" cy="19198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EFFF1CA-6EC7-5809-9762-C3B23F479481}"/>
              </a:ext>
            </a:extLst>
          </p:cNvPr>
          <p:cNvSpPr txBox="1"/>
          <p:nvPr/>
        </p:nvSpPr>
        <p:spPr>
          <a:xfrm>
            <a:off x="6894503" y="4816643"/>
            <a:ext cx="23892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이름 같아야 함</a:t>
            </a:r>
            <a:endParaRPr lang="ko-KR" altLang="en-US" b="1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54F131C-2787-201B-3C4F-F8FE5179888B}"/>
              </a:ext>
            </a:extLst>
          </p:cNvPr>
          <p:cNvSpPr/>
          <p:nvPr/>
        </p:nvSpPr>
        <p:spPr>
          <a:xfrm>
            <a:off x="3193501" y="1758848"/>
            <a:ext cx="1096560" cy="2181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1882B95-6553-C607-1C13-52826FF91464}"/>
              </a:ext>
            </a:extLst>
          </p:cNvPr>
          <p:cNvSpPr/>
          <p:nvPr/>
        </p:nvSpPr>
        <p:spPr>
          <a:xfrm>
            <a:off x="4315820" y="1758848"/>
            <a:ext cx="2275480" cy="2181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527E304-CB60-8734-C628-704F4964E777}"/>
              </a:ext>
            </a:extLst>
          </p:cNvPr>
          <p:cNvSpPr/>
          <p:nvPr/>
        </p:nvSpPr>
        <p:spPr>
          <a:xfrm>
            <a:off x="3800200" y="1971697"/>
            <a:ext cx="1259480" cy="2181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0D3F470-1EBD-5385-C8A2-56BBE2F18D25}"/>
              </a:ext>
            </a:extLst>
          </p:cNvPr>
          <p:cNvSpPr/>
          <p:nvPr/>
        </p:nvSpPr>
        <p:spPr>
          <a:xfrm>
            <a:off x="5067300" y="1971697"/>
            <a:ext cx="1112520" cy="2181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8E14902-FB4D-8E93-6F6B-E718C27CA45D}"/>
              </a:ext>
            </a:extLst>
          </p:cNvPr>
          <p:cNvSpPr/>
          <p:nvPr/>
        </p:nvSpPr>
        <p:spPr>
          <a:xfrm>
            <a:off x="6179820" y="1971697"/>
            <a:ext cx="596690" cy="2181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342F2F7F-4EAE-134B-DD3A-F43C4E52C379}"/>
              </a:ext>
            </a:extLst>
          </p:cNvPr>
          <p:cNvSpPr/>
          <p:nvPr/>
        </p:nvSpPr>
        <p:spPr>
          <a:xfrm>
            <a:off x="39237" y="5705343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30034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1AB43-F513-1A1F-29AF-282A2889F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C74896-5E69-645A-8D5D-F3BC529AD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SDE</a:t>
            </a:r>
            <a:r>
              <a:rPr lang="ko-KR" altLang="en-US" dirty="0">
                <a:latin typeface="+mj-ea"/>
              </a:rPr>
              <a:t> 활용한 </a:t>
            </a:r>
            <a:r>
              <a:rPr lang="en-US" altLang="ko-KR" dirty="0">
                <a:latin typeface="+mj-ea"/>
              </a:rPr>
              <a:t>MOSFET </a:t>
            </a:r>
            <a:r>
              <a:rPr lang="ko-KR" altLang="en-US" dirty="0">
                <a:latin typeface="+mj-ea"/>
              </a:rPr>
              <a:t>구조 생성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76429F29-F3EF-3A6A-E728-4F1E89E708FE}"/>
              </a:ext>
            </a:extLst>
          </p:cNvPr>
          <p:cNvCxnSpPr>
            <a:cxnSpLocks/>
          </p:cNvCxnSpPr>
          <p:nvPr/>
        </p:nvCxnSpPr>
        <p:spPr>
          <a:xfrm>
            <a:off x="183253" y="2327406"/>
            <a:ext cx="8825218" cy="0"/>
          </a:xfrm>
          <a:prstGeom prst="line">
            <a:avLst/>
          </a:prstGeom>
          <a:ln w="1905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타원 2">
            <a:extLst>
              <a:ext uri="{FF2B5EF4-FFF2-40B4-BE49-F238E27FC236}">
                <a16:creationId xmlns:a16="http://schemas.microsoft.com/office/drawing/2014/main" id="{0C6774D4-BB63-4790-ED8E-1665D5B23774}"/>
              </a:ext>
            </a:extLst>
          </p:cNvPr>
          <p:cNvSpPr/>
          <p:nvPr/>
        </p:nvSpPr>
        <p:spPr>
          <a:xfrm>
            <a:off x="111012" y="1512758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92C30AA8-690F-2BD3-8021-83DF30A9A605}"/>
              </a:ext>
            </a:extLst>
          </p:cNvPr>
          <p:cNvSpPr/>
          <p:nvPr/>
        </p:nvSpPr>
        <p:spPr>
          <a:xfrm>
            <a:off x="111012" y="2450462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05EA7B-E954-956B-E490-87B8C735E281}"/>
              </a:ext>
            </a:extLst>
          </p:cNvPr>
          <p:cNvSpPr txBox="1"/>
          <p:nvPr/>
        </p:nvSpPr>
        <p:spPr>
          <a:xfrm>
            <a:off x="511176" y="2415647"/>
            <a:ext cx="8456655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Analytic doping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설정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5E5166-4BB7-1BDB-7B08-0F44DAAC7158}"/>
              </a:ext>
            </a:extLst>
          </p:cNvPr>
          <p:cNvSpPr txBox="1"/>
          <p:nvPr/>
        </p:nvSpPr>
        <p:spPr>
          <a:xfrm>
            <a:off x="511176" y="2784979"/>
            <a:ext cx="8531224" cy="2179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sdedr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define-</a:t>
            </a:r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refeval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-window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“</a:t>
            </a:r>
            <a:r>
              <a:rPr lang="ko-KR" altLang="en-US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도핑윈도우명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” “Line” </a:t>
            </a:r>
            <a:r>
              <a:rPr lang="ko-KR" alt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윈도우 좌표</a:t>
            </a:r>
            <a:r>
              <a:rPr lang="en-US" altLang="ko-KR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 </a:t>
            </a:r>
            <a:r>
              <a:rPr lang="ko-KR" alt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윈도우 좌표</a:t>
            </a:r>
            <a:r>
              <a:rPr lang="en-US" altLang="ko-KR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sdedr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define-gaussian-profile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“</a:t>
            </a:r>
            <a:r>
              <a:rPr lang="en-US" altLang="ko-KR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Impl</a:t>
            </a:r>
            <a:r>
              <a:rPr lang="en-US" altLang="ko-KR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  <a:r>
              <a:rPr lang="ko-KR" alt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이름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” “</a:t>
            </a:r>
            <a:r>
              <a:rPr lang="ko-KR" altLang="en-US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도펀트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” “</a:t>
            </a:r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PeakPos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”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피크농도위치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“</a:t>
            </a:r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PeakVal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” </a:t>
            </a:r>
            <a:r>
              <a:rPr lang="ko-KR" altLang="en-US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피크도핑농도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endParaRPr lang="en-US" altLang="ko-KR" sz="14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200000"/>
              </a:lnSpc>
            </a:pP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“</a:t>
            </a:r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ValueAtDepth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” </a:t>
            </a:r>
            <a:r>
              <a:rPr lang="ko-KR" altLang="en-US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접합면농도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“Depth” </a:t>
            </a:r>
            <a:r>
              <a:rPr lang="ko-KR" altLang="en-US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접합면</a:t>
            </a:r>
            <a:r>
              <a:rPr lang="ko-KR" alt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깊이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“Gauss” “Factor” </a:t>
            </a:r>
            <a:r>
              <a:rPr lang="en-US" altLang="ko-KR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Lateral </a:t>
            </a:r>
            <a:r>
              <a:rPr lang="ko-KR" alt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확산정도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sdedr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define-analytical-profile-placement “</a:t>
            </a:r>
            <a:r>
              <a:rPr lang="en-US" altLang="ko-KR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Impl</a:t>
            </a:r>
            <a:r>
              <a:rPr lang="en-US" altLang="ko-KR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  <a:r>
              <a:rPr lang="ko-KR" alt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이름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” “</a:t>
            </a:r>
            <a:r>
              <a:rPr lang="en-US" altLang="ko-KR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Impl</a:t>
            </a:r>
            <a:r>
              <a:rPr lang="en-US" altLang="ko-KR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  <a:r>
              <a:rPr lang="ko-KR" alt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이름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“ “</a:t>
            </a:r>
            <a:r>
              <a:rPr lang="ko-KR" altLang="en-US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도핑윈도우명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“ “Negative” “</a:t>
            </a:r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NoReplace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” “Eval”)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C5F37A-6908-384B-8A98-60FD28BA691E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 command (4)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Doping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영역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설정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2669DF3F-2EEC-DBBC-E088-9AE88116E04B}"/>
              </a:ext>
            </a:extLst>
          </p:cNvPr>
          <p:cNvCxnSpPr>
            <a:cxnSpLocks/>
          </p:cNvCxnSpPr>
          <p:nvPr/>
        </p:nvCxnSpPr>
        <p:spPr>
          <a:xfrm>
            <a:off x="3011715" y="3659442"/>
            <a:ext cx="847090" cy="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107F448-A537-8F6B-FBAB-AFE89969E03E}"/>
              </a:ext>
            </a:extLst>
          </p:cNvPr>
          <p:cNvCxnSpPr>
            <a:cxnSpLocks/>
          </p:cNvCxnSpPr>
          <p:nvPr/>
        </p:nvCxnSpPr>
        <p:spPr>
          <a:xfrm>
            <a:off x="4839880" y="4548442"/>
            <a:ext cx="827495" cy="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66927B77-D17C-4CA0-7BBB-05688FF68BB5}"/>
              </a:ext>
            </a:extLst>
          </p:cNvPr>
          <p:cNvCxnSpPr>
            <a:cxnSpLocks/>
          </p:cNvCxnSpPr>
          <p:nvPr/>
        </p:nvCxnSpPr>
        <p:spPr>
          <a:xfrm flipH="1">
            <a:off x="2876550" y="3705031"/>
            <a:ext cx="332015" cy="15221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6B24EBF7-5366-4569-F1BD-410B2E507314}"/>
              </a:ext>
            </a:extLst>
          </p:cNvPr>
          <p:cNvCxnSpPr>
            <a:cxnSpLocks/>
          </p:cNvCxnSpPr>
          <p:nvPr/>
        </p:nvCxnSpPr>
        <p:spPr>
          <a:xfrm flipH="1">
            <a:off x="3208565" y="4570595"/>
            <a:ext cx="1578928" cy="6565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F358323-7BE6-D7F4-18AF-8737F2703F7F}"/>
              </a:ext>
            </a:extLst>
          </p:cNvPr>
          <p:cNvSpPr txBox="1"/>
          <p:nvPr/>
        </p:nvSpPr>
        <p:spPr>
          <a:xfrm>
            <a:off x="2206648" y="5260393"/>
            <a:ext cx="23892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이름 같아야 함</a:t>
            </a:r>
            <a:endParaRPr lang="ko-KR" altLang="en-US" b="1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026D892-FD3F-C6C4-3018-41049382E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63" y="1290587"/>
            <a:ext cx="8145917" cy="94857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C3A650A6-770E-F339-0F18-55C369B647A8}"/>
              </a:ext>
            </a:extLst>
          </p:cNvPr>
          <p:cNvGrpSpPr/>
          <p:nvPr/>
        </p:nvGrpSpPr>
        <p:grpSpPr>
          <a:xfrm>
            <a:off x="6048894" y="4578421"/>
            <a:ext cx="2668386" cy="2102607"/>
            <a:chOff x="6576033" y="5095635"/>
            <a:chExt cx="1948588" cy="1522140"/>
          </a:xfrm>
        </p:grpSpPr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872B6D1F-5525-9DD1-C51F-0CC46FD9B4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8864" b="18134"/>
            <a:stretch/>
          </p:blipFill>
          <p:spPr>
            <a:xfrm>
              <a:off x="6576033" y="5095635"/>
              <a:ext cx="1273326" cy="1522140"/>
            </a:xfrm>
            <a:prstGeom prst="rect">
              <a:avLst/>
            </a:prstGeom>
          </p:spPr>
        </p:pic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B523A706-F157-14B4-344D-5F2E272225F9}"/>
                </a:ext>
              </a:extLst>
            </p:cNvPr>
            <p:cNvCxnSpPr>
              <a:cxnSpLocks/>
            </p:cNvCxnSpPr>
            <p:nvPr/>
          </p:nvCxnSpPr>
          <p:spPr>
            <a:xfrm>
              <a:off x="7054427" y="5688106"/>
              <a:ext cx="1470194" cy="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935670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370CFB-A1DD-C8D5-3710-A9368E5FF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SDE</a:t>
            </a:r>
            <a:r>
              <a:rPr lang="ko-KR" altLang="en-US" dirty="0">
                <a:latin typeface="+mj-ea"/>
              </a:rPr>
              <a:t> 활용한 </a:t>
            </a:r>
            <a:r>
              <a:rPr lang="en-US" altLang="ko-KR" dirty="0">
                <a:latin typeface="+mj-ea"/>
              </a:rPr>
              <a:t>MOSFET </a:t>
            </a:r>
            <a:r>
              <a:rPr lang="ko-KR" altLang="en-US" dirty="0">
                <a:latin typeface="+mj-ea"/>
              </a:rPr>
              <a:t>구조 생성</a:t>
            </a:r>
          </a:p>
        </p:txBody>
      </p:sp>
      <p:sp>
        <p:nvSpPr>
          <p:cNvPr id="4" name="모서리가 둥근 직사각형 2">
            <a:extLst>
              <a:ext uri="{FF2B5EF4-FFF2-40B4-BE49-F238E27FC236}">
                <a16:creationId xmlns:a16="http://schemas.microsoft.com/office/drawing/2014/main" id="{CFD8A788-B41E-9953-EEC0-206A8DC1A759}"/>
              </a:ext>
            </a:extLst>
          </p:cNvPr>
          <p:cNvSpPr/>
          <p:nvPr/>
        </p:nvSpPr>
        <p:spPr>
          <a:xfrm>
            <a:off x="255028" y="3093097"/>
            <a:ext cx="8633944" cy="3586992"/>
          </a:xfrm>
          <a:prstGeom prst="roundRect">
            <a:avLst>
              <a:gd name="adj" fmla="val 10447"/>
            </a:avLst>
          </a:prstGeom>
          <a:solidFill>
            <a:schemeClr val="bg1">
              <a:alpha val="50000"/>
            </a:schemeClr>
          </a:solidFill>
          <a:ln w="28575">
            <a:solidFill>
              <a:srgbClr val="002060"/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BCEBE0-5D13-9171-AE17-29D863B28F66}"/>
              </a:ext>
            </a:extLst>
          </p:cNvPr>
          <p:cNvSpPr txBox="1"/>
          <p:nvPr/>
        </p:nvSpPr>
        <p:spPr>
          <a:xfrm>
            <a:off x="255029" y="2573766"/>
            <a:ext cx="2926322" cy="40011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해당 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command </a:t>
            </a:r>
            <a:r>
              <a: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입력 시</a:t>
            </a: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7AC7BCF5-6ED1-DBD2-70C5-59FCD7E78684}"/>
              </a:ext>
            </a:extLst>
          </p:cNvPr>
          <p:cNvSpPr/>
          <p:nvPr/>
        </p:nvSpPr>
        <p:spPr>
          <a:xfrm>
            <a:off x="227258" y="1172573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2F2886-8E42-39DB-D5C2-E919A8E30BFE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 command (4)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Doping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영역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설정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DEA7B6A9-BC34-B8AE-BF1A-DFE9407D2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533" y="3191367"/>
            <a:ext cx="3972841" cy="343075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43801F6-503C-98D7-F798-CBE2DA3D7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1141092"/>
            <a:ext cx="6743700" cy="131345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7E3B1F7E-3AA5-411F-DED2-93E631108753}"/>
              </a:ext>
            </a:extLst>
          </p:cNvPr>
          <p:cNvSpPr/>
          <p:nvPr/>
        </p:nvSpPr>
        <p:spPr>
          <a:xfrm>
            <a:off x="227258" y="1835920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68761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370CFB-A1DD-C8D5-3710-A9368E5FF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SDE</a:t>
            </a:r>
            <a:r>
              <a:rPr lang="ko-KR" altLang="en-US" dirty="0">
                <a:latin typeface="+mj-ea"/>
              </a:rPr>
              <a:t> 활용한 </a:t>
            </a:r>
            <a:r>
              <a:rPr lang="en-US" altLang="ko-KR" dirty="0">
                <a:latin typeface="+mj-ea"/>
              </a:rPr>
              <a:t>MOSFET </a:t>
            </a:r>
            <a:r>
              <a:rPr lang="ko-KR" altLang="en-US" dirty="0">
                <a:latin typeface="+mj-ea"/>
              </a:rPr>
              <a:t>구조 생성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2F2886-8E42-39DB-D5C2-E919A8E30BFE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 command (5)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Mesh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영역 설정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B8BC7974-B59D-950A-110F-DB1FE0C00A9A}"/>
              </a:ext>
            </a:extLst>
          </p:cNvPr>
          <p:cNvSpPr/>
          <p:nvPr/>
        </p:nvSpPr>
        <p:spPr>
          <a:xfrm>
            <a:off x="142613" y="1708869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99C63D31-718D-B321-8B20-5137A293063E}"/>
              </a:ext>
            </a:extLst>
          </p:cNvPr>
          <p:cNvSpPr/>
          <p:nvPr/>
        </p:nvSpPr>
        <p:spPr>
          <a:xfrm>
            <a:off x="142613" y="3410282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D9E930-03C6-ABE4-653F-9A80DF012809}"/>
              </a:ext>
            </a:extLst>
          </p:cNvPr>
          <p:cNvSpPr txBox="1"/>
          <p:nvPr/>
        </p:nvSpPr>
        <p:spPr>
          <a:xfrm>
            <a:off x="511176" y="3358358"/>
            <a:ext cx="8456655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각 영역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mesh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정의 및 설정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CC03C2-0AE3-BDA8-6A0D-D4824EF6CECC}"/>
              </a:ext>
            </a:extLst>
          </p:cNvPr>
          <p:cNvSpPr txBox="1"/>
          <p:nvPr/>
        </p:nvSpPr>
        <p:spPr>
          <a:xfrm>
            <a:off x="362460" y="3693538"/>
            <a:ext cx="8638927" cy="1523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sdedr:define-refeval-window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“</a:t>
            </a:r>
            <a:r>
              <a:rPr lang="en-US" altLang="ko-K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mesh </a:t>
            </a:r>
            <a:r>
              <a:rPr lang="ko-KR" alt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영역 이름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” “Rectangle” “</a:t>
            </a:r>
            <a:r>
              <a:rPr lang="ko-KR" alt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영역 좌표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”)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sdedr:define-refinement-size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“</a:t>
            </a:r>
            <a:r>
              <a:rPr lang="en-US" altLang="ko-K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mesh </a:t>
            </a:r>
            <a:r>
              <a:rPr lang="ko-KR" alt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크기 이름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” </a:t>
            </a:r>
            <a:r>
              <a:rPr lang="en-US" altLang="ko-K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mesh size x </a:t>
            </a:r>
            <a:r>
              <a:rPr lang="ko-KR" alt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최대</a:t>
            </a:r>
            <a:r>
              <a:rPr lang="en-US" altLang="ko-K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x </a:t>
            </a:r>
            <a:r>
              <a:rPr lang="ko-KR" alt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최소</a:t>
            </a:r>
            <a:r>
              <a:rPr lang="en-US" altLang="ko-K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0, y</a:t>
            </a:r>
            <a:r>
              <a:rPr lang="ko-KR" alt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최대</a:t>
            </a:r>
            <a:r>
              <a:rPr lang="en-US" altLang="ko-K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y</a:t>
            </a:r>
            <a:r>
              <a:rPr lang="ko-KR" alt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최소</a:t>
            </a:r>
            <a:r>
              <a:rPr lang="en-US" altLang="ko-K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0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sdedr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define-refinement-placement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“</a:t>
            </a:r>
            <a:r>
              <a:rPr lang="en-US" altLang="ko-K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mesh </a:t>
            </a:r>
            <a:r>
              <a:rPr lang="ko-KR" alt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위치 이름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” “</a:t>
            </a:r>
            <a:r>
              <a:rPr lang="en-US" altLang="ko-K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mesh </a:t>
            </a:r>
            <a:r>
              <a:rPr lang="ko-KR" alt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크기이름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” (list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“window”  “</a:t>
            </a:r>
            <a:r>
              <a:rPr lang="en-US" altLang="ko-K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mesh </a:t>
            </a:r>
            <a:r>
              <a:rPr lang="ko-KR" alt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영역 이름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”))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8B7735A-F2F8-6711-247F-5608933D4867}"/>
              </a:ext>
            </a:extLst>
          </p:cNvPr>
          <p:cNvCxnSpPr>
            <a:cxnSpLocks/>
          </p:cNvCxnSpPr>
          <p:nvPr/>
        </p:nvCxnSpPr>
        <p:spPr>
          <a:xfrm>
            <a:off x="142613" y="3272455"/>
            <a:ext cx="8825218" cy="0"/>
          </a:xfrm>
          <a:prstGeom prst="line">
            <a:avLst/>
          </a:prstGeom>
          <a:ln w="1905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618EF021-4FE3-86E3-91E6-6D91BE1DC8F6}"/>
              </a:ext>
            </a:extLst>
          </p:cNvPr>
          <p:cNvCxnSpPr>
            <a:cxnSpLocks/>
          </p:cNvCxnSpPr>
          <p:nvPr/>
        </p:nvCxnSpPr>
        <p:spPr>
          <a:xfrm>
            <a:off x="3167380" y="4460240"/>
            <a:ext cx="1485900" cy="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50256179-B33C-9202-9485-0ECB8969327E}"/>
              </a:ext>
            </a:extLst>
          </p:cNvPr>
          <p:cNvCxnSpPr>
            <a:cxnSpLocks/>
          </p:cNvCxnSpPr>
          <p:nvPr/>
        </p:nvCxnSpPr>
        <p:spPr>
          <a:xfrm>
            <a:off x="5412740" y="4815840"/>
            <a:ext cx="1485900" cy="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C387EAC7-B9A0-2ED6-5C77-6414785FB492}"/>
              </a:ext>
            </a:extLst>
          </p:cNvPr>
          <p:cNvCxnSpPr>
            <a:cxnSpLocks/>
          </p:cNvCxnSpPr>
          <p:nvPr/>
        </p:nvCxnSpPr>
        <p:spPr>
          <a:xfrm>
            <a:off x="4509426" y="4460240"/>
            <a:ext cx="650240" cy="12598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C3CB63A4-08BF-E42C-D57D-44E550CAA458}"/>
              </a:ext>
            </a:extLst>
          </p:cNvPr>
          <p:cNvCxnSpPr>
            <a:cxnSpLocks/>
          </p:cNvCxnSpPr>
          <p:nvPr/>
        </p:nvCxnSpPr>
        <p:spPr>
          <a:xfrm flipH="1">
            <a:off x="5312066" y="4880963"/>
            <a:ext cx="316574" cy="8391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931A54C-4F2A-2857-4551-76E814431F7D}"/>
              </a:ext>
            </a:extLst>
          </p:cNvPr>
          <p:cNvSpPr txBox="1"/>
          <p:nvPr/>
        </p:nvSpPr>
        <p:spPr>
          <a:xfrm>
            <a:off x="4509426" y="5719060"/>
            <a:ext cx="23892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이름 같아야 함</a:t>
            </a:r>
            <a:endParaRPr lang="ko-KR" altLang="en-US" b="1" dirty="0"/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22DE47B9-C6D7-332F-88C2-168156D82E55}"/>
              </a:ext>
            </a:extLst>
          </p:cNvPr>
          <p:cNvCxnSpPr>
            <a:cxnSpLocks/>
          </p:cNvCxnSpPr>
          <p:nvPr/>
        </p:nvCxnSpPr>
        <p:spPr>
          <a:xfrm>
            <a:off x="3131820" y="4084320"/>
            <a:ext cx="1485900" cy="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9ABE28AC-3E59-ABD9-90D8-F646CDA2B33A}"/>
              </a:ext>
            </a:extLst>
          </p:cNvPr>
          <p:cNvCxnSpPr>
            <a:cxnSpLocks/>
          </p:cNvCxnSpPr>
          <p:nvPr/>
        </p:nvCxnSpPr>
        <p:spPr>
          <a:xfrm>
            <a:off x="480060" y="5181600"/>
            <a:ext cx="1485900" cy="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6F53EEF7-C9BD-9AD4-20B5-B55161465F5F}"/>
              </a:ext>
            </a:extLst>
          </p:cNvPr>
          <p:cNvCxnSpPr>
            <a:cxnSpLocks/>
          </p:cNvCxnSpPr>
          <p:nvPr/>
        </p:nvCxnSpPr>
        <p:spPr>
          <a:xfrm>
            <a:off x="1841474" y="5217160"/>
            <a:ext cx="795046" cy="3351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853DDC77-4762-1F90-90F5-67ABFEA86340}"/>
              </a:ext>
            </a:extLst>
          </p:cNvPr>
          <p:cNvCxnSpPr>
            <a:cxnSpLocks/>
          </p:cNvCxnSpPr>
          <p:nvPr/>
        </p:nvCxnSpPr>
        <p:spPr>
          <a:xfrm flipH="1">
            <a:off x="2737497" y="4130184"/>
            <a:ext cx="536537" cy="14221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6FA14B2-996A-BD56-0755-F875E252B642}"/>
              </a:ext>
            </a:extLst>
          </p:cNvPr>
          <p:cNvSpPr txBox="1"/>
          <p:nvPr/>
        </p:nvSpPr>
        <p:spPr>
          <a:xfrm>
            <a:off x="1937213" y="5603394"/>
            <a:ext cx="23892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이름 같아야 함</a:t>
            </a:r>
            <a:endParaRPr lang="ko-KR" altLang="en-US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6D882FB-5713-8BE2-7CFE-916069807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241" y="1371853"/>
            <a:ext cx="8227765" cy="141159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277534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897B1-EF28-21C8-D575-ADA1F3E75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0DC61A-3989-E55E-60EB-0FC1D58C6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SDE</a:t>
            </a:r>
            <a:r>
              <a:rPr lang="ko-KR" altLang="en-US" dirty="0">
                <a:latin typeface="+mj-ea"/>
              </a:rPr>
              <a:t> 활용한 </a:t>
            </a:r>
            <a:r>
              <a:rPr lang="en-US" altLang="ko-KR" dirty="0">
                <a:latin typeface="+mj-ea"/>
              </a:rPr>
              <a:t>MOSFET </a:t>
            </a:r>
            <a:r>
              <a:rPr lang="ko-KR" altLang="en-US" dirty="0">
                <a:latin typeface="+mj-ea"/>
              </a:rPr>
              <a:t>구조 생성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4CC515-5321-A0DE-6D93-BBD62268DD61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 command (5)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Mesh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영역 설정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A7A6B0CD-9186-1C1A-A7A0-FE8ECAE9939A}"/>
              </a:ext>
            </a:extLst>
          </p:cNvPr>
          <p:cNvSpPr/>
          <p:nvPr/>
        </p:nvSpPr>
        <p:spPr>
          <a:xfrm>
            <a:off x="142613" y="1708869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8D688997-149B-8A41-A36F-42CCC5997A16}"/>
              </a:ext>
            </a:extLst>
          </p:cNvPr>
          <p:cNvSpPr/>
          <p:nvPr/>
        </p:nvSpPr>
        <p:spPr>
          <a:xfrm>
            <a:off x="142613" y="3410282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A83115-A36F-13BD-BF13-DDB06E2B02C9}"/>
              </a:ext>
            </a:extLst>
          </p:cNvPr>
          <p:cNvSpPr txBox="1"/>
          <p:nvPr/>
        </p:nvSpPr>
        <p:spPr>
          <a:xfrm>
            <a:off x="511176" y="3358358"/>
            <a:ext cx="8456655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각 영역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mesh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정의 및 설정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21D3C2BB-2ED0-9F14-C528-FD9DC0350567}"/>
              </a:ext>
            </a:extLst>
          </p:cNvPr>
          <p:cNvCxnSpPr>
            <a:cxnSpLocks/>
          </p:cNvCxnSpPr>
          <p:nvPr/>
        </p:nvCxnSpPr>
        <p:spPr>
          <a:xfrm>
            <a:off x="142613" y="3272455"/>
            <a:ext cx="8825218" cy="0"/>
          </a:xfrm>
          <a:prstGeom prst="line">
            <a:avLst/>
          </a:prstGeom>
          <a:ln w="1905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DE99A37F-1003-BD53-FDDA-1681E1647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241" y="1371853"/>
            <a:ext cx="8227765" cy="141159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E72AE71-590A-2BD5-06DA-1149F7F1304D}"/>
              </a:ext>
            </a:extLst>
          </p:cNvPr>
          <p:cNvSpPr txBox="1"/>
          <p:nvPr/>
        </p:nvSpPr>
        <p:spPr>
          <a:xfrm>
            <a:off x="511176" y="3764658"/>
            <a:ext cx="8301743" cy="784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Body, gate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반도체 소자의 특성에 중요하지 않은 부분은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mesh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를 넓게 설정</a:t>
            </a:r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Oxide, channel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반도체 소자의 특성에 중요한 부분은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mesh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를 좁게 설정</a:t>
            </a:r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379348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370CFB-A1DD-C8D5-3710-A9368E5FF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SDE</a:t>
            </a:r>
            <a:r>
              <a:rPr lang="ko-KR" altLang="en-US" dirty="0">
                <a:latin typeface="+mj-ea"/>
              </a:rPr>
              <a:t> 활용한 </a:t>
            </a:r>
            <a:r>
              <a:rPr lang="en-US" altLang="ko-KR" dirty="0">
                <a:latin typeface="+mj-ea"/>
              </a:rPr>
              <a:t>MOSFET </a:t>
            </a:r>
            <a:r>
              <a:rPr lang="ko-KR" altLang="en-US" dirty="0">
                <a:latin typeface="+mj-ea"/>
              </a:rPr>
              <a:t>구조 생성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2F2886-8E42-39DB-D5C2-E919A8E30BFE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 command (5)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Mesh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영역 설정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8B7735A-F2F8-6711-247F-5608933D4867}"/>
              </a:ext>
            </a:extLst>
          </p:cNvPr>
          <p:cNvCxnSpPr>
            <a:cxnSpLocks/>
          </p:cNvCxnSpPr>
          <p:nvPr/>
        </p:nvCxnSpPr>
        <p:spPr>
          <a:xfrm>
            <a:off x="142613" y="3858243"/>
            <a:ext cx="8825218" cy="0"/>
          </a:xfrm>
          <a:prstGeom prst="line">
            <a:avLst/>
          </a:prstGeom>
          <a:ln w="1905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타원 3">
            <a:extLst>
              <a:ext uri="{FF2B5EF4-FFF2-40B4-BE49-F238E27FC236}">
                <a16:creationId xmlns:a16="http://schemas.microsoft.com/office/drawing/2014/main" id="{8F38912D-8CCB-F98F-0F66-1BD0667FBA80}"/>
              </a:ext>
            </a:extLst>
          </p:cNvPr>
          <p:cNvSpPr/>
          <p:nvPr/>
        </p:nvSpPr>
        <p:spPr>
          <a:xfrm>
            <a:off x="142613" y="4021470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CCEC13-9384-216D-5E68-D63706851346}"/>
              </a:ext>
            </a:extLst>
          </p:cNvPr>
          <p:cNvSpPr txBox="1"/>
          <p:nvPr/>
        </p:nvSpPr>
        <p:spPr>
          <a:xfrm>
            <a:off x="511176" y="3969546"/>
            <a:ext cx="8456655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각 영역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mesh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정의 및 설정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B3A27B-138F-B906-D036-61B7BF2449C7}"/>
              </a:ext>
            </a:extLst>
          </p:cNvPr>
          <p:cNvSpPr txBox="1"/>
          <p:nvPr/>
        </p:nvSpPr>
        <p:spPr>
          <a:xfrm>
            <a:off x="511176" y="4441886"/>
            <a:ext cx="8301743" cy="2262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각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meshing point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마다 </a:t>
            </a:r>
            <a:r>
              <a:rPr lang="ko-KR" alt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푸아송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방정식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(Poisson equation)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및 연속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방정식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(Continuity equation)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을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self-consistent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하게 계산해 전하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전기장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ko-KR" altLang="en-US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포텐셜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및 전류 밀도 정보 확보</a:t>
            </a:r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</a:t>
            </a:r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Mesh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가 넓으면 계산의 정확도 감소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시뮬레이션 시간 감소</a:t>
            </a:r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Mesh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가 좁으면 계산의 정확도 증가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시뮬레이션 시간 증가</a:t>
            </a:r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 Meshing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최적화 중요</a:t>
            </a:r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116A72-43E6-1783-28C8-A45DC45C4E2D}"/>
              </a:ext>
            </a:extLst>
          </p:cNvPr>
          <p:cNvSpPr txBox="1"/>
          <p:nvPr/>
        </p:nvSpPr>
        <p:spPr>
          <a:xfrm>
            <a:off x="3880849" y="1934159"/>
            <a:ext cx="952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Channel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7F01DA-8810-A51A-7199-F22723E670FE}"/>
              </a:ext>
            </a:extLst>
          </p:cNvPr>
          <p:cNvSpPr txBox="1"/>
          <p:nvPr/>
        </p:nvSpPr>
        <p:spPr>
          <a:xfrm>
            <a:off x="4045103" y="3138911"/>
            <a:ext cx="657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Body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1715B7-67DA-4F94-FBCA-F9FA6BBC60BF}"/>
              </a:ext>
            </a:extLst>
          </p:cNvPr>
          <p:cNvSpPr txBox="1"/>
          <p:nvPr/>
        </p:nvSpPr>
        <p:spPr>
          <a:xfrm>
            <a:off x="4012149" y="1653897"/>
            <a:ext cx="725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Oxide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0CFCCB-12BF-1C5E-09C1-32F87012A0CF}"/>
              </a:ext>
            </a:extLst>
          </p:cNvPr>
          <p:cNvSpPr txBox="1"/>
          <p:nvPr/>
        </p:nvSpPr>
        <p:spPr>
          <a:xfrm>
            <a:off x="4059434" y="1323855"/>
            <a:ext cx="62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Gate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F91740A-6197-8579-9AE8-AB0CF1DA1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763" y="1154807"/>
            <a:ext cx="3010232" cy="258727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632807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370CFB-A1DD-C8D5-3710-A9368E5FF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SDE</a:t>
            </a:r>
            <a:r>
              <a:rPr lang="ko-KR" altLang="en-US" dirty="0">
                <a:latin typeface="+mj-ea"/>
              </a:rPr>
              <a:t> 활용한 </a:t>
            </a:r>
            <a:r>
              <a:rPr lang="en-US" altLang="ko-KR" dirty="0">
                <a:latin typeface="+mj-ea"/>
              </a:rPr>
              <a:t>MOSFET </a:t>
            </a:r>
            <a:r>
              <a:rPr lang="ko-KR" altLang="en-US" dirty="0">
                <a:latin typeface="+mj-ea"/>
              </a:rPr>
              <a:t>구조 생성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2F2886-8E42-39DB-D5C2-E919A8E30BFE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 command (6)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구조 파일 생성 설정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8B7735A-F2F8-6711-247F-5608933D4867}"/>
              </a:ext>
            </a:extLst>
          </p:cNvPr>
          <p:cNvCxnSpPr>
            <a:cxnSpLocks/>
          </p:cNvCxnSpPr>
          <p:nvPr/>
        </p:nvCxnSpPr>
        <p:spPr>
          <a:xfrm>
            <a:off x="142613" y="2063415"/>
            <a:ext cx="8825218" cy="0"/>
          </a:xfrm>
          <a:prstGeom prst="line">
            <a:avLst/>
          </a:prstGeom>
          <a:ln w="1905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타원 3">
            <a:extLst>
              <a:ext uri="{FF2B5EF4-FFF2-40B4-BE49-F238E27FC236}">
                <a16:creationId xmlns:a16="http://schemas.microsoft.com/office/drawing/2014/main" id="{8F38912D-8CCB-F98F-0F66-1BD0667FBA80}"/>
              </a:ext>
            </a:extLst>
          </p:cNvPr>
          <p:cNvSpPr/>
          <p:nvPr/>
        </p:nvSpPr>
        <p:spPr>
          <a:xfrm>
            <a:off x="142613" y="2226642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CCEC13-9384-216D-5E68-D63706851346}"/>
              </a:ext>
            </a:extLst>
          </p:cNvPr>
          <p:cNvSpPr txBox="1"/>
          <p:nvPr/>
        </p:nvSpPr>
        <p:spPr>
          <a:xfrm>
            <a:off x="511176" y="2174718"/>
            <a:ext cx="8456655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구조 파일 생성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B3A27B-138F-B906-D036-61B7BF2449C7}"/>
              </a:ext>
            </a:extLst>
          </p:cNvPr>
          <p:cNvSpPr txBox="1"/>
          <p:nvPr/>
        </p:nvSpPr>
        <p:spPr>
          <a:xfrm>
            <a:off x="511176" y="2672458"/>
            <a:ext cx="8301743" cy="1524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SWB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상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해당 노드 번호를 바탕으로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tdr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구조 파일 생성</a:t>
            </a:r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Ex.)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SDE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구조를 돌리는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node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가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21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번일 경우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구조 파일명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n21_msh.tdr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만약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sde:build-mesh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“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n@node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@_Final”)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로 저장할 시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구조 파일명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n21_Final_msh.tdr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69BFCA6B-AC14-6E5B-9EA9-716ACB2A0107}"/>
              </a:ext>
            </a:extLst>
          </p:cNvPr>
          <p:cNvSpPr/>
          <p:nvPr/>
        </p:nvSpPr>
        <p:spPr>
          <a:xfrm>
            <a:off x="142613" y="1325389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377174-F17E-CCDA-BB20-4BDC3F39BCAF}"/>
              </a:ext>
            </a:extLst>
          </p:cNvPr>
          <p:cNvSpPr txBox="1"/>
          <p:nvPr/>
        </p:nvSpPr>
        <p:spPr>
          <a:xfrm>
            <a:off x="5519420" y="2672458"/>
            <a:ext cx="2827020" cy="375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u="sng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SWB </a:t>
            </a:r>
            <a:r>
              <a:rPr lang="ko-KR" altLang="en-US" sz="1400" b="1" u="sng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노드는 </a:t>
            </a:r>
            <a:r>
              <a:rPr lang="en-US" altLang="ko-KR" sz="1400" b="1" u="sng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F9 </a:t>
            </a:r>
            <a:r>
              <a:rPr lang="ko-KR" altLang="en-US" sz="1400" b="1" u="sng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눌러 확인 가능</a:t>
            </a:r>
            <a:endParaRPr lang="en-US" altLang="ko-KR" sz="1400" b="1" u="sng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5B2B895-BA1C-6E08-6F6F-01E72B43F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31" y="1325389"/>
            <a:ext cx="2238687" cy="37152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906748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370CFB-A1DD-C8D5-3710-A9368E5FF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SDE</a:t>
            </a:r>
            <a:r>
              <a:rPr lang="ko-KR" altLang="en-US" dirty="0">
                <a:latin typeface="+mj-ea"/>
              </a:rPr>
              <a:t> 활용한 </a:t>
            </a:r>
            <a:r>
              <a:rPr lang="en-US" altLang="ko-KR" dirty="0">
                <a:latin typeface="+mj-ea"/>
              </a:rPr>
              <a:t>MOSFET </a:t>
            </a:r>
            <a:r>
              <a:rPr lang="ko-KR" altLang="en-US" dirty="0">
                <a:latin typeface="+mj-ea"/>
              </a:rPr>
              <a:t>구조 생성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2F2886-8E42-39DB-D5C2-E919A8E30BFE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 command (7)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변수 설정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BB5AB9-3604-B802-59D8-7D61619A92E2}"/>
              </a:ext>
            </a:extLst>
          </p:cNvPr>
          <p:cNvSpPr txBox="1"/>
          <p:nvPr/>
        </p:nvSpPr>
        <p:spPr>
          <a:xfrm>
            <a:off x="142612" y="4046646"/>
            <a:ext cx="8942663" cy="2118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1. SDE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하단 칸 </a:t>
            </a: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우클릭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Add Parameter/Values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클릭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2. P</a:t>
            </a:r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arameter</a:t>
            </a:r>
            <a:r>
              <a:rPr lang="ko-KR" altLang="en-US" sz="1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</a:t>
            </a:r>
            <a:r>
              <a:rPr lang="ko-KR" altLang="en-US" sz="1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SDE command</a:t>
            </a:r>
            <a:r>
              <a:rPr lang="ko-KR" altLang="en-US" sz="1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에서 선언한 변수이름 입력</a:t>
            </a:r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(ex.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Lg</a:t>
            </a:r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3. L</a:t>
            </a:r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ist of Value :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해당 변수의 값 입력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기본 길이 단위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μm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 (ex. 1  1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μm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띄어쓰기를 통해 여러 값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동시에 입력 가능 </a:t>
            </a:r>
            <a:r>
              <a:rPr lang="en-US" altLang="ko-KR" sz="18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(ex. 1 0.9)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4. OK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클릭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Lg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에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1, 0.9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할당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A5EF5C-C600-FC09-ADC4-BDDC407CE877}"/>
              </a:ext>
            </a:extLst>
          </p:cNvPr>
          <p:cNvSpPr txBox="1"/>
          <p:nvPr/>
        </p:nvSpPr>
        <p:spPr>
          <a:xfrm>
            <a:off x="177199" y="3745991"/>
            <a:ext cx="8456655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Project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화면에서 변수 값 설정 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7DC280F-4756-20DB-0666-80101DC2CF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235" b="36207"/>
          <a:stretch>
            <a:fillRect/>
          </a:stretch>
        </p:blipFill>
        <p:spPr>
          <a:xfrm>
            <a:off x="282075" y="1290320"/>
            <a:ext cx="2779221" cy="236717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A9911417-C6A3-A78C-77F0-984A40600E00}"/>
              </a:ext>
            </a:extLst>
          </p:cNvPr>
          <p:cNvSpPr/>
          <p:nvPr/>
        </p:nvSpPr>
        <p:spPr>
          <a:xfrm>
            <a:off x="1079379" y="1975842"/>
            <a:ext cx="1466982" cy="2466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9D660E4-535E-5515-F79D-54D429EC5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4455" y="1277704"/>
            <a:ext cx="2135090" cy="238894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C3553652-FE37-FC77-DB09-039067D77509}"/>
              </a:ext>
            </a:extLst>
          </p:cNvPr>
          <p:cNvSpPr/>
          <p:nvPr/>
        </p:nvSpPr>
        <p:spPr>
          <a:xfrm>
            <a:off x="5552214" y="1920941"/>
            <a:ext cx="436227" cy="420991"/>
          </a:xfrm>
          <a:prstGeom prst="rightArrow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DBA56259-BCCA-DA65-DF05-D6FA7BBF8792}"/>
              </a:ext>
            </a:extLst>
          </p:cNvPr>
          <p:cNvSpPr/>
          <p:nvPr/>
        </p:nvSpPr>
        <p:spPr>
          <a:xfrm>
            <a:off x="3076369" y="1888686"/>
            <a:ext cx="436227" cy="420991"/>
          </a:xfrm>
          <a:prstGeom prst="rightArrow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04B0C8D-0BB4-72F6-2723-C94D15B74A19}"/>
              </a:ext>
            </a:extLst>
          </p:cNvPr>
          <p:cNvSpPr/>
          <p:nvPr/>
        </p:nvSpPr>
        <p:spPr>
          <a:xfrm>
            <a:off x="3956963" y="1554763"/>
            <a:ext cx="815062" cy="1679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0974CFC-D170-AA54-B4A9-83FEFA719608}"/>
              </a:ext>
            </a:extLst>
          </p:cNvPr>
          <p:cNvSpPr/>
          <p:nvPr/>
        </p:nvSpPr>
        <p:spPr>
          <a:xfrm>
            <a:off x="3956963" y="2216077"/>
            <a:ext cx="815062" cy="1679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70654B7-B3E3-BBB1-FF96-A2F55D56AA76}"/>
              </a:ext>
            </a:extLst>
          </p:cNvPr>
          <p:cNvSpPr/>
          <p:nvPr/>
        </p:nvSpPr>
        <p:spPr>
          <a:xfrm>
            <a:off x="3887113" y="3466758"/>
            <a:ext cx="427712" cy="1679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7FDBB1B8-F523-F482-8EAB-EDE5CD5A72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2053" y="1267058"/>
            <a:ext cx="2812933" cy="126812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0F9AC1B0-B456-2031-E184-EF69B13B48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2872" y="2832229"/>
            <a:ext cx="2837354" cy="64571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4149C04C-5FD2-DEF2-5D14-A9B318D4AD8E}"/>
              </a:ext>
            </a:extLst>
          </p:cNvPr>
          <p:cNvSpPr/>
          <p:nvPr/>
        </p:nvSpPr>
        <p:spPr>
          <a:xfrm>
            <a:off x="7013773" y="1896306"/>
            <a:ext cx="680630" cy="5573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37669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6AC4252-0D29-F4AA-6406-FF56A8BF78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45516" b="47019"/>
          <a:stretch/>
        </p:blipFill>
        <p:spPr>
          <a:xfrm>
            <a:off x="248455" y="1455130"/>
            <a:ext cx="3432685" cy="245844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F370CFB-A1DD-C8D5-3710-A9368E5FF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SDE Simulation </a:t>
            </a:r>
            <a:r>
              <a:rPr lang="ko-KR" altLang="en-US" dirty="0">
                <a:latin typeface="+mj-ea"/>
              </a:rPr>
              <a:t>실행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2F2886-8E42-39DB-D5C2-E919A8E30BFE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 Simulation Run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1CD3D279-0528-41BA-C381-4D8E4D54B0C1}"/>
              </a:ext>
            </a:extLst>
          </p:cNvPr>
          <p:cNvSpPr/>
          <p:nvPr/>
        </p:nvSpPr>
        <p:spPr>
          <a:xfrm>
            <a:off x="5866699" y="2465406"/>
            <a:ext cx="436227" cy="420991"/>
          </a:xfrm>
          <a:prstGeom prst="rightArrow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03C022-2733-02AB-C477-90AFE86314B6}"/>
              </a:ext>
            </a:extLst>
          </p:cNvPr>
          <p:cNvSpPr txBox="1"/>
          <p:nvPr/>
        </p:nvSpPr>
        <p:spPr>
          <a:xfrm>
            <a:off x="142614" y="4312083"/>
            <a:ext cx="8212822" cy="16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1. Command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입력 완료 후 저장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input file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닫기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20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2. SDE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아래칸 </a:t>
            </a: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우클릭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Run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클릭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20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3. Run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창이 뜨면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Queue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칸을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‘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local:default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’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확인 후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OK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클릭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6EBDCCE-C41C-8AA8-54B6-012AD4806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3457" y="1455130"/>
            <a:ext cx="4300145" cy="245844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0462690-0F74-9174-3622-0731AD2F8E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820" y="4173649"/>
            <a:ext cx="2700652" cy="245844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42E0C382-47F8-AC5C-8CCD-DFB521AE05E7}"/>
              </a:ext>
            </a:extLst>
          </p:cNvPr>
          <p:cNvSpPr/>
          <p:nvPr/>
        </p:nvSpPr>
        <p:spPr>
          <a:xfrm>
            <a:off x="7111169" y="6362841"/>
            <a:ext cx="568566" cy="2432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335DE7C-A78C-7208-10A0-215703195E2E}"/>
              </a:ext>
            </a:extLst>
          </p:cNvPr>
          <p:cNvSpPr/>
          <p:nvPr/>
        </p:nvSpPr>
        <p:spPr>
          <a:xfrm>
            <a:off x="7044476" y="4675306"/>
            <a:ext cx="1956910" cy="2624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FC6F3D5-FA7C-2C97-29BD-8A97E5CDA287}"/>
              </a:ext>
            </a:extLst>
          </p:cNvPr>
          <p:cNvSpPr/>
          <p:nvPr/>
        </p:nvSpPr>
        <p:spPr>
          <a:xfrm>
            <a:off x="7004338" y="2925534"/>
            <a:ext cx="1246884" cy="2058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03689D0A-A0BE-76F5-5D96-46C51BEFBB2F}"/>
              </a:ext>
            </a:extLst>
          </p:cNvPr>
          <p:cNvSpPr/>
          <p:nvPr/>
        </p:nvSpPr>
        <p:spPr>
          <a:xfrm>
            <a:off x="3604018" y="2465406"/>
            <a:ext cx="436227" cy="420991"/>
          </a:xfrm>
          <a:prstGeom prst="rightArrow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65B9C7B7-5253-AA0D-1A0C-D52BB8C72CC1}"/>
              </a:ext>
            </a:extLst>
          </p:cNvPr>
          <p:cNvSpPr/>
          <p:nvPr/>
        </p:nvSpPr>
        <p:spPr>
          <a:xfrm rot="5400000">
            <a:off x="7387834" y="3837183"/>
            <a:ext cx="436227" cy="420991"/>
          </a:xfrm>
          <a:prstGeom prst="rightArrow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71167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370CFB-A1DD-C8D5-3710-A9368E5FF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SDE Simulation </a:t>
            </a:r>
            <a:r>
              <a:rPr lang="ko-KR" altLang="en-US" dirty="0">
                <a:latin typeface="+mj-ea"/>
              </a:rPr>
              <a:t>상태 확인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2F2886-8E42-39DB-D5C2-E919A8E30BFE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 Simulation Run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11E103-8744-6F54-85E0-4D760A15497A}"/>
              </a:ext>
            </a:extLst>
          </p:cNvPr>
          <p:cNvSpPr txBox="1"/>
          <p:nvPr/>
        </p:nvSpPr>
        <p:spPr>
          <a:xfrm>
            <a:off x="162681" y="3933386"/>
            <a:ext cx="848636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1. Run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동작 시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running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상태로 변경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20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2. Command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이상 없을 시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완료 상태로 변경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20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3. Command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이상 있을 시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error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상태로 변경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20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4. Error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발생 시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command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재확인 및 수정 진행 후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run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재실행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(</a:t>
            </a:r>
            <a:r>
              <a:rPr lang="en-US" altLang="ko-KR" sz="1600" u="sng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error </a:t>
            </a:r>
            <a:r>
              <a:rPr lang="ko-KR" altLang="en-US" sz="1600" u="sng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발생한 </a:t>
            </a:r>
            <a:r>
              <a:rPr lang="en-US" altLang="ko-KR" sz="1600" u="sng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node</a:t>
            </a:r>
            <a:r>
              <a:rPr lang="ko-KR" altLang="en-US" sz="1600" u="sng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를 </a:t>
            </a:r>
            <a:r>
              <a:rPr lang="ko-KR" altLang="en-US" sz="1600" u="sng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더블클릭하여</a:t>
            </a:r>
            <a:r>
              <a:rPr lang="ko-KR" altLang="en-US" sz="1600" u="sng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600" u="sng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error</a:t>
            </a:r>
            <a:r>
              <a:rPr lang="ko-KR" altLang="en-US" sz="1600" u="sng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원인 확인 가능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EA86727-EC02-D31B-87BE-4F63F3B33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495" y="1488127"/>
            <a:ext cx="2105025" cy="136207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7C0CE2E-D080-A02F-5E7D-CBEF5A4A7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309" y="1488127"/>
            <a:ext cx="2009775" cy="138112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B003621-AADC-3802-9BDA-80FD4B8238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681" y="1469077"/>
            <a:ext cx="2105025" cy="138112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7FD92F97-1B45-58CC-77DD-FDAFCC468B4C}"/>
              </a:ext>
            </a:extLst>
          </p:cNvPr>
          <p:cNvSpPr/>
          <p:nvPr/>
        </p:nvSpPr>
        <p:spPr>
          <a:xfrm>
            <a:off x="2510987" y="2002368"/>
            <a:ext cx="436227" cy="420991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3C0576BD-E6F2-B60F-4230-C2F32E04BBFF}"/>
              </a:ext>
            </a:extLst>
          </p:cNvPr>
          <p:cNvSpPr/>
          <p:nvPr/>
        </p:nvSpPr>
        <p:spPr>
          <a:xfrm>
            <a:off x="5538801" y="2002368"/>
            <a:ext cx="436227" cy="420991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B58894-A131-9A46-E359-F0FE16140624}"/>
              </a:ext>
            </a:extLst>
          </p:cNvPr>
          <p:cNvSpPr txBox="1"/>
          <p:nvPr/>
        </p:nvSpPr>
        <p:spPr>
          <a:xfrm>
            <a:off x="162681" y="2906697"/>
            <a:ext cx="21050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&lt;None </a:t>
            </a:r>
            <a:r>
              <a: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상태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ko-KR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BD01F1-2130-D1FA-D231-8362C6A637CD}"/>
              </a:ext>
            </a:extLst>
          </p:cNvPr>
          <p:cNvSpPr txBox="1"/>
          <p:nvPr/>
        </p:nvSpPr>
        <p:spPr>
          <a:xfrm>
            <a:off x="3190495" y="2906697"/>
            <a:ext cx="21050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&lt;Running </a:t>
            </a:r>
            <a:r>
              <a: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상태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ko-KR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075ADB-B89F-E320-D83A-F69FCB98209C}"/>
              </a:ext>
            </a:extLst>
          </p:cNvPr>
          <p:cNvSpPr txBox="1"/>
          <p:nvPr/>
        </p:nvSpPr>
        <p:spPr>
          <a:xfrm>
            <a:off x="6170683" y="2906697"/>
            <a:ext cx="21050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완료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상태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ko-KR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C5D76D7-1FE3-364D-A467-AB91139707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0683" y="3508941"/>
            <a:ext cx="2047875" cy="140017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4E6B6F7-CB96-7466-5053-9225CEBB9203}"/>
              </a:ext>
            </a:extLst>
          </p:cNvPr>
          <p:cNvSpPr txBox="1"/>
          <p:nvPr/>
        </p:nvSpPr>
        <p:spPr>
          <a:xfrm>
            <a:off x="6170683" y="4922515"/>
            <a:ext cx="21050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altLang="ko-KR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 </a:t>
            </a:r>
            <a:r>
              <a:rPr lang="ko-KR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상태</a:t>
            </a:r>
            <a:r>
              <a:rPr lang="en-US" altLang="ko-KR" sz="2000" b="1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lang="ko-KR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AD454132-BFF6-DBBB-7952-761A0D8EC57D}"/>
              </a:ext>
            </a:extLst>
          </p:cNvPr>
          <p:cNvSpPr/>
          <p:nvPr/>
        </p:nvSpPr>
        <p:spPr>
          <a:xfrm rot="2317667">
            <a:off x="5538800" y="3096311"/>
            <a:ext cx="436227" cy="420991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78068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839147D5-ED02-D019-44D2-B1BD0ACA6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07" y="1207418"/>
            <a:ext cx="4572000" cy="261308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F370CFB-A1DD-C8D5-3710-A9368E5FF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SDE Simulation </a:t>
            </a:r>
            <a:r>
              <a:rPr lang="ko-KR" altLang="en-US" dirty="0">
                <a:latin typeface="+mj-ea"/>
              </a:rPr>
              <a:t>구조 확인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2F2886-8E42-39DB-D5C2-E919A8E30BFE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S-Visual 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을 활용한 </a:t>
            </a:r>
            <a:r>
              <a:rPr lang="en-US" altLang="ko-K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tdr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파일 열기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B0BAF38-0A25-CEF8-6045-7101C087A4B9}"/>
              </a:ext>
            </a:extLst>
          </p:cNvPr>
          <p:cNvSpPr/>
          <p:nvPr/>
        </p:nvSpPr>
        <p:spPr>
          <a:xfrm>
            <a:off x="2678482" y="2603996"/>
            <a:ext cx="1007694" cy="1583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8AFBE52-7D0D-FC68-80D3-9673234B975C}"/>
              </a:ext>
            </a:extLst>
          </p:cNvPr>
          <p:cNvSpPr/>
          <p:nvPr/>
        </p:nvSpPr>
        <p:spPr>
          <a:xfrm>
            <a:off x="3686176" y="2644394"/>
            <a:ext cx="1007695" cy="1168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B83171E-7909-B636-1D65-8D037133B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3640" y="1207418"/>
            <a:ext cx="3943664" cy="219999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100A15B3-38D6-23EA-EAE3-2426322E3970}"/>
              </a:ext>
            </a:extLst>
          </p:cNvPr>
          <p:cNvSpPr/>
          <p:nvPr/>
        </p:nvSpPr>
        <p:spPr>
          <a:xfrm>
            <a:off x="5037603" y="1792516"/>
            <a:ext cx="1803309" cy="1142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ED5C3D80-0238-EC85-471F-FA696B788CA7}"/>
              </a:ext>
            </a:extLst>
          </p:cNvPr>
          <p:cNvSpPr/>
          <p:nvPr/>
        </p:nvSpPr>
        <p:spPr>
          <a:xfrm>
            <a:off x="4572000" y="1628225"/>
            <a:ext cx="436227" cy="420991"/>
          </a:xfrm>
          <a:prstGeom prst="rightArrow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C340BC14-0BED-4C5A-4CAD-54796B95893F}"/>
              </a:ext>
            </a:extLst>
          </p:cNvPr>
          <p:cNvSpPr/>
          <p:nvPr/>
        </p:nvSpPr>
        <p:spPr>
          <a:xfrm rot="5400000">
            <a:off x="5844540" y="1977673"/>
            <a:ext cx="436227" cy="420991"/>
          </a:xfrm>
          <a:prstGeom prst="rightArrow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F10A77-6458-F0F5-FDAB-7DB32B4F3EB3}"/>
              </a:ext>
            </a:extLst>
          </p:cNvPr>
          <p:cNvSpPr txBox="1"/>
          <p:nvPr/>
        </p:nvSpPr>
        <p:spPr>
          <a:xfrm>
            <a:off x="206696" y="5298010"/>
            <a:ext cx="8495390" cy="1113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tdr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파일을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S-Visual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툴로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열어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SDE command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에서 선언한 반도체 소자 구조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컨택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도핑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메시 구조 확인 가능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50BE90A-0313-AF6E-A79E-418E020157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6374" y="3553010"/>
            <a:ext cx="3960930" cy="183211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54D5B0D9-6BE3-561C-49E3-F4A2271097BD}"/>
              </a:ext>
            </a:extLst>
          </p:cNvPr>
          <p:cNvSpPr/>
          <p:nvPr/>
        </p:nvSpPr>
        <p:spPr>
          <a:xfrm rot="5400000">
            <a:off x="8039100" y="3249526"/>
            <a:ext cx="436227" cy="420991"/>
          </a:xfrm>
          <a:prstGeom prst="rightArrow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C9A70B-7E67-359D-6610-FFB5DEC5F32E}"/>
              </a:ext>
            </a:extLst>
          </p:cNvPr>
          <p:cNvSpPr/>
          <p:nvPr/>
        </p:nvSpPr>
        <p:spPr>
          <a:xfrm>
            <a:off x="6390829" y="3128983"/>
            <a:ext cx="581471" cy="3000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64666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953FA7D-818D-9BB3-FC46-AB0B0151A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305" y="1258361"/>
            <a:ext cx="8495390" cy="394239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F370CFB-A1DD-C8D5-3710-A9368E5FF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SDE Simulation </a:t>
            </a:r>
            <a:r>
              <a:rPr lang="ko-KR" altLang="en-US" dirty="0">
                <a:latin typeface="+mj-ea"/>
              </a:rPr>
              <a:t>구조 확인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2F2886-8E42-39DB-D5C2-E919A8E30BFE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Mesh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확인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F10A77-6458-F0F5-FDAB-7DB32B4F3EB3}"/>
              </a:ext>
            </a:extLst>
          </p:cNvPr>
          <p:cNvSpPr txBox="1"/>
          <p:nvPr/>
        </p:nvSpPr>
        <p:spPr>
          <a:xfrm>
            <a:off x="472440" y="5437788"/>
            <a:ext cx="8495390" cy="1113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1. Mesh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를 확인하고 싶은 영역 체크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20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2.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해당 영역의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mesh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확인 가능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(oxide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와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channel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에 좁은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mesh)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E42C9B3-5270-5E22-0314-2C9149A558BA}"/>
              </a:ext>
            </a:extLst>
          </p:cNvPr>
          <p:cNvSpPr/>
          <p:nvPr/>
        </p:nvSpPr>
        <p:spPr>
          <a:xfrm>
            <a:off x="1843338" y="1793523"/>
            <a:ext cx="129044" cy="55286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7554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1C9A6-8146-FD2E-4BA9-33201F32B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3201B3-0F95-6B17-A2B7-FF164854F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Content</a:t>
            </a:r>
            <a:endParaRPr lang="ko-KR" altLang="en-US" dirty="0">
              <a:latin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92ABD-E47C-1822-64C5-F544B3825D4D}"/>
              </a:ext>
            </a:extLst>
          </p:cNvPr>
          <p:cNvSpPr txBox="1"/>
          <p:nvPr/>
        </p:nvSpPr>
        <p:spPr>
          <a:xfrm>
            <a:off x="248457" y="1021555"/>
            <a:ext cx="5294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◇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391B02-2ACC-4E4B-1093-D57DA9716DDF}"/>
              </a:ext>
            </a:extLst>
          </p:cNvPr>
          <p:cNvSpPr txBox="1"/>
          <p:nvPr/>
        </p:nvSpPr>
        <p:spPr>
          <a:xfrm>
            <a:off x="248457" y="1846258"/>
            <a:ext cx="5294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◇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54BEF6-76A5-998A-F288-A2276B92C10F}"/>
              </a:ext>
            </a:extLst>
          </p:cNvPr>
          <p:cNvSpPr txBox="1"/>
          <p:nvPr/>
        </p:nvSpPr>
        <p:spPr>
          <a:xfrm>
            <a:off x="248457" y="2670961"/>
            <a:ext cx="5294437" cy="461665"/>
          </a:xfrm>
          <a:prstGeom prst="rect">
            <a:avLst/>
          </a:prstGeom>
          <a:solidFill>
            <a:srgbClr val="FFF2CC"/>
          </a:solidFill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◇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SDEVICE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75E773-2F91-0A6B-D37E-BF04F5E23D95}"/>
              </a:ext>
            </a:extLst>
          </p:cNvPr>
          <p:cNvSpPr txBox="1"/>
          <p:nvPr/>
        </p:nvSpPr>
        <p:spPr>
          <a:xfrm>
            <a:off x="248457" y="3495664"/>
            <a:ext cx="5294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◇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Inspect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9332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953413-9F95-792C-187E-E5C40EECE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55" y="1441468"/>
            <a:ext cx="8756999" cy="5238622"/>
          </a:xfrm>
        </p:spPr>
        <p:txBody>
          <a:bodyPr>
            <a:normAutofit/>
          </a:bodyPr>
          <a:lstStyle/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SDE’ Tool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상에서 </a:t>
            </a: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우클릭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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Add’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클릭</a:t>
            </a:r>
          </a:p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Add Tool’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창이 열리면 ‘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Tools’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클릭</a:t>
            </a:r>
          </a:p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Select DB Tool’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창이 열리면 ‘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SDEVICE’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클릭 후 ‘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OK’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클릭</a:t>
            </a:r>
          </a:p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4. Name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과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Label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에 ‘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SDEVICE’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설정되었으면 완료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5. Label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은 각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SDEVICE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코드마다 다르게 설정하면 쉽게 구분 가능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F370CFB-A1DD-C8D5-3710-A9368E5FF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SDEVICE Manual</a:t>
            </a:r>
            <a:endParaRPr lang="ko-KR" altLang="en-US" dirty="0">
              <a:latin typeface="+mj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EF9CBAF-93A6-27E6-6AAD-136FFE1BA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15" y="1294148"/>
            <a:ext cx="3748225" cy="256568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E450E2EB-069B-D580-B644-3A829A08645D}"/>
              </a:ext>
            </a:extLst>
          </p:cNvPr>
          <p:cNvSpPr/>
          <p:nvPr/>
        </p:nvSpPr>
        <p:spPr>
          <a:xfrm>
            <a:off x="888232" y="1795644"/>
            <a:ext cx="1047247" cy="1245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22CC62E-76AC-D4BA-F5F9-8C4FC82131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92" t="2599" r="54786" b="32112"/>
          <a:stretch/>
        </p:blipFill>
        <p:spPr>
          <a:xfrm>
            <a:off x="4125475" y="1258018"/>
            <a:ext cx="3265925" cy="312068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9EC781C-75B6-AD16-E262-9980C095AD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6269" t="2426" r="28508" b="51750"/>
          <a:stretch/>
        </p:blipFill>
        <p:spPr>
          <a:xfrm>
            <a:off x="6306075" y="1954945"/>
            <a:ext cx="2306320" cy="268127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680A76F3-F965-BA1C-5F59-BB9394B87291}"/>
              </a:ext>
            </a:extLst>
          </p:cNvPr>
          <p:cNvSpPr/>
          <p:nvPr/>
        </p:nvSpPr>
        <p:spPr>
          <a:xfrm>
            <a:off x="6867777" y="1634210"/>
            <a:ext cx="427104" cy="1614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CFEC1DF-EBC9-CB9D-2B3C-F3B1368C6A5E}"/>
              </a:ext>
            </a:extLst>
          </p:cNvPr>
          <p:cNvSpPr/>
          <p:nvPr/>
        </p:nvSpPr>
        <p:spPr>
          <a:xfrm>
            <a:off x="6415274" y="3366490"/>
            <a:ext cx="498606" cy="473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73DCA1-6302-8CAA-4599-FA78F65114FB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SDEVICE Tool 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생성</a:t>
            </a:r>
          </a:p>
        </p:txBody>
      </p:sp>
    </p:spTree>
    <p:extLst>
      <p:ext uri="{BB962C8B-B14F-4D97-AF65-F5344CB8AC3E}">
        <p14:creationId xmlns:p14="http://schemas.microsoft.com/office/powerpoint/2010/main" val="27101804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953413-9F95-792C-187E-E5C40EECE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55" y="1238268"/>
            <a:ext cx="8756999" cy="5832982"/>
          </a:xfrm>
        </p:spPr>
        <p:txBody>
          <a:bodyPr>
            <a:normAutofit/>
          </a:bodyPr>
          <a:lstStyle/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SDEVICE’ Tool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상에서 </a:t>
            </a: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우클릭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2. Edit Input – Include Materials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클릭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Materials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Parameter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File’ 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SiO2’, ‘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TiN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’, ‘Silicon’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체크 후 ‘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OK’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클릭</a:t>
            </a:r>
          </a:p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4. Edit Input – Parameter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클릭 후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물질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.par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파일 생성 확인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F370CFB-A1DD-C8D5-3710-A9368E5FF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SDEVICE Manual</a:t>
            </a:r>
            <a:endParaRPr lang="ko-KR" altLang="en-US" dirty="0">
              <a:latin typeface="+mj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3A629DA-104A-96B4-F71D-0BBFDB82F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55" y="1199363"/>
            <a:ext cx="4291612" cy="336755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8FAC1B2-001D-BF40-245D-96499A5682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99"/>
          <a:stretch/>
        </p:blipFill>
        <p:spPr>
          <a:xfrm>
            <a:off x="4390858" y="1199363"/>
            <a:ext cx="2258280" cy="320673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0F3DAF9-401C-5848-E5E3-9B78346AFDE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189" r="10804"/>
          <a:stretch/>
        </p:blipFill>
        <p:spPr>
          <a:xfrm>
            <a:off x="6317572" y="2149679"/>
            <a:ext cx="2687882" cy="204216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100DFE25-BC79-B8BF-39C5-ECDB3BD7F088}"/>
              </a:ext>
            </a:extLst>
          </p:cNvPr>
          <p:cNvSpPr/>
          <p:nvPr/>
        </p:nvSpPr>
        <p:spPr>
          <a:xfrm>
            <a:off x="3001513" y="3314807"/>
            <a:ext cx="874528" cy="1245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99B7DBF-F0E7-692D-0B2F-0A69E90CACE7}"/>
              </a:ext>
            </a:extLst>
          </p:cNvPr>
          <p:cNvSpPr/>
          <p:nvPr/>
        </p:nvSpPr>
        <p:spPr>
          <a:xfrm>
            <a:off x="3001513" y="3170759"/>
            <a:ext cx="874528" cy="1245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059FE0-5228-D1A5-D70F-0F9521C8BE0F}"/>
              </a:ext>
            </a:extLst>
          </p:cNvPr>
          <p:cNvSpPr txBox="1"/>
          <p:nvPr/>
        </p:nvSpPr>
        <p:spPr>
          <a:xfrm>
            <a:off x="3383280" y="6436867"/>
            <a:ext cx="56221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Parameter : </a:t>
            </a:r>
            <a:r>
              <a:rPr lang="ko-KR" altLang="en-US" sz="16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물리 모델 계산 시</a:t>
            </a:r>
            <a:r>
              <a:rPr lang="en-US" altLang="ko-KR" sz="16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sz="1600" b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정의된 물질 파라미터 적용</a:t>
            </a:r>
            <a:endParaRPr lang="en-US" altLang="ko-KR" sz="160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04669A-8929-B9BF-31D8-ADD34ECBF36A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SDEVICE Parameter 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생성</a:t>
            </a:r>
          </a:p>
        </p:txBody>
      </p:sp>
    </p:spTree>
    <p:extLst>
      <p:ext uri="{BB962C8B-B14F-4D97-AF65-F5344CB8AC3E}">
        <p14:creationId xmlns:p14="http://schemas.microsoft.com/office/powerpoint/2010/main" val="3908581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953413-9F95-792C-187E-E5C40EECE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455" y="1238268"/>
            <a:ext cx="8756999" cy="5350492"/>
          </a:xfrm>
        </p:spPr>
        <p:txBody>
          <a:bodyPr>
            <a:normAutofit/>
          </a:bodyPr>
          <a:lstStyle/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SDEVICE’ Tool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상에서 </a:t>
            </a: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우클릭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2. Edit Input – Commands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클릭 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3. Simulation code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입력 및 저장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F370CFB-A1DD-C8D5-3710-A9368E5FF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SDEVICE Manual</a:t>
            </a:r>
            <a:endParaRPr lang="ko-KR" altLang="en-US" dirty="0">
              <a:latin typeface="+mj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3A629DA-104A-96B4-F71D-0BBFDB82F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55" y="1199363"/>
            <a:ext cx="4291612" cy="336755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899B7DBF-F0E7-692D-0B2F-0A69E90CACE7}"/>
              </a:ext>
            </a:extLst>
          </p:cNvPr>
          <p:cNvSpPr/>
          <p:nvPr/>
        </p:nvSpPr>
        <p:spPr>
          <a:xfrm>
            <a:off x="3001513" y="3048839"/>
            <a:ext cx="874528" cy="1245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04669A-8929-B9BF-31D8-ADD34ECBF36A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SDEVICE Command 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생성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C4AB470-8D6D-BB35-A38F-15F00AFED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295" y="1183079"/>
            <a:ext cx="3338388" cy="398071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C05CF6-9C12-2ED9-B08F-710DC392BD5E}"/>
              </a:ext>
            </a:extLst>
          </p:cNvPr>
          <p:cNvSpPr txBox="1"/>
          <p:nvPr/>
        </p:nvSpPr>
        <p:spPr>
          <a:xfrm>
            <a:off x="6242870" y="1806845"/>
            <a:ext cx="18972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 SDEVICE</a:t>
            </a:r>
            <a:r>
              <a:rPr lang="ko-KR" altLang="en-US" sz="2000" b="1" dirty="0"/>
              <a:t> </a:t>
            </a:r>
            <a:br>
              <a:rPr lang="en-US" altLang="ko-KR" sz="2000" b="1" dirty="0"/>
            </a:br>
            <a:r>
              <a:rPr lang="en-US" altLang="ko-KR" sz="2000" b="1" dirty="0"/>
              <a:t>Simulation Code</a:t>
            </a:r>
            <a:endParaRPr lang="ko-KR" altLang="en-US" sz="2000" b="1" dirty="0"/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8815AD26-D2F6-E0BA-886E-0765111DB89C}"/>
              </a:ext>
            </a:extLst>
          </p:cNvPr>
          <p:cNvSpPr/>
          <p:nvPr/>
        </p:nvSpPr>
        <p:spPr>
          <a:xfrm>
            <a:off x="4144497" y="2829956"/>
            <a:ext cx="633252" cy="640572"/>
          </a:xfrm>
          <a:prstGeom prst="rightArrow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14268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370CFB-A1DD-C8D5-3710-A9368E5FF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SDEVICE Manual</a:t>
            </a:r>
            <a:endParaRPr lang="ko-KR" altLang="en-US" dirty="0">
              <a:latin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04669A-8929-B9BF-31D8-ADD34ECBF36A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SDEVICE Command 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생성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F766F89B-5BC6-5E5D-67E3-3B233F0D5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874" y="1442720"/>
            <a:ext cx="8138160" cy="49154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입력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출력 파일 정의 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2. Electrode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정의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(Initial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전압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Workfunction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설정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반도체 물리 모델 선언</a:t>
            </a:r>
          </a:p>
          <a:p>
            <a:pPr marL="0" indent="0">
              <a:buNone/>
            </a:pP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4. Plot (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tdr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파일 내 해석하고자 하는 물리 현상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변수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선언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marL="0" indent="0">
              <a:buNone/>
            </a:pP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5. Math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물리 모델 기반 계산을 위해 필요한 수학적 모델 및 조건 선언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6. Solve (DC, AC, Transient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해석을 위한 전압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시간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주파수 등을 설정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23354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그림 36">
            <a:extLst>
              <a:ext uri="{FF2B5EF4-FFF2-40B4-BE49-F238E27FC236}">
                <a16:creationId xmlns:a16="http://schemas.microsoft.com/office/drawing/2014/main" id="{AD13EAA2-EDF6-CC33-4C8F-4AB78FA83D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5" b="48141"/>
          <a:stretch>
            <a:fillRect/>
          </a:stretch>
        </p:blipFill>
        <p:spPr>
          <a:xfrm>
            <a:off x="394743" y="1354215"/>
            <a:ext cx="3597084" cy="215316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F370CFB-A1DD-C8D5-3710-A9368E5FF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SDEVICE Manual</a:t>
            </a:r>
            <a:endParaRPr lang="ko-KR" altLang="en-US" dirty="0">
              <a:latin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04669A-8929-B9BF-31D8-ADD34ECBF36A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SDEVICE Command 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생성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6B79827C-468A-7184-D373-53AC79D092DA}"/>
              </a:ext>
            </a:extLst>
          </p:cNvPr>
          <p:cNvSpPr/>
          <p:nvPr/>
        </p:nvSpPr>
        <p:spPr>
          <a:xfrm>
            <a:off x="56253" y="1405680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091EF76F-711F-1098-A39A-09E88733E536}"/>
              </a:ext>
            </a:extLst>
          </p:cNvPr>
          <p:cNvSpPr/>
          <p:nvPr/>
        </p:nvSpPr>
        <p:spPr>
          <a:xfrm>
            <a:off x="66413" y="3581306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EE8150B-E162-AF09-420A-3DED9BDA8C95}"/>
              </a:ext>
            </a:extLst>
          </p:cNvPr>
          <p:cNvSpPr/>
          <p:nvPr/>
        </p:nvSpPr>
        <p:spPr>
          <a:xfrm>
            <a:off x="4267190" y="1455139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A66E18-2C99-B36A-802E-64DDDF4FCFC8}"/>
              </a:ext>
            </a:extLst>
          </p:cNvPr>
          <p:cNvSpPr txBox="1"/>
          <p:nvPr/>
        </p:nvSpPr>
        <p:spPr>
          <a:xfrm>
            <a:off x="4626955" y="1414489"/>
            <a:ext cx="4303686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입력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출력 파일 정의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C9CD44-7C75-58BD-E5FD-C0E0E8381EE5}"/>
              </a:ext>
            </a:extLst>
          </p:cNvPr>
          <p:cNvSpPr txBox="1"/>
          <p:nvPr/>
        </p:nvSpPr>
        <p:spPr>
          <a:xfrm>
            <a:off x="4572000" y="1842168"/>
            <a:ext cx="4251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DC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해석에 필요한 파일 정의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2" name="순서도: 처리 21">
            <a:extLst>
              <a:ext uri="{FF2B5EF4-FFF2-40B4-BE49-F238E27FC236}">
                <a16:creationId xmlns:a16="http://schemas.microsoft.com/office/drawing/2014/main" id="{92B62AAF-C9B6-F773-B254-740D993AEC5B}"/>
              </a:ext>
            </a:extLst>
          </p:cNvPr>
          <p:cNvSpPr/>
          <p:nvPr/>
        </p:nvSpPr>
        <p:spPr>
          <a:xfrm>
            <a:off x="4185218" y="2290258"/>
            <a:ext cx="2105263" cy="504056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Input file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Grid = </a:t>
            </a:r>
            <a:r>
              <a:rPr lang="en-US" altLang="ko-KR" sz="1200" b="1" dirty="0">
                <a:solidFill>
                  <a:srgbClr val="FD39D3"/>
                </a:solidFill>
                <a:latin typeface="+mn-ea"/>
              </a:rPr>
              <a:t>“@</a:t>
            </a:r>
            <a:r>
              <a:rPr lang="en-US" altLang="ko-KR" sz="1200" b="1" dirty="0" err="1">
                <a:solidFill>
                  <a:srgbClr val="FD39D3"/>
                </a:solidFill>
                <a:latin typeface="+mn-ea"/>
              </a:rPr>
              <a:t>tdr</a:t>
            </a:r>
            <a:r>
              <a:rPr lang="en-US" altLang="ko-KR" sz="1200" b="1" dirty="0">
                <a:solidFill>
                  <a:srgbClr val="FD39D3"/>
                </a:solidFill>
                <a:latin typeface="+mn-ea"/>
              </a:rPr>
              <a:t>@” </a:t>
            </a:r>
          </a:p>
        </p:txBody>
      </p:sp>
      <p:sp>
        <p:nvSpPr>
          <p:cNvPr id="24" name="순서도: 처리 23">
            <a:extLst>
              <a:ext uri="{FF2B5EF4-FFF2-40B4-BE49-F238E27FC236}">
                <a16:creationId xmlns:a16="http://schemas.microsoft.com/office/drawing/2014/main" id="{2F3CAD3E-7114-2EFA-3A59-B652F81070E3}"/>
              </a:ext>
            </a:extLst>
          </p:cNvPr>
          <p:cNvSpPr/>
          <p:nvPr/>
        </p:nvSpPr>
        <p:spPr>
          <a:xfrm>
            <a:off x="4185218" y="4100232"/>
            <a:ext cx="2860495" cy="504056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Plot = </a:t>
            </a:r>
            <a:r>
              <a:rPr lang="en-US" altLang="ko-KR" sz="1200" b="1" dirty="0">
                <a:solidFill>
                  <a:srgbClr val="FD39D3"/>
                </a:solidFill>
                <a:latin typeface="+mn-ea"/>
              </a:rPr>
              <a:t>“@</a:t>
            </a:r>
            <a:r>
              <a:rPr lang="en-US" altLang="ko-KR" sz="1200" b="1" dirty="0" err="1">
                <a:solidFill>
                  <a:srgbClr val="FD39D3"/>
                </a:solidFill>
                <a:latin typeface="+mn-ea"/>
              </a:rPr>
              <a:t>tdrdat</a:t>
            </a:r>
            <a:r>
              <a:rPr lang="en-US" altLang="ko-KR" sz="1200" b="1" dirty="0">
                <a:solidFill>
                  <a:srgbClr val="FD39D3"/>
                </a:solidFill>
                <a:latin typeface="+mn-ea"/>
              </a:rPr>
              <a:t>@” </a:t>
            </a:r>
          </a:p>
        </p:txBody>
      </p:sp>
      <p:sp>
        <p:nvSpPr>
          <p:cNvPr id="25" name="순서도: 처리 24">
            <a:extLst>
              <a:ext uri="{FF2B5EF4-FFF2-40B4-BE49-F238E27FC236}">
                <a16:creationId xmlns:a16="http://schemas.microsoft.com/office/drawing/2014/main" id="{98EC4615-5402-B038-248A-95BF53CEC315}"/>
              </a:ext>
            </a:extLst>
          </p:cNvPr>
          <p:cNvSpPr/>
          <p:nvPr/>
        </p:nvSpPr>
        <p:spPr>
          <a:xfrm>
            <a:off x="4185218" y="4691378"/>
            <a:ext cx="2860495" cy="504056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Current = </a:t>
            </a:r>
            <a:r>
              <a:rPr lang="en-US" altLang="ko-KR" sz="1200" b="1" dirty="0">
                <a:solidFill>
                  <a:srgbClr val="FD39D3"/>
                </a:solidFill>
                <a:latin typeface="+mn-ea"/>
              </a:rPr>
              <a:t>“@plot@” </a:t>
            </a:r>
          </a:p>
        </p:txBody>
      </p:sp>
      <p:sp>
        <p:nvSpPr>
          <p:cNvPr id="26" name="순서도: 처리 25">
            <a:extLst>
              <a:ext uri="{FF2B5EF4-FFF2-40B4-BE49-F238E27FC236}">
                <a16:creationId xmlns:a16="http://schemas.microsoft.com/office/drawing/2014/main" id="{CF55272E-6931-4B8D-29F1-B3F360984AFB}"/>
              </a:ext>
            </a:extLst>
          </p:cNvPr>
          <p:cNvSpPr/>
          <p:nvPr/>
        </p:nvSpPr>
        <p:spPr>
          <a:xfrm>
            <a:off x="4185218" y="3328889"/>
            <a:ext cx="2983535" cy="504056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Output file</a:t>
            </a:r>
            <a:endParaRPr lang="en-US" altLang="ko-KR" sz="1200" b="1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Parameter = </a:t>
            </a:r>
            <a:r>
              <a:rPr lang="en-US" altLang="ko-KR" sz="1200" b="1" dirty="0">
                <a:solidFill>
                  <a:srgbClr val="FD39D3"/>
                </a:solidFill>
                <a:latin typeface="+mn-ea"/>
              </a:rPr>
              <a:t>“@parameter@” 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17CBAAC-E254-8F69-1B49-C2D3DAD99854}"/>
              </a:ext>
            </a:extLst>
          </p:cNvPr>
          <p:cNvCxnSpPr>
            <a:cxnSpLocks/>
          </p:cNvCxnSpPr>
          <p:nvPr/>
        </p:nvCxnSpPr>
        <p:spPr>
          <a:xfrm flipV="1">
            <a:off x="4068616" y="1449847"/>
            <a:ext cx="0" cy="4876800"/>
          </a:xfrm>
          <a:prstGeom prst="line">
            <a:avLst/>
          </a:prstGeom>
          <a:ln w="1905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순서도: 처리 29">
            <a:extLst>
              <a:ext uri="{FF2B5EF4-FFF2-40B4-BE49-F238E27FC236}">
                <a16:creationId xmlns:a16="http://schemas.microsoft.com/office/drawing/2014/main" id="{89D8D505-0230-8DCC-E974-988414355BEF}"/>
              </a:ext>
            </a:extLst>
          </p:cNvPr>
          <p:cNvSpPr/>
          <p:nvPr/>
        </p:nvSpPr>
        <p:spPr>
          <a:xfrm>
            <a:off x="4572000" y="2742589"/>
            <a:ext cx="3543856" cy="504056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 : Device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구조 및 도핑 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profile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 정의</a:t>
            </a:r>
            <a:endParaRPr lang="en-US" altLang="ko-KR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" name="순서도: 처리 30">
            <a:extLst>
              <a:ext uri="{FF2B5EF4-FFF2-40B4-BE49-F238E27FC236}">
                <a16:creationId xmlns:a16="http://schemas.microsoft.com/office/drawing/2014/main" id="{ABEC4201-8D37-7D3A-85F4-0AD9E8AA4845}"/>
              </a:ext>
            </a:extLst>
          </p:cNvPr>
          <p:cNvSpPr/>
          <p:nvPr/>
        </p:nvSpPr>
        <p:spPr>
          <a:xfrm>
            <a:off x="4630505" y="4359242"/>
            <a:ext cx="1887672" cy="504056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: Mesh output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정의</a:t>
            </a:r>
            <a:endParaRPr lang="en-US" altLang="ko-KR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2" name="순서도: 처리 31">
            <a:extLst>
              <a:ext uri="{FF2B5EF4-FFF2-40B4-BE49-F238E27FC236}">
                <a16:creationId xmlns:a16="http://schemas.microsoft.com/office/drawing/2014/main" id="{64162F6F-FD9D-4B31-0841-3A0AF46DF28F}"/>
              </a:ext>
            </a:extLst>
          </p:cNvPr>
          <p:cNvSpPr/>
          <p:nvPr/>
        </p:nvSpPr>
        <p:spPr>
          <a:xfrm>
            <a:off x="4630505" y="4960066"/>
            <a:ext cx="4251960" cy="504056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전류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전압과 같은 전기적 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output data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정의</a:t>
            </a:r>
            <a:endParaRPr lang="en-US" altLang="ko-KR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3" name="순서도: 처리 32">
            <a:extLst>
              <a:ext uri="{FF2B5EF4-FFF2-40B4-BE49-F238E27FC236}">
                <a16:creationId xmlns:a16="http://schemas.microsoft.com/office/drawing/2014/main" id="{0423F1B8-9866-14B0-9DCE-7836355BD32A}"/>
              </a:ext>
            </a:extLst>
          </p:cNvPr>
          <p:cNvSpPr/>
          <p:nvPr/>
        </p:nvSpPr>
        <p:spPr>
          <a:xfrm>
            <a:off x="4630505" y="3743369"/>
            <a:ext cx="4300136" cy="504056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: </a:t>
            </a:r>
            <a:r>
              <a:rPr lang="en-US" altLang="ko-KR" sz="1400" b="1" dirty="0" err="1">
                <a:solidFill>
                  <a:schemeClr val="tx1"/>
                </a:solidFill>
                <a:latin typeface="+mn-ea"/>
              </a:rPr>
              <a:t>sdevice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에서 사용할 물질들의 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parameter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file</a:t>
            </a:r>
          </a:p>
        </p:txBody>
      </p:sp>
      <p:sp>
        <p:nvSpPr>
          <p:cNvPr id="34" name="순서도: 처리 33">
            <a:extLst>
              <a:ext uri="{FF2B5EF4-FFF2-40B4-BE49-F238E27FC236}">
                <a16:creationId xmlns:a16="http://schemas.microsoft.com/office/drawing/2014/main" id="{5C1BF819-EDA3-2A43-409E-CA7B25F08D88}"/>
              </a:ext>
            </a:extLst>
          </p:cNvPr>
          <p:cNvSpPr/>
          <p:nvPr/>
        </p:nvSpPr>
        <p:spPr>
          <a:xfrm>
            <a:off x="4626954" y="5545095"/>
            <a:ext cx="4119920" cy="504056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: Data log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와 프로토콜 정의</a:t>
            </a:r>
            <a:endParaRPr lang="en-US" altLang="ko-KR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5" name="순서도: 처리 34">
            <a:extLst>
              <a:ext uri="{FF2B5EF4-FFF2-40B4-BE49-F238E27FC236}">
                <a16:creationId xmlns:a16="http://schemas.microsoft.com/office/drawing/2014/main" id="{7A600FB2-8AE0-02B1-5C0E-39E6D4DA964A}"/>
              </a:ext>
            </a:extLst>
          </p:cNvPr>
          <p:cNvSpPr/>
          <p:nvPr/>
        </p:nvSpPr>
        <p:spPr>
          <a:xfrm>
            <a:off x="4185278" y="5287464"/>
            <a:ext cx="2860495" cy="504056"/>
          </a:xfrm>
          <a:prstGeom prst="flowChartProcess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Output = </a:t>
            </a:r>
            <a:r>
              <a:rPr lang="en-US" altLang="ko-KR" sz="1200" b="1" dirty="0">
                <a:solidFill>
                  <a:srgbClr val="FD39D3"/>
                </a:solidFill>
                <a:latin typeface="+mn-ea"/>
              </a:rPr>
              <a:t>“@log@”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9568004-7EC0-72F3-29C4-398FAA70F2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400"/>
          <a:stretch>
            <a:fillRect/>
          </a:stretch>
        </p:blipFill>
        <p:spPr>
          <a:xfrm>
            <a:off x="278082" y="2662942"/>
            <a:ext cx="3631510" cy="687677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75508F54-F12D-1654-A356-B79F90DE5F15}"/>
              </a:ext>
            </a:extLst>
          </p:cNvPr>
          <p:cNvSpPr/>
          <p:nvPr/>
        </p:nvSpPr>
        <p:spPr>
          <a:xfrm>
            <a:off x="66413" y="2498808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4FD55E2-49D6-2178-EBAB-5A831F0FC8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743" y="3624462"/>
            <a:ext cx="3254427" cy="1789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8878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E2A9492-B056-8EC9-0351-2FF8B8F61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6706" y="3624462"/>
            <a:ext cx="2827943" cy="301223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F370CFB-A1DD-C8D5-3710-A9368E5FF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SDEVICE Manual</a:t>
            </a:r>
            <a:endParaRPr lang="ko-KR" altLang="en-US" dirty="0">
              <a:latin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04669A-8929-B9BF-31D8-ADD34ECBF36A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SDEVICE Command 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생성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17CBAAC-E254-8F69-1B49-C2D3DAD99854}"/>
              </a:ext>
            </a:extLst>
          </p:cNvPr>
          <p:cNvCxnSpPr>
            <a:cxnSpLocks/>
          </p:cNvCxnSpPr>
          <p:nvPr/>
        </p:nvCxnSpPr>
        <p:spPr>
          <a:xfrm flipV="1">
            <a:off x="4068616" y="1449847"/>
            <a:ext cx="0" cy="4876800"/>
          </a:xfrm>
          <a:prstGeom prst="line">
            <a:avLst/>
          </a:prstGeom>
          <a:ln w="1905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타원 2">
            <a:extLst>
              <a:ext uri="{FF2B5EF4-FFF2-40B4-BE49-F238E27FC236}">
                <a16:creationId xmlns:a16="http://schemas.microsoft.com/office/drawing/2014/main" id="{D21A6D8A-4C68-3375-92B4-8C7DE6C66ACD}"/>
              </a:ext>
            </a:extLst>
          </p:cNvPr>
          <p:cNvSpPr/>
          <p:nvPr/>
        </p:nvSpPr>
        <p:spPr>
          <a:xfrm>
            <a:off x="4267190" y="1457934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0871-6BEA-3B5F-531F-4719A227191A}"/>
              </a:ext>
            </a:extLst>
          </p:cNvPr>
          <p:cNvSpPr txBox="1"/>
          <p:nvPr/>
        </p:nvSpPr>
        <p:spPr>
          <a:xfrm>
            <a:off x="4626955" y="1417284"/>
            <a:ext cx="4303686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Electrode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설정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866312-D25E-89F7-B956-49C2E7B739E6}"/>
              </a:ext>
            </a:extLst>
          </p:cNvPr>
          <p:cNvSpPr txBox="1"/>
          <p:nvPr/>
        </p:nvSpPr>
        <p:spPr>
          <a:xfrm>
            <a:off x="4571999" y="1828764"/>
            <a:ext cx="4358642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각 전극의 이름은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SDE code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에서 정의한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Contact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이름과 동일해야 함</a:t>
            </a:r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endParaRPr lang="en-US" altLang="ko-KR" sz="8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 Poisson/Continuity Eq.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계산 시 초기 전압 및 해당 전극의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Workfunction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설정</a:t>
            </a:r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endParaRPr lang="en-US" altLang="ko-KR" sz="8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선언한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electrode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는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plt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file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에서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</a:t>
            </a:r>
            <a:r>
              <a:rPr lang="en-US" altLang="ko-KR" sz="16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-V</a:t>
            </a:r>
            <a:r>
              <a:rPr lang="en-US" altLang="ko-KR" sz="1600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G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분석을 위해 사용됨</a:t>
            </a:r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7D38444-D8DD-1EE2-89DC-08448C49BF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25" t="-1" b="50029"/>
          <a:stretch>
            <a:fillRect/>
          </a:stretch>
        </p:blipFill>
        <p:spPr>
          <a:xfrm>
            <a:off x="394743" y="1354214"/>
            <a:ext cx="3597084" cy="2074785"/>
          </a:xfrm>
          <a:prstGeom prst="rect">
            <a:avLst/>
          </a:prstGeom>
        </p:spPr>
      </p:pic>
      <p:sp>
        <p:nvSpPr>
          <p:cNvPr id="14" name="타원 13">
            <a:extLst>
              <a:ext uri="{FF2B5EF4-FFF2-40B4-BE49-F238E27FC236}">
                <a16:creationId xmlns:a16="http://schemas.microsoft.com/office/drawing/2014/main" id="{7F77031C-A5E9-64E3-C686-47F3E7DA1E85}"/>
              </a:ext>
            </a:extLst>
          </p:cNvPr>
          <p:cNvSpPr/>
          <p:nvPr/>
        </p:nvSpPr>
        <p:spPr>
          <a:xfrm>
            <a:off x="56253" y="1405680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8ADC9661-A130-F7FA-0D55-E8880BAF6709}"/>
              </a:ext>
            </a:extLst>
          </p:cNvPr>
          <p:cNvSpPr/>
          <p:nvPr/>
        </p:nvSpPr>
        <p:spPr>
          <a:xfrm>
            <a:off x="66413" y="3581306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1699A68-1243-99E7-EA86-34AA319118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0400"/>
          <a:stretch>
            <a:fillRect/>
          </a:stretch>
        </p:blipFill>
        <p:spPr>
          <a:xfrm>
            <a:off x="278082" y="2662942"/>
            <a:ext cx="3631510" cy="687677"/>
          </a:xfrm>
          <a:prstGeom prst="rect">
            <a:avLst/>
          </a:prstGeom>
        </p:spPr>
      </p:pic>
      <p:sp>
        <p:nvSpPr>
          <p:cNvPr id="15" name="타원 14">
            <a:extLst>
              <a:ext uri="{FF2B5EF4-FFF2-40B4-BE49-F238E27FC236}">
                <a16:creationId xmlns:a16="http://schemas.microsoft.com/office/drawing/2014/main" id="{02A53A2F-D476-2DC3-8666-33D96AD40203}"/>
              </a:ext>
            </a:extLst>
          </p:cNvPr>
          <p:cNvSpPr/>
          <p:nvPr/>
        </p:nvSpPr>
        <p:spPr>
          <a:xfrm>
            <a:off x="66413" y="2498808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43182CC-423B-4C42-F36C-C61112EEA67D}"/>
              </a:ext>
            </a:extLst>
          </p:cNvPr>
          <p:cNvSpPr/>
          <p:nvPr/>
        </p:nvSpPr>
        <p:spPr>
          <a:xfrm>
            <a:off x="5283630" y="4870859"/>
            <a:ext cx="2499158" cy="45007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FB833AA-F924-8824-6FF5-7E770E2462B3}"/>
              </a:ext>
            </a:extLst>
          </p:cNvPr>
          <p:cNvSpPr/>
          <p:nvPr/>
        </p:nvSpPr>
        <p:spPr>
          <a:xfrm>
            <a:off x="5283631" y="5425482"/>
            <a:ext cx="2499158" cy="6792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0455BD9-C3A2-F97B-3091-D3756147CE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743" y="3624462"/>
            <a:ext cx="3254427" cy="1789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7783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62C9D-20CB-07DE-FF88-DE15DCA24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BA00F1-14B9-4F03-69FB-5C30975D4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SDEVICE Manual</a:t>
            </a:r>
            <a:endParaRPr lang="ko-KR" altLang="en-US" dirty="0">
              <a:latin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552B28-1314-C196-3E8F-BA936AF042F4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SDEVICE Command 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생성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E362956-01EB-52BD-8A94-8D14FA77AFA0}"/>
              </a:ext>
            </a:extLst>
          </p:cNvPr>
          <p:cNvCxnSpPr>
            <a:cxnSpLocks/>
          </p:cNvCxnSpPr>
          <p:nvPr/>
        </p:nvCxnSpPr>
        <p:spPr>
          <a:xfrm flipV="1">
            <a:off x="4068616" y="1449847"/>
            <a:ext cx="0" cy="4876800"/>
          </a:xfrm>
          <a:prstGeom prst="line">
            <a:avLst/>
          </a:prstGeom>
          <a:ln w="1905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904555E-3516-84F3-86E4-EECD0FE92085}"/>
              </a:ext>
            </a:extLst>
          </p:cNvPr>
          <p:cNvSpPr txBox="1"/>
          <p:nvPr/>
        </p:nvSpPr>
        <p:spPr>
          <a:xfrm>
            <a:off x="4555221" y="3015754"/>
            <a:ext cx="4649737" cy="1837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Fermi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Fermi-Dirac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Statistical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모델 활성화</a:t>
            </a:r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20000"/>
              </a:lnSpc>
            </a:pPr>
            <a:r>
              <a:rPr lang="en-US" altLang="ko-KR" sz="16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DopingDependence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mobility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와 도핑농도 연관성</a:t>
            </a:r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20000"/>
              </a:lnSpc>
            </a:pPr>
            <a:r>
              <a:rPr lang="en-US" altLang="ko-KR" sz="16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HighFieldSaturation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velocity saturation</a:t>
            </a:r>
          </a:p>
          <a:p>
            <a:pPr>
              <a:lnSpc>
                <a:spcPct val="120000"/>
              </a:lnSpc>
            </a:pPr>
            <a:r>
              <a:rPr lang="en-US" altLang="ko-KR" sz="16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NoBandGapNarrowing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bandgap narrow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적용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X</a:t>
            </a:r>
          </a:p>
          <a:p>
            <a:pPr>
              <a:lnSpc>
                <a:spcPct val="120000"/>
              </a:lnSpc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SRH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Recombination-Generation</a:t>
            </a:r>
          </a:p>
          <a:p>
            <a:pPr>
              <a:lnSpc>
                <a:spcPct val="120000"/>
              </a:lnSpc>
            </a:pP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Band2Band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band to band tunneling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모델</a:t>
            </a:r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5B5DD1-9C27-AAFF-5E00-392578484A3D}"/>
              </a:ext>
            </a:extLst>
          </p:cNvPr>
          <p:cNvSpPr txBox="1"/>
          <p:nvPr/>
        </p:nvSpPr>
        <p:spPr>
          <a:xfrm>
            <a:off x="4552142" y="4957011"/>
            <a:ext cx="452236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정확한 소자 해석을 위해 올바른 물리 모델을 정의해야 함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</a:p>
          <a:p>
            <a:endParaRPr lang="en-US" altLang="ko-KR" sz="8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자세한 모델 설명은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SDEVICE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매뉴얼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참고</a:t>
            </a:r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CFC6577-E4B8-AC74-999B-D545F6E527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5" b="50029"/>
          <a:stretch>
            <a:fillRect/>
          </a:stretch>
        </p:blipFill>
        <p:spPr>
          <a:xfrm>
            <a:off x="394743" y="1354215"/>
            <a:ext cx="3597084" cy="2074785"/>
          </a:xfrm>
          <a:prstGeom prst="rect">
            <a:avLst/>
          </a:prstGeom>
        </p:spPr>
      </p:pic>
      <p:sp>
        <p:nvSpPr>
          <p:cNvPr id="14" name="타원 13">
            <a:extLst>
              <a:ext uri="{FF2B5EF4-FFF2-40B4-BE49-F238E27FC236}">
                <a16:creationId xmlns:a16="http://schemas.microsoft.com/office/drawing/2014/main" id="{52BBEB47-848A-0652-E15F-515B1EB108D9}"/>
              </a:ext>
            </a:extLst>
          </p:cNvPr>
          <p:cNvSpPr/>
          <p:nvPr/>
        </p:nvSpPr>
        <p:spPr>
          <a:xfrm>
            <a:off x="56253" y="1405680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B696101A-08DD-B6F1-92D4-3E7F1032E82E}"/>
              </a:ext>
            </a:extLst>
          </p:cNvPr>
          <p:cNvSpPr/>
          <p:nvPr/>
        </p:nvSpPr>
        <p:spPr>
          <a:xfrm>
            <a:off x="66413" y="3581306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8E34467-BD0F-1C7E-A0C5-09035B2B61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400"/>
          <a:stretch>
            <a:fillRect/>
          </a:stretch>
        </p:blipFill>
        <p:spPr>
          <a:xfrm>
            <a:off x="278082" y="2662942"/>
            <a:ext cx="3631510" cy="687677"/>
          </a:xfrm>
          <a:prstGeom prst="rect">
            <a:avLst/>
          </a:prstGeom>
        </p:spPr>
      </p:pic>
      <p:sp>
        <p:nvSpPr>
          <p:cNvPr id="15" name="타원 14">
            <a:extLst>
              <a:ext uri="{FF2B5EF4-FFF2-40B4-BE49-F238E27FC236}">
                <a16:creationId xmlns:a16="http://schemas.microsoft.com/office/drawing/2014/main" id="{5EEC4FE6-2DB7-2661-55D8-93E6AEA97F24}"/>
              </a:ext>
            </a:extLst>
          </p:cNvPr>
          <p:cNvSpPr/>
          <p:nvPr/>
        </p:nvSpPr>
        <p:spPr>
          <a:xfrm>
            <a:off x="66413" y="2498808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535718D6-CD96-5959-6422-DAB740AC11ED}"/>
              </a:ext>
            </a:extLst>
          </p:cNvPr>
          <p:cNvSpPr/>
          <p:nvPr/>
        </p:nvSpPr>
        <p:spPr>
          <a:xfrm>
            <a:off x="4267190" y="1457934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845826-9DC9-DE57-229D-BBFE7B9CCBB9}"/>
              </a:ext>
            </a:extLst>
          </p:cNvPr>
          <p:cNvSpPr txBox="1"/>
          <p:nvPr/>
        </p:nvSpPr>
        <p:spPr>
          <a:xfrm>
            <a:off x="4626955" y="1417284"/>
            <a:ext cx="4303686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물리 모델 정의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A02FB9-2539-CA54-C627-2E8F02100B41}"/>
              </a:ext>
            </a:extLst>
          </p:cNvPr>
          <p:cNvSpPr txBox="1"/>
          <p:nvPr/>
        </p:nvSpPr>
        <p:spPr>
          <a:xfrm>
            <a:off x="4571999" y="1828764"/>
            <a:ext cx="44334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시뮬레이션에 적용하고자 하는 물리적 현상을 활성화하려면 적절한 모델 선언 필요</a:t>
            </a:r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endParaRPr lang="en-US" altLang="ko-KR" sz="8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각 물리적 현상 중에도 여러 종류의 모델 존재 매뉴얼 참고하여 선택</a:t>
            </a:r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66B5B25B-2CC7-3445-EE76-1825F71F0E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743" y="3624462"/>
            <a:ext cx="3254427" cy="178993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709DB04-D7D0-0E44-090C-1FC9E8555D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8312" y="5902409"/>
            <a:ext cx="3331029" cy="93443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D6229B1-D781-2B8A-1948-D9F11D49E5B1}"/>
              </a:ext>
            </a:extLst>
          </p:cNvPr>
          <p:cNvSpPr/>
          <p:nvPr/>
        </p:nvSpPr>
        <p:spPr>
          <a:xfrm>
            <a:off x="5787022" y="6227669"/>
            <a:ext cx="3296192" cy="2112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83669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DD6037B7-64C0-82C2-503C-A02D579DB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410" y="3185174"/>
            <a:ext cx="4860017" cy="290223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F370CFB-A1DD-C8D5-3710-A9368E5FF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SDEVICE Manual</a:t>
            </a:r>
            <a:endParaRPr lang="ko-KR" altLang="en-US" dirty="0">
              <a:latin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04669A-8929-B9BF-31D8-ADD34ECBF36A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SDEVICE Command 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생성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6B79827C-468A-7184-D373-53AC79D092DA}"/>
              </a:ext>
            </a:extLst>
          </p:cNvPr>
          <p:cNvSpPr/>
          <p:nvPr/>
        </p:nvSpPr>
        <p:spPr>
          <a:xfrm>
            <a:off x="91877" y="1405680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4C47249E-B230-7F2B-FEBB-8E87C03665C0}"/>
              </a:ext>
            </a:extLst>
          </p:cNvPr>
          <p:cNvSpPr/>
          <p:nvPr/>
        </p:nvSpPr>
        <p:spPr>
          <a:xfrm>
            <a:off x="76573" y="4740338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17CBAAC-E254-8F69-1B49-C2D3DAD99854}"/>
              </a:ext>
            </a:extLst>
          </p:cNvPr>
          <p:cNvCxnSpPr>
            <a:cxnSpLocks/>
          </p:cNvCxnSpPr>
          <p:nvPr/>
        </p:nvCxnSpPr>
        <p:spPr>
          <a:xfrm flipV="1">
            <a:off x="4068616" y="1449847"/>
            <a:ext cx="0" cy="4876800"/>
          </a:xfrm>
          <a:prstGeom prst="line">
            <a:avLst/>
          </a:prstGeom>
          <a:ln w="1905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8D96D4D-6E7F-4A86-EF0F-C7C9F70D1F17}"/>
              </a:ext>
            </a:extLst>
          </p:cNvPr>
          <p:cNvSpPr/>
          <p:nvPr/>
        </p:nvSpPr>
        <p:spPr>
          <a:xfrm>
            <a:off x="2357116" y="2219479"/>
            <a:ext cx="667530" cy="1419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F0EDE70-6BF4-F740-1459-FF9D96152576}"/>
              </a:ext>
            </a:extLst>
          </p:cNvPr>
          <p:cNvSpPr/>
          <p:nvPr/>
        </p:nvSpPr>
        <p:spPr>
          <a:xfrm>
            <a:off x="4207410" y="4230796"/>
            <a:ext cx="1371064" cy="950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B7AFCF5D-763F-11C3-0AB6-F3090058691D}"/>
              </a:ext>
            </a:extLst>
          </p:cNvPr>
          <p:cNvSpPr/>
          <p:nvPr/>
        </p:nvSpPr>
        <p:spPr>
          <a:xfrm>
            <a:off x="4267190" y="1457934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C75FBD-5646-3494-5D06-844D3E09B49D}"/>
              </a:ext>
            </a:extLst>
          </p:cNvPr>
          <p:cNvSpPr txBox="1"/>
          <p:nvPr/>
        </p:nvSpPr>
        <p:spPr>
          <a:xfrm>
            <a:off x="4626955" y="1417284"/>
            <a:ext cx="4303686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Plot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3C6061-76D4-4EBF-D773-3DE1131F2D12}"/>
              </a:ext>
            </a:extLst>
          </p:cNvPr>
          <p:cNvSpPr txBox="1"/>
          <p:nvPr/>
        </p:nvSpPr>
        <p:spPr>
          <a:xfrm>
            <a:off x="4571999" y="1828764"/>
            <a:ext cx="44334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물리 모델로 계산된 현상을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tdr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파일로 시각화하기 위해 관련 변수 선언</a:t>
            </a:r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 S-Visual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내 선언된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변수 클릭으로 확인 가능</a:t>
            </a:r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endParaRPr lang="en-US" altLang="ko-KR" sz="8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 Plot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에서 선언 가능한 변수는 매뉴얼 참고</a:t>
            </a:r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35DD100-4065-46D0-4D08-5077F378D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163" y="1370073"/>
            <a:ext cx="2921380" cy="326622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A1EA4D03-D772-89DE-EFF7-D38F463CAE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163" y="4740338"/>
            <a:ext cx="1383102" cy="2052346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65ADBD34-A342-F216-CAC4-42480DE867EE}"/>
              </a:ext>
            </a:extLst>
          </p:cNvPr>
          <p:cNvSpPr/>
          <p:nvPr/>
        </p:nvSpPr>
        <p:spPr>
          <a:xfrm>
            <a:off x="1622380" y="2281747"/>
            <a:ext cx="717318" cy="1419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10482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31DB230C-E3D2-36A4-ED60-7E71FDAA6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682" y="4813568"/>
            <a:ext cx="1822334" cy="147793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ABB5DD66-A400-C356-FC25-858D38275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8567" y="6255462"/>
            <a:ext cx="982438" cy="16215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BA3772D-E30E-BD52-CDC6-997889B4C39A}"/>
              </a:ext>
            </a:extLst>
          </p:cNvPr>
          <p:cNvSpPr txBox="1"/>
          <p:nvPr/>
        </p:nvSpPr>
        <p:spPr>
          <a:xfrm>
            <a:off x="2384435" y="5107468"/>
            <a:ext cx="135531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dirty="0">
                <a:latin typeface="+mj-ea"/>
                <a:ea typeface="+mj-ea"/>
              </a:rPr>
              <a:t>If |∆x| &lt; error, </a:t>
            </a:r>
          </a:p>
          <a:p>
            <a:r>
              <a:rPr lang="en-US" altLang="ko-KR" sz="1100" b="1" dirty="0">
                <a:latin typeface="+mj-ea"/>
                <a:ea typeface="+mj-ea"/>
              </a:rPr>
              <a:t>then it converges</a:t>
            </a:r>
            <a:endParaRPr lang="ko-KR" altLang="en-US" sz="1100" b="1" dirty="0">
              <a:latin typeface="+mj-ea"/>
              <a:ea typeface="+mj-ea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10069625-E64D-1464-CFC9-EFB68D733C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163" y="1370073"/>
            <a:ext cx="2921380" cy="3266220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DC13BA51-6F60-D733-6D77-031CE4EBCB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63" y="4740338"/>
            <a:ext cx="1383102" cy="205234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4BCDBD6-AFE7-1B43-A196-3B92BCA35AF5}"/>
              </a:ext>
            </a:extLst>
          </p:cNvPr>
          <p:cNvSpPr txBox="1"/>
          <p:nvPr/>
        </p:nvSpPr>
        <p:spPr>
          <a:xfrm>
            <a:off x="4571999" y="1828764"/>
            <a:ext cx="44334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Physics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에서 선언한 물리적 현상의 계산을 위해 필요한 수학적 모델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상수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들 정의</a:t>
            </a:r>
          </a:p>
          <a:p>
            <a:endParaRPr lang="en-US" altLang="ko-KR" sz="8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물리 모델 기반 방정식의 풀이 방법론 설정</a:t>
            </a:r>
            <a:b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</a:b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(Newton iteration)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F370CFB-A1DD-C8D5-3710-A9368E5FF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SDEVICE Manual</a:t>
            </a:r>
            <a:endParaRPr lang="ko-KR" altLang="en-US" dirty="0">
              <a:latin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04669A-8929-B9BF-31D8-ADD34ECBF36A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SDEVICE Command 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생성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6B79827C-468A-7184-D373-53AC79D092DA}"/>
              </a:ext>
            </a:extLst>
          </p:cNvPr>
          <p:cNvSpPr/>
          <p:nvPr/>
        </p:nvSpPr>
        <p:spPr>
          <a:xfrm>
            <a:off x="91877" y="1405680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17CBAAC-E254-8F69-1B49-C2D3DAD99854}"/>
              </a:ext>
            </a:extLst>
          </p:cNvPr>
          <p:cNvCxnSpPr>
            <a:cxnSpLocks/>
          </p:cNvCxnSpPr>
          <p:nvPr/>
        </p:nvCxnSpPr>
        <p:spPr>
          <a:xfrm flipV="1">
            <a:off x="4068616" y="1449847"/>
            <a:ext cx="0" cy="4876800"/>
          </a:xfrm>
          <a:prstGeom prst="line">
            <a:avLst/>
          </a:prstGeom>
          <a:ln w="1905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656D2261-0162-2FFC-1CED-5379E22DB55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897"/>
          <a:stretch/>
        </p:blipFill>
        <p:spPr>
          <a:xfrm>
            <a:off x="4698363" y="3153739"/>
            <a:ext cx="3934676" cy="101657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87FF448-EFA6-943E-F2AA-78DB6F8F18C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755" t="1745" r="1" b="46290"/>
          <a:stretch>
            <a:fillRect/>
          </a:stretch>
        </p:blipFill>
        <p:spPr>
          <a:xfrm>
            <a:off x="4698363" y="4369786"/>
            <a:ext cx="4127770" cy="7013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86C4A64-BB5E-4151-7FCA-EAD32F8F3139}"/>
              </a:ext>
            </a:extLst>
          </p:cNvPr>
          <p:cNvSpPr txBox="1"/>
          <p:nvPr/>
        </p:nvSpPr>
        <p:spPr>
          <a:xfrm>
            <a:off x="4501943" y="4060426"/>
            <a:ext cx="42115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 &lt; Iteration </a:t>
            </a:r>
            <a:r>
              <a:rPr lang="ko-KR" altLang="en-US" sz="1100" b="1" dirty="0" err="1"/>
              <a:t>설정값</a:t>
            </a:r>
            <a:r>
              <a:rPr lang="ko-KR" altLang="en-US" sz="1100" b="1" dirty="0"/>
              <a:t> 이하에서 </a:t>
            </a:r>
            <a:r>
              <a:rPr lang="ko-KR" altLang="en-US" sz="1100" b="1" dirty="0" err="1"/>
              <a:t>계산값</a:t>
            </a:r>
            <a:r>
              <a:rPr lang="ko-KR" altLang="en-US" sz="1100" b="1" dirty="0"/>
              <a:t> 수렴한 경우</a:t>
            </a:r>
            <a:r>
              <a:rPr lang="en-US" altLang="ko-KR" sz="1100" b="1" dirty="0"/>
              <a:t>&gt;</a:t>
            </a:r>
            <a:endParaRPr lang="ko-KR" altLang="en-US" sz="1100" b="1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058F537-0B29-91A0-F1D4-E5E1CED9A52E}"/>
              </a:ext>
            </a:extLst>
          </p:cNvPr>
          <p:cNvSpPr/>
          <p:nvPr/>
        </p:nvSpPr>
        <p:spPr>
          <a:xfrm>
            <a:off x="4628268" y="3196466"/>
            <a:ext cx="497670" cy="71078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A5BDA30-3A21-0000-35F2-8983ECFB3A37}"/>
              </a:ext>
            </a:extLst>
          </p:cNvPr>
          <p:cNvSpPr/>
          <p:nvPr/>
        </p:nvSpPr>
        <p:spPr>
          <a:xfrm>
            <a:off x="4656221" y="4872058"/>
            <a:ext cx="1291734" cy="1990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3AB243B7-CEBF-1270-D176-CDD028E361D1}"/>
              </a:ext>
            </a:extLst>
          </p:cNvPr>
          <p:cNvCxnSpPr>
            <a:cxnSpLocks/>
          </p:cNvCxnSpPr>
          <p:nvPr/>
        </p:nvCxnSpPr>
        <p:spPr>
          <a:xfrm flipV="1">
            <a:off x="1419497" y="3612788"/>
            <a:ext cx="3095448" cy="2303644"/>
          </a:xfrm>
          <a:prstGeom prst="straightConnector1">
            <a:avLst/>
          </a:prstGeom>
          <a:ln w="28575">
            <a:solidFill>
              <a:schemeClr val="accent2">
                <a:lumMod val="20000"/>
                <a:lumOff val="8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타원 14">
            <a:extLst>
              <a:ext uri="{FF2B5EF4-FFF2-40B4-BE49-F238E27FC236}">
                <a16:creationId xmlns:a16="http://schemas.microsoft.com/office/drawing/2014/main" id="{796C6721-9D5A-5CA0-5F79-AF8B5634714F}"/>
              </a:ext>
            </a:extLst>
          </p:cNvPr>
          <p:cNvSpPr/>
          <p:nvPr/>
        </p:nvSpPr>
        <p:spPr>
          <a:xfrm>
            <a:off x="4267190" y="1457934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5E9191-F050-E997-254A-3B66A7869900}"/>
              </a:ext>
            </a:extLst>
          </p:cNvPr>
          <p:cNvSpPr txBox="1"/>
          <p:nvPr/>
        </p:nvSpPr>
        <p:spPr>
          <a:xfrm>
            <a:off x="4626955" y="1417284"/>
            <a:ext cx="4303686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Math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73C26E1-5B9E-2466-7AAE-56D3FDC395A1}"/>
              </a:ext>
            </a:extLst>
          </p:cNvPr>
          <p:cNvSpPr/>
          <p:nvPr/>
        </p:nvSpPr>
        <p:spPr>
          <a:xfrm>
            <a:off x="507158" y="5852837"/>
            <a:ext cx="819991" cy="1557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63619B7B-EC86-8869-3A05-83227A86EC8A}"/>
              </a:ext>
            </a:extLst>
          </p:cNvPr>
          <p:cNvSpPr/>
          <p:nvPr/>
        </p:nvSpPr>
        <p:spPr>
          <a:xfrm>
            <a:off x="76573" y="4740338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79C82F3-F57D-06C8-2C0E-2AD6BA413EE1}"/>
              </a:ext>
            </a:extLst>
          </p:cNvPr>
          <p:cNvSpPr txBox="1"/>
          <p:nvPr/>
        </p:nvSpPr>
        <p:spPr>
          <a:xfrm>
            <a:off x="4267190" y="5073247"/>
            <a:ext cx="47382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 &lt; Iteration </a:t>
            </a:r>
            <a:r>
              <a:rPr lang="ko-KR" altLang="en-US" sz="1100" b="1" dirty="0" err="1"/>
              <a:t>설정값</a:t>
            </a:r>
            <a:r>
              <a:rPr lang="ko-KR" altLang="en-US" sz="1100" b="1" dirty="0"/>
              <a:t> 이상에서도 </a:t>
            </a:r>
            <a:r>
              <a:rPr lang="en-US" altLang="ko-KR" sz="1100" b="1" dirty="0"/>
              <a:t>error</a:t>
            </a:r>
            <a:r>
              <a:rPr lang="ko-KR" altLang="en-US" sz="1100" b="1" dirty="0"/>
              <a:t>가 </a:t>
            </a:r>
            <a:r>
              <a:rPr lang="ko-KR" altLang="en-US" sz="1100" b="1" dirty="0" err="1"/>
              <a:t>설정값</a:t>
            </a:r>
            <a:r>
              <a:rPr lang="ko-KR" altLang="en-US" sz="1100" b="1" dirty="0"/>
              <a:t> 이하로 감소하지 못한 경우</a:t>
            </a:r>
            <a:r>
              <a:rPr lang="en-US" altLang="ko-KR" sz="1100" b="1" dirty="0"/>
              <a:t>&gt;</a:t>
            </a:r>
            <a:endParaRPr lang="ko-KR" altLang="en-US" sz="1100" b="1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F69181B-644E-4987-101C-CB81F56C29B3}"/>
              </a:ext>
            </a:extLst>
          </p:cNvPr>
          <p:cNvSpPr/>
          <p:nvPr/>
        </p:nvSpPr>
        <p:spPr>
          <a:xfrm>
            <a:off x="510605" y="6544972"/>
            <a:ext cx="819991" cy="1557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F613C84-ACB1-206D-18E2-AFCD2DB608C3}"/>
              </a:ext>
            </a:extLst>
          </p:cNvPr>
          <p:cNvSpPr txBox="1"/>
          <p:nvPr/>
        </p:nvSpPr>
        <p:spPr>
          <a:xfrm>
            <a:off x="4411206" y="5533179"/>
            <a:ext cx="44334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6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ExitOnFailure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오류 발생 시 계산을 이어가지 않고 즉시 실행 종료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(Runtime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줄이기 위함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264272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C1077-B055-BB4C-EC6C-46E51AD51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B38A34E2-DD18-A41E-E75C-89A19CBE6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80" y="1404384"/>
            <a:ext cx="3598185" cy="518896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17B4FC5-C006-198D-1D36-965273BA9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SDEVICE Manual</a:t>
            </a:r>
            <a:endParaRPr lang="ko-KR" altLang="en-US" dirty="0">
              <a:latin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04E239-3ECA-92E2-8C4E-F1C4F98DF426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SDEVICE Command 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생성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E13B6741-4EC0-51A4-8573-2ACCFA13A1B1}"/>
              </a:ext>
            </a:extLst>
          </p:cNvPr>
          <p:cNvSpPr/>
          <p:nvPr/>
        </p:nvSpPr>
        <p:spPr>
          <a:xfrm>
            <a:off x="91877" y="1405680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EC98E938-291E-BF8A-5045-8CB5AE4808B0}"/>
              </a:ext>
            </a:extLst>
          </p:cNvPr>
          <p:cNvCxnSpPr>
            <a:cxnSpLocks/>
          </p:cNvCxnSpPr>
          <p:nvPr/>
        </p:nvCxnSpPr>
        <p:spPr>
          <a:xfrm flipV="1">
            <a:off x="4068616" y="1449847"/>
            <a:ext cx="0" cy="4876800"/>
          </a:xfrm>
          <a:prstGeom prst="line">
            <a:avLst/>
          </a:prstGeom>
          <a:ln w="1905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8" name="직사각형 1057">
            <a:extLst>
              <a:ext uri="{FF2B5EF4-FFF2-40B4-BE49-F238E27FC236}">
                <a16:creationId xmlns:a16="http://schemas.microsoft.com/office/drawing/2014/main" id="{1F98E792-88C3-D0EB-529A-B595D134F829}"/>
              </a:ext>
            </a:extLst>
          </p:cNvPr>
          <p:cNvSpPr/>
          <p:nvPr/>
        </p:nvSpPr>
        <p:spPr>
          <a:xfrm>
            <a:off x="801188" y="1532912"/>
            <a:ext cx="2307772" cy="7138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77AC63-8FF0-D1E5-B335-CEC33DA29CA1}"/>
              </a:ext>
            </a:extLst>
          </p:cNvPr>
          <p:cNvSpPr txBox="1"/>
          <p:nvPr/>
        </p:nvSpPr>
        <p:spPr>
          <a:xfrm>
            <a:off x="4443462" y="2834719"/>
            <a:ext cx="45284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Coupled ( </a:t>
            </a:r>
            <a:r>
              <a:rPr lang="en-US" altLang="ko-KR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Iterations=100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 { Poisson 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9097D8-C063-AC08-0DCD-39304AE9DFD3}"/>
              </a:ext>
            </a:extLst>
          </p:cNvPr>
          <p:cNvSpPr txBox="1"/>
          <p:nvPr/>
        </p:nvSpPr>
        <p:spPr>
          <a:xfrm>
            <a:off x="4364291" y="3450434"/>
            <a:ext cx="460762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초기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조건 기반 소자 구조 내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initializing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Poisson Eq. 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풀고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Poisson + Electron/Hole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Continuity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Eq.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을 순차적으로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진행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수렴 이슈 방지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410D55-3E4F-F862-4A0D-8741D409E0C9}"/>
              </a:ext>
            </a:extLst>
          </p:cNvPr>
          <p:cNvSpPr txBox="1"/>
          <p:nvPr/>
        </p:nvSpPr>
        <p:spPr>
          <a:xfrm>
            <a:off x="4322164" y="3103132"/>
            <a:ext cx="47985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초기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조건 기반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Poisson Eq.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을 </a:t>
            </a:r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Interation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100 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회까지 해석</a:t>
            </a:r>
            <a:endParaRPr lang="en-US" altLang="ko-KR" sz="14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189D7E-D608-C73C-AEF8-2F9D250561DE}"/>
              </a:ext>
            </a:extLst>
          </p:cNvPr>
          <p:cNvSpPr txBox="1"/>
          <p:nvPr/>
        </p:nvSpPr>
        <p:spPr>
          <a:xfrm>
            <a:off x="5007429" y="2696997"/>
            <a:ext cx="400661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Math</a:t>
            </a:r>
            <a:r>
              <a:rPr lang="ko-KR" altLang="en-US" sz="1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설정 내에선 </a:t>
            </a:r>
            <a:r>
              <a:rPr lang="en-US" altLang="ko-KR" sz="1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50</a:t>
            </a:r>
            <a:r>
              <a:rPr lang="ko-KR" altLang="en-US" sz="1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회 지정했으나</a:t>
            </a:r>
            <a:r>
              <a:rPr lang="en-US" altLang="ko-KR" sz="1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</a:t>
            </a:r>
            <a:r>
              <a:rPr lang="ko-KR" altLang="en-US" sz="1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여기 적으면 예외로 </a:t>
            </a:r>
            <a:r>
              <a:rPr lang="en-US" altLang="ko-KR" sz="1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100</a:t>
            </a:r>
            <a:r>
              <a:rPr lang="ko-KR" altLang="en-US" sz="1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회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1C3044-E01F-ADDE-3EEE-0B8AEEEE17DC}"/>
              </a:ext>
            </a:extLst>
          </p:cNvPr>
          <p:cNvSpPr txBox="1"/>
          <p:nvPr/>
        </p:nvSpPr>
        <p:spPr>
          <a:xfrm>
            <a:off x="4515194" y="4258634"/>
            <a:ext cx="41172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save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FilePrefix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=“vd0_n@node@”)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F7C8EF-BB6D-2DE0-5779-014AFC2C8E9E}"/>
              </a:ext>
            </a:extLst>
          </p:cNvPr>
          <p:cNvSpPr txBox="1"/>
          <p:nvPr/>
        </p:nvSpPr>
        <p:spPr>
          <a:xfrm>
            <a:off x="4515194" y="4522996"/>
            <a:ext cx="41919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SWB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상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21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번 노드에 시뮬레이션이 진행중이라면</a:t>
            </a:r>
            <a:endParaRPr lang="en-US" altLang="ko-KR" sz="14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Electrode 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초기 조건으로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해석된 정보를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vd0_n21_des.sav 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와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vd0_n21_circuit_des.sav 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파일로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저장</a:t>
            </a:r>
            <a:endParaRPr lang="en-US" altLang="ko-KR" sz="14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1923EE5-660F-F986-2FF6-78CE44DFAFF0}"/>
              </a:ext>
            </a:extLst>
          </p:cNvPr>
          <p:cNvSpPr/>
          <p:nvPr/>
        </p:nvSpPr>
        <p:spPr>
          <a:xfrm>
            <a:off x="4364291" y="2727658"/>
            <a:ext cx="4624389" cy="1461439"/>
          </a:xfrm>
          <a:prstGeom prst="rect">
            <a:avLst/>
          </a:prstGeom>
          <a:noFill/>
          <a:ln w="19050"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469FBB-E162-23C7-96D6-D665FDEA3054}"/>
              </a:ext>
            </a:extLst>
          </p:cNvPr>
          <p:cNvSpPr txBox="1"/>
          <p:nvPr/>
        </p:nvSpPr>
        <p:spPr>
          <a:xfrm>
            <a:off x="4515194" y="5477103"/>
            <a:ext cx="41172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plot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FilePrefix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=“vd0_n@node”)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1E1590-EFD0-FD1F-F5E0-B8EBA902BDE3}"/>
              </a:ext>
            </a:extLst>
          </p:cNvPr>
          <p:cNvSpPr txBox="1"/>
          <p:nvPr/>
        </p:nvSpPr>
        <p:spPr>
          <a:xfrm>
            <a:off x="4515194" y="5741465"/>
            <a:ext cx="43036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Electrode 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초기 조건으로 해석된 구조 파일을 저장</a:t>
            </a:r>
            <a:endParaRPr lang="en-US" altLang="ko-KR" sz="14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파일명은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vd0_n21_des.tdr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4C219E5D-86A7-00CC-4B0B-33265DDE2D22}"/>
              </a:ext>
            </a:extLst>
          </p:cNvPr>
          <p:cNvSpPr/>
          <p:nvPr/>
        </p:nvSpPr>
        <p:spPr>
          <a:xfrm>
            <a:off x="4267190" y="1457934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4EDBF4-87F0-213C-D435-3190A52C7B19}"/>
              </a:ext>
            </a:extLst>
          </p:cNvPr>
          <p:cNvSpPr txBox="1"/>
          <p:nvPr/>
        </p:nvSpPr>
        <p:spPr>
          <a:xfrm>
            <a:off x="4626955" y="1417284"/>
            <a:ext cx="4303686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Solve – I</a:t>
            </a:r>
            <a:r>
              <a:rPr lang="en-US" altLang="ko-KR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-V</a:t>
            </a:r>
            <a:r>
              <a:rPr lang="en-US" altLang="ko-KR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G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curve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2B1727-86AA-7C0C-A970-4BAE6F83999B}"/>
              </a:ext>
            </a:extLst>
          </p:cNvPr>
          <p:cNvSpPr txBox="1"/>
          <p:nvPr/>
        </p:nvSpPr>
        <p:spPr>
          <a:xfrm>
            <a:off x="4571999" y="1828764"/>
            <a:ext cx="443345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설정된 전극의 초기 조건을 바탕으로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</a:t>
            </a:r>
            <a:b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</a:b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DC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해석을 위해 필요한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Equation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들을</a:t>
            </a:r>
            <a:b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</a:b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Newton iteration </a:t>
            </a:r>
            <a:r>
              <a:rPr lang="ko-KR" altLang="en-US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방식으로 계산하기 위한 세팅</a:t>
            </a:r>
            <a:endParaRPr lang="en-US" altLang="ko-KR" sz="16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2F29242-BB63-BCBE-5E07-5AD0E6753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2943" y="6168938"/>
            <a:ext cx="2086266" cy="47631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A00C98C-69E4-4A39-1AFA-48FECDB51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435" y="2367267"/>
            <a:ext cx="3307542" cy="94501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64FB554-B06C-9394-6CA5-E21580B691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192" y="5633288"/>
            <a:ext cx="3329269" cy="82468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D17EAB0F-CCB9-163C-0404-A0FE974D90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726" y="4685988"/>
            <a:ext cx="3316252" cy="848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3187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609B4-50F4-7257-52FB-E27717886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959B43E1-07AF-965E-165E-7DC9EE9C1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80" y="1404384"/>
            <a:ext cx="3598185" cy="518896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9BA4A7F-835F-D40B-67CB-89302F16C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SDEVICE Manual</a:t>
            </a:r>
            <a:endParaRPr lang="ko-KR" altLang="en-US" dirty="0">
              <a:latin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B0F9CD-1820-26D3-9B9F-148A4DAD5182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SDEVICE Command 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생성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38CEBE57-CE94-0DE8-BA40-24A235831029}"/>
              </a:ext>
            </a:extLst>
          </p:cNvPr>
          <p:cNvSpPr/>
          <p:nvPr/>
        </p:nvSpPr>
        <p:spPr>
          <a:xfrm>
            <a:off x="91877" y="1405680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2600779B-C263-1ABD-8DC2-08F0303F0773}"/>
              </a:ext>
            </a:extLst>
          </p:cNvPr>
          <p:cNvCxnSpPr>
            <a:cxnSpLocks/>
          </p:cNvCxnSpPr>
          <p:nvPr/>
        </p:nvCxnSpPr>
        <p:spPr>
          <a:xfrm flipV="1">
            <a:off x="4068616" y="1449847"/>
            <a:ext cx="0" cy="4876800"/>
          </a:xfrm>
          <a:prstGeom prst="line">
            <a:avLst/>
          </a:prstGeom>
          <a:ln w="1905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B013F41-B8F8-1A1D-7961-2CEE81930CDF}"/>
              </a:ext>
            </a:extLst>
          </p:cNvPr>
          <p:cNvCxnSpPr>
            <a:cxnSpLocks/>
          </p:cNvCxnSpPr>
          <p:nvPr/>
        </p:nvCxnSpPr>
        <p:spPr>
          <a:xfrm flipV="1">
            <a:off x="4068616" y="1449847"/>
            <a:ext cx="0" cy="4876800"/>
          </a:xfrm>
          <a:prstGeom prst="line">
            <a:avLst/>
          </a:prstGeom>
          <a:ln w="1905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AF4EB35-FCAC-CB69-EC19-749CC303C0C1}"/>
              </a:ext>
            </a:extLst>
          </p:cNvPr>
          <p:cNvSpPr txBox="1"/>
          <p:nvPr/>
        </p:nvSpPr>
        <p:spPr>
          <a:xfrm>
            <a:off x="4555222" y="1905499"/>
            <a:ext cx="452845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Quasistationary</a:t>
            </a:r>
            <a:endParaRPr lang="en-US" altLang="ko-KR" sz="1400" b="1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 </a:t>
            </a:r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InitialStep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=1e-4 </a:t>
            </a:r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MaxStep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=1e-1 </a:t>
            </a:r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MinStep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=1e-7</a:t>
            </a:r>
          </a:p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Goal { name=“drain” voltage=1.0} )</a:t>
            </a:r>
          </a:p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	{ Coupled { Poisson Electron Hole } 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2C2428-B3DC-B40E-0423-85BD005572C0}"/>
              </a:ext>
            </a:extLst>
          </p:cNvPr>
          <p:cNvSpPr txBox="1"/>
          <p:nvPr/>
        </p:nvSpPr>
        <p:spPr>
          <a:xfrm>
            <a:off x="4995089" y="1502590"/>
            <a:ext cx="35313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DC</a:t>
            </a:r>
            <a:r>
              <a:rPr lang="ko-KR" altLang="en-US" sz="1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해석</a:t>
            </a:r>
            <a:r>
              <a:rPr lang="en-US" altLang="ko-KR" sz="1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en-US" altLang="ko-KR" sz="11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Quasistationary</a:t>
            </a:r>
            <a:r>
              <a:rPr lang="en-US" altLang="ko-KR" sz="1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ko-KR" altLang="en-US" sz="1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과도응답해석</a:t>
            </a:r>
            <a:r>
              <a:rPr lang="en-US" altLang="ko-KR" sz="1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Transient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D7B2E75-86AF-75C9-CFE1-5D76E754AA1D}"/>
              </a:ext>
            </a:extLst>
          </p:cNvPr>
          <p:cNvGrpSpPr/>
          <p:nvPr/>
        </p:nvGrpSpPr>
        <p:grpSpPr>
          <a:xfrm>
            <a:off x="4407135" y="3010757"/>
            <a:ext cx="3626668" cy="1551807"/>
            <a:chOff x="5408004" y="2566143"/>
            <a:chExt cx="3626668" cy="1551807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02F48446-21C2-532F-C868-F37A82C86FD2}"/>
                </a:ext>
              </a:extLst>
            </p:cNvPr>
            <p:cNvGrpSpPr/>
            <p:nvPr/>
          </p:nvGrpSpPr>
          <p:grpSpPr>
            <a:xfrm>
              <a:off x="5408004" y="2566143"/>
              <a:ext cx="3626668" cy="1551807"/>
              <a:chOff x="5683099" y="5032463"/>
              <a:chExt cx="3626668" cy="1551807"/>
            </a:xfrm>
          </p:grpSpPr>
          <p:cxnSp>
            <p:nvCxnSpPr>
              <p:cNvPr id="29" name="직선 연결선 28">
                <a:extLst>
                  <a:ext uri="{FF2B5EF4-FFF2-40B4-BE49-F238E27FC236}">
                    <a16:creationId xmlns:a16="http://schemas.microsoft.com/office/drawing/2014/main" id="{39E870BE-C1C6-210A-84D2-E045811944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78060" y="6204744"/>
                <a:ext cx="0" cy="251999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401148A0-16F7-C8FB-2EF8-8AEEB3CED1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67660" y="6470283"/>
                <a:ext cx="216000" cy="0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131D74C2-765B-4F67-9D6D-920068210C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03401" y="6528070"/>
                <a:ext cx="144001" cy="0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>
                <a:extLst>
                  <a:ext uri="{FF2B5EF4-FFF2-40B4-BE49-F238E27FC236}">
                    <a16:creationId xmlns:a16="http://schemas.microsoft.com/office/drawing/2014/main" id="{0C92B995-2F25-E08B-F0A2-C8D8C15747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37918" y="6584270"/>
                <a:ext cx="72000" cy="0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그룹 32">
                <a:extLst>
                  <a:ext uri="{FF2B5EF4-FFF2-40B4-BE49-F238E27FC236}">
                    <a16:creationId xmlns:a16="http://schemas.microsoft.com/office/drawing/2014/main" id="{DC9FA4DD-44DF-2328-BE6D-06F7F1BB9BE5}"/>
                  </a:ext>
                </a:extLst>
              </p:cNvPr>
              <p:cNvGrpSpPr/>
              <p:nvPr/>
            </p:nvGrpSpPr>
            <p:grpSpPr>
              <a:xfrm>
                <a:off x="5683099" y="5610047"/>
                <a:ext cx="2209581" cy="693990"/>
                <a:chOff x="509385" y="3310237"/>
                <a:chExt cx="2209581" cy="678253"/>
              </a:xfrm>
            </p:grpSpPr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5BFDE2B0-CD33-3D7E-D82D-543573094921}"/>
                    </a:ext>
                  </a:extLst>
                </p:cNvPr>
                <p:cNvSpPr/>
                <p:nvPr/>
              </p:nvSpPr>
              <p:spPr>
                <a:xfrm>
                  <a:off x="922998" y="3310237"/>
                  <a:ext cx="1342242" cy="288000"/>
                </a:xfrm>
                <a:prstGeom prst="rect">
                  <a:avLst/>
                </a:prstGeom>
                <a:solidFill>
                  <a:srgbClr val="D1B58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42" name="그룹 41">
                  <a:extLst>
                    <a:ext uri="{FF2B5EF4-FFF2-40B4-BE49-F238E27FC236}">
                      <a16:creationId xmlns:a16="http://schemas.microsoft.com/office/drawing/2014/main" id="{93103F02-1DDB-ACD3-7361-359087F0DB50}"/>
                    </a:ext>
                  </a:extLst>
                </p:cNvPr>
                <p:cNvGrpSpPr/>
                <p:nvPr/>
              </p:nvGrpSpPr>
              <p:grpSpPr>
                <a:xfrm>
                  <a:off x="509385" y="3515645"/>
                  <a:ext cx="2209581" cy="472845"/>
                  <a:chOff x="509385" y="3515645"/>
                  <a:chExt cx="2209581" cy="472845"/>
                </a:xfrm>
              </p:grpSpPr>
              <p:sp>
                <p:nvSpPr>
                  <p:cNvPr id="43" name="직사각형 42">
                    <a:extLst>
                      <a:ext uri="{FF2B5EF4-FFF2-40B4-BE49-F238E27FC236}">
                        <a16:creationId xmlns:a16="http://schemas.microsoft.com/office/drawing/2014/main" id="{45E9834A-E1C9-1B28-4B71-C0674060452E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09385" y="3635822"/>
                    <a:ext cx="2209581" cy="352668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45" name="직선 연결선 44">
                    <a:extLst>
                      <a:ext uri="{FF2B5EF4-FFF2-40B4-BE49-F238E27FC236}">
                        <a16:creationId xmlns:a16="http://schemas.microsoft.com/office/drawing/2014/main" id="{AB4BA9BE-4176-2DF6-9EAB-CE6D6BAAB41E}"/>
                      </a:ext>
                    </a:extLst>
                  </p:cNvPr>
                  <p:cNvCxnSpPr/>
                  <p:nvPr/>
                </p:nvCxnSpPr>
                <p:spPr>
                  <a:xfrm>
                    <a:off x="660662" y="3515645"/>
                    <a:ext cx="0" cy="18000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  <a:head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직선 연결선 45">
                    <a:extLst>
                      <a:ext uri="{FF2B5EF4-FFF2-40B4-BE49-F238E27FC236}">
                        <a16:creationId xmlns:a16="http://schemas.microsoft.com/office/drawing/2014/main" id="{4C90C222-9AE9-9155-EBBB-EC9D34671F94}"/>
                      </a:ext>
                    </a:extLst>
                  </p:cNvPr>
                  <p:cNvCxnSpPr/>
                  <p:nvPr/>
                </p:nvCxnSpPr>
                <p:spPr>
                  <a:xfrm>
                    <a:off x="2578906" y="3530305"/>
                    <a:ext cx="0" cy="18000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  <a:headEnd type="oval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9A105DEB-540A-FD8C-2F69-6E2C60860B0C}"/>
                  </a:ext>
                </a:extLst>
              </p:cNvPr>
              <p:cNvSpPr/>
              <p:nvPr/>
            </p:nvSpPr>
            <p:spPr>
              <a:xfrm rot="10800000">
                <a:off x="5685131" y="5941320"/>
                <a:ext cx="421807" cy="265361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0E7A226B-1AC4-FF03-95C5-D496D481E56C}"/>
                  </a:ext>
                </a:extLst>
              </p:cNvPr>
              <p:cNvSpPr/>
              <p:nvPr/>
            </p:nvSpPr>
            <p:spPr>
              <a:xfrm rot="10800000">
                <a:off x="7438953" y="5940187"/>
                <a:ext cx="450613" cy="266491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36" name="직선 연결선 35">
                <a:extLst>
                  <a:ext uri="{FF2B5EF4-FFF2-40B4-BE49-F238E27FC236}">
                    <a16:creationId xmlns:a16="http://schemas.microsoft.com/office/drawing/2014/main" id="{0E834A20-D43D-C977-2246-815F9EF4872F}"/>
                  </a:ext>
                </a:extLst>
              </p:cNvPr>
              <p:cNvCxnSpPr/>
              <p:nvPr/>
            </p:nvCxnSpPr>
            <p:spPr>
              <a:xfrm>
                <a:off x="6767833" y="5424435"/>
                <a:ext cx="0" cy="184176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48551159-E568-C7DC-D2CF-41871256A1C4}"/>
                  </a:ext>
                </a:extLst>
              </p:cNvPr>
              <p:cNvSpPr/>
              <p:nvPr/>
            </p:nvSpPr>
            <p:spPr>
              <a:xfrm>
                <a:off x="6096712" y="5888490"/>
                <a:ext cx="1342370" cy="56495"/>
              </a:xfrm>
              <a:prstGeom prst="rect">
                <a:avLst/>
              </a:prstGeom>
              <a:solidFill>
                <a:srgbClr val="58D5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A03178E-B1B0-AE8A-6B98-59FF16F6C4FE}"/>
                  </a:ext>
                </a:extLst>
              </p:cNvPr>
              <p:cNvSpPr txBox="1"/>
              <p:nvPr/>
            </p:nvSpPr>
            <p:spPr>
              <a:xfrm>
                <a:off x="7420423" y="5418966"/>
                <a:ext cx="188934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V</a:t>
                </a:r>
                <a:r>
                  <a:rPr lang="en-US" altLang="ko-KR" sz="2000" b="1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D</a:t>
                </a:r>
                <a:r>
                  <a:rPr lang="en-US" altLang="ko-K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= 0 </a:t>
                </a:r>
                <a:r>
                  <a:rPr lang="en-US" altLang="ko-KR" sz="2000" b="1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 1.0V</a:t>
                </a:r>
              </a:p>
              <a:p>
                <a:pPr algn="r"/>
                <a:r>
                  <a:rPr lang="en-US" altLang="ko-K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ko-KR" alt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초기 조건 → </a:t>
                </a:r>
                <a:r>
                  <a:rPr lang="en-US" altLang="ko-K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1.0V)</a:t>
                </a:r>
                <a:endPara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39" name="직선 연결선 38">
                <a:extLst>
                  <a:ext uri="{FF2B5EF4-FFF2-40B4-BE49-F238E27FC236}">
                    <a16:creationId xmlns:a16="http://schemas.microsoft.com/office/drawing/2014/main" id="{DC23D38E-8833-7B61-40D1-0EF2A2412737}"/>
                  </a:ext>
                </a:extLst>
              </p:cNvPr>
              <p:cNvCxnSpPr/>
              <p:nvPr/>
            </p:nvCxnSpPr>
            <p:spPr>
              <a:xfrm>
                <a:off x="7752620" y="5834689"/>
                <a:ext cx="0" cy="184176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CB2EEDE-18C0-1C8D-04D5-C2190D55EBCE}"/>
                  </a:ext>
                </a:extLst>
              </p:cNvPr>
              <p:cNvSpPr txBox="1"/>
              <p:nvPr/>
            </p:nvSpPr>
            <p:spPr>
              <a:xfrm>
                <a:off x="6239022" y="5032463"/>
                <a:ext cx="26629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0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V</a:t>
                </a:r>
                <a:r>
                  <a:rPr lang="en-US" altLang="ko-KR" sz="2000" b="1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G</a:t>
                </a:r>
                <a:r>
                  <a:rPr lang="en-US" altLang="ko-K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= 0V</a:t>
                </a:r>
                <a:r>
                  <a:rPr lang="en-US" altLang="ko-K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(Electrode </a:t>
                </a:r>
                <a:r>
                  <a:rPr lang="ko-KR" alt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초기 조건</a:t>
                </a:r>
                <a:r>
                  <a:rPr lang="en-US" altLang="ko-K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p:grp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BB06C4D6-7660-D53D-E7D5-F39F9F913711}"/>
                </a:ext>
              </a:extLst>
            </p:cNvPr>
            <p:cNvGrpSpPr/>
            <p:nvPr/>
          </p:nvGrpSpPr>
          <p:grpSpPr>
            <a:xfrm flipV="1">
              <a:off x="5451281" y="3221023"/>
              <a:ext cx="216000" cy="113987"/>
              <a:chOff x="7123226" y="3535978"/>
              <a:chExt cx="216000" cy="113987"/>
            </a:xfrm>
          </p:grpSpPr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CC02872A-2EF5-5F60-99D0-63481BE61D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23226" y="3535978"/>
                <a:ext cx="216000" cy="0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058EBE50-13D1-8904-6B7B-9C7381A03F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58967" y="3593765"/>
                <a:ext cx="144001" cy="0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직선 연결선 27">
                <a:extLst>
                  <a:ext uri="{FF2B5EF4-FFF2-40B4-BE49-F238E27FC236}">
                    <a16:creationId xmlns:a16="http://schemas.microsoft.com/office/drawing/2014/main" id="{6F035C3B-B845-BD9D-BA66-041118BCA5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93484" y="3649965"/>
                <a:ext cx="72000" cy="0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C8ECB5AC-4A46-C9D4-1A0B-9435DE364BDA}"/>
              </a:ext>
            </a:extLst>
          </p:cNvPr>
          <p:cNvSpPr txBox="1"/>
          <p:nvPr/>
        </p:nvSpPr>
        <p:spPr>
          <a:xfrm>
            <a:off x="5731083" y="4587257"/>
            <a:ext cx="32954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Drain</a:t>
            </a:r>
            <a:r>
              <a:rPr lang="ko-KR" alt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에 </a:t>
            </a:r>
            <a:r>
              <a:rPr lang="en-US" altLang="ko-KR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step</a:t>
            </a:r>
            <a:r>
              <a:rPr lang="ko-KR" alt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별 전압을 상승시키며</a:t>
            </a:r>
            <a:endParaRPr lang="en-US" altLang="ko-KR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altLang="ko-KR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Poisson </a:t>
            </a:r>
            <a:r>
              <a:rPr lang="ko-KR" alt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및 </a:t>
            </a:r>
            <a:r>
              <a:rPr lang="en-US" altLang="ko-KR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Continuity </a:t>
            </a:r>
            <a:r>
              <a:rPr lang="ko-KR" alt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방정식을 푼다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3B44165-343F-CC79-AFAC-E1C03401A62A}"/>
              </a:ext>
            </a:extLst>
          </p:cNvPr>
          <p:cNvSpPr txBox="1"/>
          <p:nvPr/>
        </p:nvSpPr>
        <p:spPr>
          <a:xfrm>
            <a:off x="4725621" y="5299438"/>
            <a:ext cx="144618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계산수렴</a:t>
            </a:r>
            <a:r>
              <a:rPr lang="ko-KR" altLang="en-U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잘되면 전압 변화 간격 증가</a:t>
            </a:r>
            <a:endParaRPr lang="ko-KR" altLang="en-US" sz="1100" dirty="0"/>
          </a:p>
        </p:txBody>
      </p:sp>
      <p:grpSp>
        <p:nvGrpSpPr>
          <p:cNvPr id="1024" name="그룹 1023">
            <a:extLst>
              <a:ext uri="{FF2B5EF4-FFF2-40B4-BE49-F238E27FC236}">
                <a16:creationId xmlns:a16="http://schemas.microsoft.com/office/drawing/2014/main" id="{E40CD208-5D56-D726-ACB4-F2035978721B}"/>
              </a:ext>
            </a:extLst>
          </p:cNvPr>
          <p:cNvGrpSpPr/>
          <p:nvPr/>
        </p:nvGrpSpPr>
        <p:grpSpPr>
          <a:xfrm>
            <a:off x="4115855" y="5709883"/>
            <a:ext cx="5074005" cy="735102"/>
            <a:chOff x="4115855" y="4987063"/>
            <a:chExt cx="5074005" cy="735102"/>
          </a:xfrm>
        </p:grpSpPr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E043D727-2F55-FD79-B4E6-068FDA04C91F}"/>
                </a:ext>
              </a:extLst>
            </p:cNvPr>
            <p:cNvCxnSpPr>
              <a:cxnSpLocks/>
            </p:cNvCxnSpPr>
            <p:nvPr/>
          </p:nvCxnSpPr>
          <p:spPr>
            <a:xfrm>
              <a:off x="4450412" y="5191380"/>
              <a:ext cx="443835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3825D857-0E4F-C83C-CF4E-B4B70B08136D}"/>
                </a:ext>
              </a:extLst>
            </p:cNvPr>
            <p:cNvSpPr/>
            <p:nvPr/>
          </p:nvSpPr>
          <p:spPr>
            <a:xfrm>
              <a:off x="4378404" y="5123860"/>
              <a:ext cx="144016" cy="13503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0BD33DDD-9652-BD78-BD79-AC52CEF14239}"/>
                </a:ext>
              </a:extLst>
            </p:cNvPr>
            <p:cNvSpPr/>
            <p:nvPr/>
          </p:nvSpPr>
          <p:spPr>
            <a:xfrm>
              <a:off x="8816759" y="5123860"/>
              <a:ext cx="144016" cy="13503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3551096-8DE2-BCE0-3331-68D38FA03642}"/>
                </a:ext>
              </a:extLst>
            </p:cNvPr>
            <p:cNvSpPr txBox="1"/>
            <p:nvPr/>
          </p:nvSpPr>
          <p:spPr>
            <a:xfrm>
              <a:off x="4115855" y="5291278"/>
              <a:ext cx="1108363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100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초기전압</a:t>
              </a:r>
              <a:r>
                <a:rPr lang="en-US" altLang="ko-KR" sz="1100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: 0 V</a:t>
              </a:r>
            </a:p>
            <a:p>
              <a:r>
                <a:rPr lang="ko-KR" altLang="en-US" sz="1100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정규화</a:t>
              </a:r>
              <a:r>
                <a:rPr lang="en-US" altLang="ko-KR" sz="1100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: 0</a:t>
              </a:r>
              <a:endParaRPr lang="ko-KR" altLang="en-US" sz="11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A14BB47-156B-DC6B-629E-44A0B95CB647}"/>
                </a:ext>
              </a:extLst>
            </p:cNvPr>
            <p:cNvSpPr txBox="1"/>
            <p:nvPr/>
          </p:nvSpPr>
          <p:spPr>
            <a:xfrm>
              <a:off x="7839116" y="5291278"/>
              <a:ext cx="1350744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100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목표전압</a:t>
              </a:r>
              <a:r>
                <a:rPr lang="en-US" altLang="ko-KR" sz="1100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: 1.0V</a:t>
              </a:r>
            </a:p>
            <a:p>
              <a:r>
                <a:rPr lang="ko-KR" altLang="en-US" sz="1100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정규화</a:t>
              </a:r>
              <a:r>
                <a:rPr lang="en-US" altLang="ko-KR" sz="1100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rPr>
                <a:t>: 1</a:t>
              </a:r>
              <a:endParaRPr lang="ko-KR" altLang="en-US" sz="1100" dirty="0"/>
            </a:p>
          </p:txBody>
        </p:sp>
        <p:sp>
          <p:nvSpPr>
            <p:cNvPr id="53" name="자유형: 도형 52">
              <a:extLst>
                <a:ext uri="{FF2B5EF4-FFF2-40B4-BE49-F238E27FC236}">
                  <a16:creationId xmlns:a16="http://schemas.microsoft.com/office/drawing/2014/main" id="{AE151090-0D48-E7F7-00DD-43C87BC0DDF1}"/>
                </a:ext>
              </a:extLst>
            </p:cNvPr>
            <p:cNvSpPr/>
            <p:nvPr/>
          </p:nvSpPr>
          <p:spPr>
            <a:xfrm>
              <a:off x="4472997" y="4992573"/>
              <a:ext cx="241465" cy="190036"/>
            </a:xfrm>
            <a:custGeom>
              <a:avLst/>
              <a:gdLst>
                <a:gd name="connsiteX0" fmla="*/ 0 w 352301"/>
                <a:gd name="connsiteY0" fmla="*/ 190037 h 190037"/>
                <a:gd name="connsiteX1" fmla="*/ 197922 w 352301"/>
                <a:gd name="connsiteY1" fmla="*/ 32 h 190037"/>
                <a:gd name="connsiteX2" fmla="*/ 352301 w 352301"/>
                <a:gd name="connsiteY2" fmla="*/ 178162 h 190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2301" h="190037">
                  <a:moveTo>
                    <a:pt x="0" y="190037"/>
                  </a:moveTo>
                  <a:cubicBezTo>
                    <a:pt x="69602" y="96024"/>
                    <a:pt x="139205" y="2011"/>
                    <a:pt x="197922" y="32"/>
                  </a:cubicBezTo>
                  <a:cubicBezTo>
                    <a:pt x="256639" y="-1947"/>
                    <a:pt x="304470" y="88107"/>
                    <a:pt x="352301" y="178162"/>
                  </a:cubicBezTo>
                </a:path>
              </a:pathLst>
            </a:cu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자유형: 도형 53">
              <a:extLst>
                <a:ext uri="{FF2B5EF4-FFF2-40B4-BE49-F238E27FC236}">
                  <a16:creationId xmlns:a16="http://schemas.microsoft.com/office/drawing/2014/main" id="{AFD25A75-5291-EEA7-B499-0E9DC178A6C5}"/>
                </a:ext>
              </a:extLst>
            </p:cNvPr>
            <p:cNvSpPr/>
            <p:nvPr/>
          </p:nvSpPr>
          <p:spPr>
            <a:xfrm>
              <a:off x="4718137" y="4990708"/>
              <a:ext cx="334902" cy="190036"/>
            </a:xfrm>
            <a:custGeom>
              <a:avLst/>
              <a:gdLst>
                <a:gd name="connsiteX0" fmla="*/ 0 w 352301"/>
                <a:gd name="connsiteY0" fmla="*/ 190037 h 190037"/>
                <a:gd name="connsiteX1" fmla="*/ 197922 w 352301"/>
                <a:gd name="connsiteY1" fmla="*/ 32 h 190037"/>
                <a:gd name="connsiteX2" fmla="*/ 352301 w 352301"/>
                <a:gd name="connsiteY2" fmla="*/ 178162 h 190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2301" h="190037">
                  <a:moveTo>
                    <a:pt x="0" y="190037"/>
                  </a:moveTo>
                  <a:cubicBezTo>
                    <a:pt x="69602" y="96024"/>
                    <a:pt x="139205" y="2011"/>
                    <a:pt x="197922" y="32"/>
                  </a:cubicBezTo>
                  <a:cubicBezTo>
                    <a:pt x="256639" y="-1947"/>
                    <a:pt x="304470" y="88107"/>
                    <a:pt x="352301" y="178162"/>
                  </a:cubicBezTo>
                </a:path>
              </a:pathLst>
            </a:cu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9FFCAFF7-D48D-9304-FF5D-9635F2B3EE4E}"/>
                </a:ext>
              </a:extLst>
            </p:cNvPr>
            <p:cNvSpPr/>
            <p:nvPr/>
          </p:nvSpPr>
          <p:spPr>
            <a:xfrm>
              <a:off x="5062112" y="5001343"/>
              <a:ext cx="477816" cy="190036"/>
            </a:xfrm>
            <a:custGeom>
              <a:avLst/>
              <a:gdLst>
                <a:gd name="connsiteX0" fmla="*/ 0 w 352301"/>
                <a:gd name="connsiteY0" fmla="*/ 190037 h 190037"/>
                <a:gd name="connsiteX1" fmla="*/ 197922 w 352301"/>
                <a:gd name="connsiteY1" fmla="*/ 32 h 190037"/>
                <a:gd name="connsiteX2" fmla="*/ 352301 w 352301"/>
                <a:gd name="connsiteY2" fmla="*/ 178162 h 190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2301" h="190037">
                  <a:moveTo>
                    <a:pt x="0" y="190037"/>
                  </a:moveTo>
                  <a:cubicBezTo>
                    <a:pt x="69602" y="96024"/>
                    <a:pt x="139205" y="2011"/>
                    <a:pt x="197922" y="32"/>
                  </a:cubicBezTo>
                  <a:cubicBezTo>
                    <a:pt x="256639" y="-1947"/>
                    <a:pt x="304470" y="88107"/>
                    <a:pt x="352301" y="178162"/>
                  </a:cubicBezTo>
                </a:path>
              </a:pathLst>
            </a:cu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자유형: 도형 55">
              <a:extLst>
                <a:ext uri="{FF2B5EF4-FFF2-40B4-BE49-F238E27FC236}">
                  <a16:creationId xmlns:a16="http://schemas.microsoft.com/office/drawing/2014/main" id="{F8EC0D92-9DC6-8971-9B15-B16659E58725}"/>
                </a:ext>
              </a:extLst>
            </p:cNvPr>
            <p:cNvSpPr/>
            <p:nvPr/>
          </p:nvSpPr>
          <p:spPr>
            <a:xfrm>
              <a:off x="5551087" y="4990994"/>
              <a:ext cx="685526" cy="190036"/>
            </a:xfrm>
            <a:custGeom>
              <a:avLst/>
              <a:gdLst>
                <a:gd name="connsiteX0" fmla="*/ 0 w 352301"/>
                <a:gd name="connsiteY0" fmla="*/ 190037 h 190037"/>
                <a:gd name="connsiteX1" fmla="*/ 197922 w 352301"/>
                <a:gd name="connsiteY1" fmla="*/ 32 h 190037"/>
                <a:gd name="connsiteX2" fmla="*/ 352301 w 352301"/>
                <a:gd name="connsiteY2" fmla="*/ 178162 h 190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2301" h="190037">
                  <a:moveTo>
                    <a:pt x="0" y="190037"/>
                  </a:moveTo>
                  <a:cubicBezTo>
                    <a:pt x="69602" y="96024"/>
                    <a:pt x="139205" y="2011"/>
                    <a:pt x="197922" y="32"/>
                  </a:cubicBezTo>
                  <a:cubicBezTo>
                    <a:pt x="256639" y="-1947"/>
                    <a:pt x="304470" y="88107"/>
                    <a:pt x="352301" y="178162"/>
                  </a:cubicBezTo>
                </a:path>
              </a:pathLst>
            </a:cu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F8B17987-3E46-5888-68E3-EF6877EEF4FF}"/>
                </a:ext>
              </a:extLst>
            </p:cNvPr>
            <p:cNvSpPr/>
            <p:nvPr/>
          </p:nvSpPr>
          <p:spPr>
            <a:xfrm>
              <a:off x="6968890" y="4990708"/>
              <a:ext cx="477816" cy="190036"/>
            </a:xfrm>
            <a:custGeom>
              <a:avLst/>
              <a:gdLst>
                <a:gd name="connsiteX0" fmla="*/ 0 w 352301"/>
                <a:gd name="connsiteY0" fmla="*/ 190037 h 190037"/>
                <a:gd name="connsiteX1" fmla="*/ 197922 w 352301"/>
                <a:gd name="connsiteY1" fmla="*/ 32 h 190037"/>
                <a:gd name="connsiteX2" fmla="*/ 352301 w 352301"/>
                <a:gd name="connsiteY2" fmla="*/ 178162 h 190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2301" h="190037">
                  <a:moveTo>
                    <a:pt x="0" y="190037"/>
                  </a:moveTo>
                  <a:cubicBezTo>
                    <a:pt x="69602" y="96024"/>
                    <a:pt x="139205" y="2011"/>
                    <a:pt x="197922" y="32"/>
                  </a:cubicBezTo>
                  <a:cubicBezTo>
                    <a:pt x="256639" y="-1947"/>
                    <a:pt x="304470" y="88107"/>
                    <a:pt x="352301" y="178162"/>
                  </a:cubicBezTo>
                </a:path>
              </a:pathLst>
            </a:cu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자유형: 도형 58">
              <a:extLst>
                <a:ext uri="{FF2B5EF4-FFF2-40B4-BE49-F238E27FC236}">
                  <a16:creationId xmlns:a16="http://schemas.microsoft.com/office/drawing/2014/main" id="{983F14FF-F999-B47F-572F-E4D94A127AC2}"/>
                </a:ext>
              </a:extLst>
            </p:cNvPr>
            <p:cNvSpPr/>
            <p:nvPr/>
          </p:nvSpPr>
          <p:spPr>
            <a:xfrm>
              <a:off x="7839116" y="5001343"/>
              <a:ext cx="241465" cy="190036"/>
            </a:xfrm>
            <a:custGeom>
              <a:avLst/>
              <a:gdLst>
                <a:gd name="connsiteX0" fmla="*/ 0 w 352301"/>
                <a:gd name="connsiteY0" fmla="*/ 190037 h 190037"/>
                <a:gd name="connsiteX1" fmla="*/ 197922 w 352301"/>
                <a:gd name="connsiteY1" fmla="*/ 32 h 190037"/>
                <a:gd name="connsiteX2" fmla="*/ 352301 w 352301"/>
                <a:gd name="connsiteY2" fmla="*/ 178162 h 190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2301" h="190037">
                  <a:moveTo>
                    <a:pt x="0" y="190037"/>
                  </a:moveTo>
                  <a:cubicBezTo>
                    <a:pt x="69602" y="96024"/>
                    <a:pt x="139205" y="2011"/>
                    <a:pt x="197922" y="32"/>
                  </a:cubicBezTo>
                  <a:cubicBezTo>
                    <a:pt x="256639" y="-1947"/>
                    <a:pt x="304470" y="88107"/>
                    <a:pt x="352301" y="178162"/>
                  </a:cubicBezTo>
                </a:path>
              </a:pathLst>
            </a:cu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자유형: 도형 59">
              <a:extLst>
                <a:ext uri="{FF2B5EF4-FFF2-40B4-BE49-F238E27FC236}">
                  <a16:creationId xmlns:a16="http://schemas.microsoft.com/office/drawing/2014/main" id="{6F373084-7B7F-FA9B-9E90-364BCD20C463}"/>
                </a:ext>
              </a:extLst>
            </p:cNvPr>
            <p:cNvSpPr/>
            <p:nvPr/>
          </p:nvSpPr>
          <p:spPr>
            <a:xfrm>
              <a:off x="7468584" y="4987063"/>
              <a:ext cx="334902" cy="190036"/>
            </a:xfrm>
            <a:custGeom>
              <a:avLst/>
              <a:gdLst>
                <a:gd name="connsiteX0" fmla="*/ 0 w 352301"/>
                <a:gd name="connsiteY0" fmla="*/ 190037 h 190037"/>
                <a:gd name="connsiteX1" fmla="*/ 197922 w 352301"/>
                <a:gd name="connsiteY1" fmla="*/ 32 h 190037"/>
                <a:gd name="connsiteX2" fmla="*/ 352301 w 352301"/>
                <a:gd name="connsiteY2" fmla="*/ 178162 h 190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2301" h="190037">
                  <a:moveTo>
                    <a:pt x="0" y="190037"/>
                  </a:moveTo>
                  <a:cubicBezTo>
                    <a:pt x="69602" y="96024"/>
                    <a:pt x="139205" y="2011"/>
                    <a:pt x="197922" y="32"/>
                  </a:cubicBezTo>
                  <a:cubicBezTo>
                    <a:pt x="256639" y="-1947"/>
                    <a:pt x="304470" y="88107"/>
                    <a:pt x="352301" y="178162"/>
                  </a:cubicBezTo>
                </a:path>
              </a:pathLst>
            </a:custGeom>
            <a:noFill/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91C8D0B6-C938-B873-588F-83076FC6964E}"/>
              </a:ext>
            </a:extLst>
          </p:cNvPr>
          <p:cNvSpPr txBox="1"/>
          <p:nvPr/>
        </p:nvSpPr>
        <p:spPr>
          <a:xfrm>
            <a:off x="6882523" y="5296357"/>
            <a:ext cx="144618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계산수렴</a:t>
            </a:r>
            <a:r>
              <a:rPr lang="ko-KR" altLang="en-US" sz="11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안되면 전압 변화 간격 감소</a:t>
            </a:r>
            <a:endParaRPr lang="ko-KR" altLang="en-US" sz="1100" dirty="0"/>
          </a:p>
        </p:txBody>
      </p:sp>
      <p:pic>
        <p:nvPicPr>
          <p:cNvPr id="1026" name="그림 1025">
            <a:extLst>
              <a:ext uri="{FF2B5EF4-FFF2-40B4-BE49-F238E27FC236}">
                <a16:creationId xmlns:a16="http://schemas.microsoft.com/office/drawing/2014/main" id="{9E196D63-BF76-F7BF-3ACF-D570A0A56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35" y="2367267"/>
            <a:ext cx="3307542" cy="945012"/>
          </a:xfrm>
          <a:prstGeom prst="rect">
            <a:avLst/>
          </a:prstGeom>
        </p:spPr>
      </p:pic>
      <p:sp>
        <p:nvSpPr>
          <p:cNvPr id="1058" name="직사각형 1057">
            <a:extLst>
              <a:ext uri="{FF2B5EF4-FFF2-40B4-BE49-F238E27FC236}">
                <a16:creationId xmlns:a16="http://schemas.microsoft.com/office/drawing/2014/main" id="{F238EF21-B2AA-5DD2-37C6-2CFA40B680E0}"/>
              </a:ext>
            </a:extLst>
          </p:cNvPr>
          <p:cNvSpPr/>
          <p:nvPr/>
        </p:nvSpPr>
        <p:spPr>
          <a:xfrm>
            <a:off x="670558" y="2331338"/>
            <a:ext cx="3347088" cy="100404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8" name="그림 1027">
            <a:extLst>
              <a:ext uri="{FF2B5EF4-FFF2-40B4-BE49-F238E27FC236}">
                <a16:creationId xmlns:a16="http://schemas.microsoft.com/office/drawing/2014/main" id="{1DB2A0AD-CEBA-147E-8817-39ADC74EA4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192" y="5633288"/>
            <a:ext cx="3329269" cy="824682"/>
          </a:xfrm>
          <a:prstGeom prst="rect">
            <a:avLst/>
          </a:prstGeom>
        </p:spPr>
      </p:pic>
      <p:pic>
        <p:nvPicPr>
          <p:cNvPr id="1029" name="그림 1028">
            <a:extLst>
              <a:ext uri="{FF2B5EF4-FFF2-40B4-BE49-F238E27FC236}">
                <a16:creationId xmlns:a16="http://schemas.microsoft.com/office/drawing/2014/main" id="{AC3BA48A-1984-DC6A-7B52-A74E760776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726" y="4685988"/>
            <a:ext cx="3316252" cy="848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598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D28ED-E849-152F-3242-285172ACC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9BC98654-5E53-C8B6-F424-3D0302C4C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80" y="1404384"/>
            <a:ext cx="3598185" cy="518896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9A4386A-16D5-2F4D-B80D-F3222E3B5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SDEVICE Manual</a:t>
            </a:r>
            <a:endParaRPr lang="ko-KR" altLang="en-US" dirty="0">
              <a:latin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8E8580-FB3D-751B-8287-A6F1E5BB3CA3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SDEVICE Command 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생성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3FD1999F-616A-22AB-8883-6A3EDD273E8F}"/>
              </a:ext>
            </a:extLst>
          </p:cNvPr>
          <p:cNvSpPr/>
          <p:nvPr/>
        </p:nvSpPr>
        <p:spPr>
          <a:xfrm>
            <a:off x="91877" y="1405680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874F78F6-FA6B-BB5A-5A3A-041AF9FFAFCD}"/>
              </a:ext>
            </a:extLst>
          </p:cNvPr>
          <p:cNvCxnSpPr>
            <a:cxnSpLocks/>
          </p:cNvCxnSpPr>
          <p:nvPr/>
        </p:nvCxnSpPr>
        <p:spPr>
          <a:xfrm flipV="1">
            <a:off x="4068616" y="1449847"/>
            <a:ext cx="0" cy="4876800"/>
          </a:xfrm>
          <a:prstGeom prst="line">
            <a:avLst/>
          </a:prstGeom>
          <a:ln w="1905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A8B9110-DB9D-7930-92C9-01DD3A290083}"/>
              </a:ext>
            </a:extLst>
          </p:cNvPr>
          <p:cNvCxnSpPr>
            <a:cxnSpLocks/>
          </p:cNvCxnSpPr>
          <p:nvPr/>
        </p:nvCxnSpPr>
        <p:spPr>
          <a:xfrm flipV="1">
            <a:off x="4068616" y="1449847"/>
            <a:ext cx="0" cy="4876800"/>
          </a:xfrm>
          <a:prstGeom prst="line">
            <a:avLst/>
          </a:prstGeom>
          <a:ln w="1905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63DC6705-9D68-812B-9EB4-637AFB23D107}"/>
              </a:ext>
            </a:extLst>
          </p:cNvPr>
          <p:cNvSpPr txBox="1"/>
          <p:nvPr/>
        </p:nvSpPr>
        <p:spPr>
          <a:xfrm>
            <a:off x="4436813" y="1701952"/>
            <a:ext cx="41172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save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FilePrefix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=“</a:t>
            </a:r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vd_initial_n@node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@”)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F22A8EE-26DA-EF08-44AB-C166099B4F3F}"/>
              </a:ext>
            </a:extLst>
          </p:cNvPr>
          <p:cNvSpPr txBox="1"/>
          <p:nvPr/>
        </p:nvSpPr>
        <p:spPr>
          <a:xfrm>
            <a:off x="4436812" y="1966314"/>
            <a:ext cx="467466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Drain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전압을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1.0 V 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까지 해석한 구조 파일을 저장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추후 </a:t>
            </a:r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Vd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= 1.0 V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조건에서 </a:t>
            </a:r>
            <a:r>
              <a:rPr lang="ko-KR" altLang="en-US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시뮬레이션할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때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</a:t>
            </a:r>
            <a:b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</a:b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다시 처음부터 계산할 필요 없이</a:t>
            </a:r>
            <a:b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</a:br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vd_initial_n@node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@ 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파일을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load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해서 시작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시간절감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</a:p>
        </p:txBody>
      </p:sp>
      <p:pic>
        <p:nvPicPr>
          <p:cNvPr id="1026" name="그림 1025">
            <a:extLst>
              <a:ext uri="{FF2B5EF4-FFF2-40B4-BE49-F238E27FC236}">
                <a16:creationId xmlns:a16="http://schemas.microsoft.com/office/drawing/2014/main" id="{9117EE0D-432C-486C-5940-1B5EDC75B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35" y="2367267"/>
            <a:ext cx="3307542" cy="945012"/>
          </a:xfrm>
          <a:prstGeom prst="rect">
            <a:avLst/>
          </a:prstGeom>
        </p:spPr>
      </p:pic>
      <p:sp>
        <p:nvSpPr>
          <p:cNvPr id="1058" name="직사각형 1057">
            <a:extLst>
              <a:ext uri="{FF2B5EF4-FFF2-40B4-BE49-F238E27FC236}">
                <a16:creationId xmlns:a16="http://schemas.microsoft.com/office/drawing/2014/main" id="{55C75277-2AFC-4494-5EE8-19C80E1348C0}"/>
              </a:ext>
            </a:extLst>
          </p:cNvPr>
          <p:cNvSpPr/>
          <p:nvPr/>
        </p:nvSpPr>
        <p:spPr>
          <a:xfrm>
            <a:off x="670558" y="2331338"/>
            <a:ext cx="3347088" cy="100404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3E5389-1B11-B916-E3A5-35D552E701C2}"/>
              </a:ext>
            </a:extLst>
          </p:cNvPr>
          <p:cNvSpPr txBox="1"/>
          <p:nvPr/>
        </p:nvSpPr>
        <p:spPr>
          <a:xfrm>
            <a:off x="4436812" y="4723615"/>
            <a:ext cx="430368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저장된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vd_initial_n21_des.sav 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및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vd_initial_n21_circuit_des.sav 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파일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로딩</a:t>
            </a:r>
            <a:endParaRPr lang="en-US" altLang="ko-KR" sz="14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 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저장된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조건에서 여러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biasing 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가할 때 씀</a:t>
            </a:r>
            <a:endParaRPr lang="en-US" altLang="ko-KR" sz="14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905A65-7D86-6E5A-61CD-C6C722566AEF}"/>
              </a:ext>
            </a:extLst>
          </p:cNvPr>
          <p:cNvSpPr txBox="1"/>
          <p:nvPr/>
        </p:nvSpPr>
        <p:spPr>
          <a:xfrm>
            <a:off x="4436813" y="3154525"/>
            <a:ext cx="41172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plot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FilePrefix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=“</a:t>
            </a:r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vd_initial_n@node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@”)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31355F-1CC2-1D0D-C1FA-14A8FB43B990}"/>
              </a:ext>
            </a:extLst>
          </p:cNvPr>
          <p:cNvSpPr txBox="1"/>
          <p:nvPr/>
        </p:nvSpPr>
        <p:spPr>
          <a:xfrm>
            <a:off x="4436813" y="3418887"/>
            <a:ext cx="45113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Vd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= 1.0 V, Vg = 0 V (Vg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는 초기조건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 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까지 해석한 구조 파일을 저장</a:t>
            </a:r>
            <a:endParaRPr lang="en-US" altLang="ko-KR" sz="14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파일명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vd0_initial_n21_des.tdr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12C377-6A30-8FD1-A62B-FCE18B68B219}"/>
              </a:ext>
            </a:extLst>
          </p:cNvPr>
          <p:cNvSpPr txBox="1"/>
          <p:nvPr/>
        </p:nvSpPr>
        <p:spPr>
          <a:xfrm>
            <a:off x="4436812" y="4438963"/>
            <a:ext cx="41172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Load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FilePrefix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=“</a:t>
            </a:r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vd_initial_n@node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@”)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A28C658-1DB6-7CCB-86A6-945A90FEAA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192" y="5633288"/>
            <a:ext cx="3329269" cy="824682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8162F92-D1BC-28C6-545E-9FD3C1E38B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4700" y="5831278"/>
            <a:ext cx="2124371" cy="495369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F58C94C-E809-111B-2126-78F8272531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726" y="4685988"/>
            <a:ext cx="3316252" cy="848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0215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CA3B9-C9F5-0E77-594E-197DC83BA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94124594-DFB5-878A-3BB7-4F9AB28C1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80" y="1404384"/>
            <a:ext cx="3598185" cy="518896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9F47740-1630-5933-D064-600F8740B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SDEVICE Manual</a:t>
            </a:r>
            <a:endParaRPr lang="ko-KR" altLang="en-US" dirty="0">
              <a:latin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CAE06E-D94D-1485-62C0-4C39552BE2B5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SDEVICE Command 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생성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D427BF15-9B50-0349-1CC1-222258CFDA49}"/>
              </a:ext>
            </a:extLst>
          </p:cNvPr>
          <p:cNvSpPr/>
          <p:nvPr/>
        </p:nvSpPr>
        <p:spPr>
          <a:xfrm>
            <a:off x="91877" y="1405680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CCA088A6-C84C-6D20-311C-5C93215D8913}"/>
              </a:ext>
            </a:extLst>
          </p:cNvPr>
          <p:cNvCxnSpPr>
            <a:cxnSpLocks/>
          </p:cNvCxnSpPr>
          <p:nvPr/>
        </p:nvCxnSpPr>
        <p:spPr>
          <a:xfrm flipV="1">
            <a:off x="4068616" y="1449847"/>
            <a:ext cx="0" cy="4876800"/>
          </a:xfrm>
          <a:prstGeom prst="line">
            <a:avLst/>
          </a:prstGeom>
          <a:ln w="1905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D23FC36-AB4B-885D-11A9-122C6F00B4FD}"/>
              </a:ext>
            </a:extLst>
          </p:cNvPr>
          <p:cNvCxnSpPr>
            <a:cxnSpLocks/>
          </p:cNvCxnSpPr>
          <p:nvPr/>
        </p:nvCxnSpPr>
        <p:spPr>
          <a:xfrm flipV="1">
            <a:off x="4068616" y="1449847"/>
            <a:ext cx="0" cy="4876800"/>
          </a:xfrm>
          <a:prstGeom prst="line">
            <a:avLst/>
          </a:prstGeom>
          <a:ln w="1905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그림 1025">
            <a:extLst>
              <a:ext uri="{FF2B5EF4-FFF2-40B4-BE49-F238E27FC236}">
                <a16:creationId xmlns:a16="http://schemas.microsoft.com/office/drawing/2014/main" id="{BB1C4A98-1820-1750-E664-77F4A1CE4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35" y="2367267"/>
            <a:ext cx="3307542" cy="94501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C7F21889-E3BC-F734-73DD-97734536633F}"/>
              </a:ext>
            </a:extLst>
          </p:cNvPr>
          <p:cNvSpPr/>
          <p:nvPr/>
        </p:nvSpPr>
        <p:spPr>
          <a:xfrm>
            <a:off x="640081" y="3437877"/>
            <a:ext cx="3377227" cy="86088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9272CD8-CB75-CC85-0C62-E12210EC7D09}"/>
              </a:ext>
            </a:extLst>
          </p:cNvPr>
          <p:cNvSpPr/>
          <p:nvPr/>
        </p:nvSpPr>
        <p:spPr>
          <a:xfrm>
            <a:off x="643280" y="4357965"/>
            <a:ext cx="3374027" cy="2246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CF4BF53-B328-659B-9353-740CBAA5B8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192" y="5633288"/>
            <a:ext cx="3329269" cy="824682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92B8C9CA-E0C0-A396-88D4-8B1755F38941}"/>
              </a:ext>
            </a:extLst>
          </p:cNvPr>
          <p:cNvSpPr/>
          <p:nvPr/>
        </p:nvSpPr>
        <p:spPr>
          <a:xfrm>
            <a:off x="640081" y="5623720"/>
            <a:ext cx="3377226" cy="86088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0E070A-7D16-7BC6-C46C-BD624FD44A08}"/>
              </a:ext>
            </a:extLst>
          </p:cNvPr>
          <p:cNvSpPr txBox="1"/>
          <p:nvPr/>
        </p:nvSpPr>
        <p:spPr>
          <a:xfrm>
            <a:off x="4454231" y="3623979"/>
            <a:ext cx="45284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NewCurrentPrefix=“</a:t>
            </a:r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IdVg_L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_”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E9CC7B-B362-83A2-A632-BFE3E80AD49E}"/>
              </a:ext>
            </a:extLst>
          </p:cNvPr>
          <p:cNvSpPr txBox="1"/>
          <p:nvPr/>
        </p:nvSpPr>
        <p:spPr>
          <a:xfrm>
            <a:off x="4497548" y="3887672"/>
            <a:ext cx="479857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해당 코드 아래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bias 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조건에 따른 정보들을</a:t>
            </a:r>
            <a:endParaRPr lang="en-US" altLang="ko-KR" sz="14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IdVg_L_n21_des.plt 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파일 내에 저장한다는 명령어</a:t>
            </a:r>
            <a:endParaRPr lang="en-US" altLang="ko-KR" sz="14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altLang="ko-KR" sz="14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NewCurrentFile</a:t>
            </a:r>
            <a:r>
              <a:rPr lang="ko-KR" altLang="en-US" sz="14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조건 이전에 해석된 데이터는 저장 안 됨</a:t>
            </a:r>
            <a:endParaRPr lang="en-US" altLang="ko-KR" sz="1400" b="1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endParaRPr lang="en-US" altLang="ko-KR" sz="400" b="1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IdVg_n21_des.plt</a:t>
            </a:r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 </a:t>
            </a:r>
            <a:r>
              <a:rPr lang="en-US" altLang="ko-KR" sz="14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Vd</a:t>
            </a:r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= 1.0 V </a:t>
            </a:r>
            <a:r>
              <a:rPr lang="ko-KR" altLang="en-US" sz="14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기반 </a:t>
            </a:r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Vg = -1.0 ~ 3.0 V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E0D67271-E7E8-3F78-32CE-F928155CE3A2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017307" y="3854241"/>
            <a:ext cx="477592" cy="6160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A2B528C-3A78-784D-27AE-7A4128374CE3}"/>
              </a:ext>
            </a:extLst>
          </p:cNvPr>
          <p:cNvGrpSpPr/>
          <p:nvPr/>
        </p:nvGrpSpPr>
        <p:grpSpPr>
          <a:xfrm>
            <a:off x="5201944" y="1132047"/>
            <a:ext cx="3366198" cy="1551807"/>
            <a:chOff x="5408005" y="2566143"/>
            <a:chExt cx="3366198" cy="1551807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77824CFB-5607-CEF9-C187-D00FB296007F}"/>
                </a:ext>
              </a:extLst>
            </p:cNvPr>
            <p:cNvGrpSpPr/>
            <p:nvPr/>
          </p:nvGrpSpPr>
          <p:grpSpPr>
            <a:xfrm>
              <a:off x="5408005" y="2566143"/>
              <a:ext cx="3366198" cy="1551807"/>
              <a:chOff x="5683100" y="5032463"/>
              <a:chExt cx="3366198" cy="1551807"/>
            </a:xfrm>
          </p:grpSpPr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F41EDD5B-2F42-374F-8061-FD75CA127B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78060" y="6204744"/>
                <a:ext cx="0" cy="251999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B423BB4B-D312-F349-63A0-AF7F2AB3AD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67660" y="6470283"/>
                <a:ext cx="216000" cy="0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51E72551-7BF8-B99E-5E11-654BAEB3E4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03401" y="6528070"/>
                <a:ext cx="144001" cy="0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직선 연결선 27">
                <a:extLst>
                  <a:ext uri="{FF2B5EF4-FFF2-40B4-BE49-F238E27FC236}">
                    <a16:creationId xmlns:a16="http://schemas.microsoft.com/office/drawing/2014/main" id="{51D07126-20D0-3EC3-B8E3-CE1ADA029C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37918" y="6584270"/>
                <a:ext cx="72000" cy="0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" name="그룹 28">
                <a:extLst>
                  <a:ext uri="{FF2B5EF4-FFF2-40B4-BE49-F238E27FC236}">
                    <a16:creationId xmlns:a16="http://schemas.microsoft.com/office/drawing/2014/main" id="{ECE0E19D-E48C-301B-8369-423A43F0EBF3}"/>
                  </a:ext>
                </a:extLst>
              </p:cNvPr>
              <p:cNvGrpSpPr/>
              <p:nvPr/>
            </p:nvGrpSpPr>
            <p:grpSpPr>
              <a:xfrm>
                <a:off x="5683100" y="5610047"/>
                <a:ext cx="2209581" cy="693991"/>
                <a:chOff x="509386" y="3310237"/>
                <a:chExt cx="2209581" cy="678254"/>
              </a:xfrm>
            </p:grpSpPr>
            <p:sp>
              <p:nvSpPr>
                <p:cNvPr id="37" name="직사각형 36">
                  <a:extLst>
                    <a:ext uri="{FF2B5EF4-FFF2-40B4-BE49-F238E27FC236}">
                      <a16:creationId xmlns:a16="http://schemas.microsoft.com/office/drawing/2014/main" id="{9E74711B-74F1-5813-9C47-C738D24E69C4}"/>
                    </a:ext>
                  </a:extLst>
                </p:cNvPr>
                <p:cNvSpPr/>
                <p:nvPr/>
              </p:nvSpPr>
              <p:spPr>
                <a:xfrm>
                  <a:off x="922998" y="3310237"/>
                  <a:ext cx="1342242" cy="288000"/>
                </a:xfrm>
                <a:prstGeom prst="rect">
                  <a:avLst/>
                </a:prstGeom>
                <a:solidFill>
                  <a:srgbClr val="D1B58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38" name="그룹 37">
                  <a:extLst>
                    <a:ext uri="{FF2B5EF4-FFF2-40B4-BE49-F238E27FC236}">
                      <a16:creationId xmlns:a16="http://schemas.microsoft.com/office/drawing/2014/main" id="{F79F5B2B-2C60-B37D-0084-73C4C0AE1D89}"/>
                    </a:ext>
                  </a:extLst>
                </p:cNvPr>
                <p:cNvGrpSpPr/>
                <p:nvPr/>
              </p:nvGrpSpPr>
              <p:grpSpPr>
                <a:xfrm>
                  <a:off x="509386" y="3515645"/>
                  <a:ext cx="2209581" cy="472846"/>
                  <a:chOff x="509386" y="3515645"/>
                  <a:chExt cx="2209581" cy="472846"/>
                </a:xfrm>
              </p:grpSpPr>
              <p:sp>
                <p:nvSpPr>
                  <p:cNvPr id="39" name="직사각형 38">
                    <a:extLst>
                      <a:ext uri="{FF2B5EF4-FFF2-40B4-BE49-F238E27FC236}">
                        <a16:creationId xmlns:a16="http://schemas.microsoft.com/office/drawing/2014/main" id="{A3240F43-287D-2C90-FD5F-061146F8234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09386" y="3700490"/>
                    <a:ext cx="2209581" cy="288001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0" name="직사각형 39">
                    <a:extLst>
                      <a:ext uri="{FF2B5EF4-FFF2-40B4-BE49-F238E27FC236}">
                        <a16:creationId xmlns:a16="http://schemas.microsoft.com/office/drawing/2014/main" id="{1754D063-71E6-F08A-D825-97CDDF08EA3D}"/>
                      </a:ext>
                    </a:extLst>
                  </p:cNvPr>
                  <p:cNvSpPr/>
                  <p:nvPr/>
                </p:nvSpPr>
                <p:spPr>
                  <a:xfrm>
                    <a:off x="923126" y="3582886"/>
                    <a:ext cx="1342242" cy="119895"/>
                  </a:xfrm>
                  <a:prstGeom prst="rect">
                    <a:avLst/>
                  </a:prstGeom>
                  <a:solidFill>
                    <a:srgbClr val="58D5E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41" name="직선 연결선 40">
                    <a:extLst>
                      <a:ext uri="{FF2B5EF4-FFF2-40B4-BE49-F238E27FC236}">
                        <a16:creationId xmlns:a16="http://schemas.microsoft.com/office/drawing/2014/main" id="{5D0B18AB-A120-F6D4-37DC-A2089F9222CA}"/>
                      </a:ext>
                    </a:extLst>
                  </p:cNvPr>
                  <p:cNvCxnSpPr/>
                  <p:nvPr/>
                </p:nvCxnSpPr>
                <p:spPr>
                  <a:xfrm>
                    <a:off x="660662" y="3515645"/>
                    <a:ext cx="0" cy="18000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  <a:head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직선 연결선 41">
                    <a:extLst>
                      <a:ext uri="{FF2B5EF4-FFF2-40B4-BE49-F238E27FC236}">
                        <a16:creationId xmlns:a16="http://schemas.microsoft.com/office/drawing/2014/main" id="{EE34666E-8D8A-06F7-0610-382782C464C3}"/>
                      </a:ext>
                    </a:extLst>
                  </p:cNvPr>
                  <p:cNvCxnSpPr/>
                  <p:nvPr/>
                </p:nvCxnSpPr>
                <p:spPr>
                  <a:xfrm>
                    <a:off x="2578906" y="3530305"/>
                    <a:ext cx="0" cy="18000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  <a:headEnd type="oval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E22AC4BB-97BA-AC5B-55A0-B84829C23589}"/>
                  </a:ext>
                </a:extLst>
              </p:cNvPr>
              <p:cNvSpPr/>
              <p:nvPr/>
            </p:nvSpPr>
            <p:spPr>
              <a:xfrm rot="10800000">
                <a:off x="5685132" y="6013499"/>
                <a:ext cx="421807" cy="193183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6F5658D7-7FA3-0286-FDB5-7B0C1453719A}"/>
                  </a:ext>
                </a:extLst>
              </p:cNvPr>
              <p:cNvSpPr/>
              <p:nvPr/>
            </p:nvSpPr>
            <p:spPr>
              <a:xfrm rot="10800000">
                <a:off x="7449181" y="6013497"/>
                <a:ext cx="440387" cy="193183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32" name="직선 연결선 31">
                <a:extLst>
                  <a:ext uri="{FF2B5EF4-FFF2-40B4-BE49-F238E27FC236}">
                    <a16:creationId xmlns:a16="http://schemas.microsoft.com/office/drawing/2014/main" id="{9CD4F4EC-46C4-95EF-48D5-4255AADBEF47}"/>
                  </a:ext>
                </a:extLst>
              </p:cNvPr>
              <p:cNvCxnSpPr/>
              <p:nvPr/>
            </p:nvCxnSpPr>
            <p:spPr>
              <a:xfrm>
                <a:off x="6767833" y="5424435"/>
                <a:ext cx="0" cy="184176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8522EC16-BC56-88C9-7DD2-BD29A4286508}"/>
                  </a:ext>
                </a:extLst>
              </p:cNvPr>
              <p:cNvSpPr/>
              <p:nvPr/>
            </p:nvSpPr>
            <p:spPr>
              <a:xfrm>
                <a:off x="6096840" y="5888490"/>
                <a:ext cx="1342242" cy="122677"/>
              </a:xfrm>
              <a:prstGeom prst="rect">
                <a:avLst/>
              </a:prstGeom>
              <a:solidFill>
                <a:srgbClr val="58D5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7D1BABD-3BBE-099F-72BE-B29754B07D28}"/>
                  </a:ext>
                </a:extLst>
              </p:cNvPr>
              <p:cNvSpPr txBox="1"/>
              <p:nvPr/>
            </p:nvSpPr>
            <p:spPr>
              <a:xfrm>
                <a:off x="7681616" y="5418966"/>
                <a:ext cx="136768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20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V</a:t>
                </a:r>
                <a:r>
                  <a:rPr lang="en-US" altLang="ko-KR" sz="2000" b="1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D</a:t>
                </a:r>
                <a:r>
                  <a:rPr lang="en-US" altLang="ko-K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= 1.0 V</a:t>
                </a:r>
              </a:p>
            </p:txBody>
          </p:sp>
          <p:cxnSp>
            <p:nvCxnSpPr>
              <p:cNvPr id="35" name="직선 연결선 34">
                <a:extLst>
                  <a:ext uri="{FF2B5EF4-FFF2-40B4-BE49-F238E27FC236}">
                    <a16:creationId xmlns:a16="http://schemas.microsoft.com/office/drawing/2014/main" id="{B5170FBE-0C00-37F0-0224-0DC2AD014773}"/>
                  </a:ext>
                </a:extLst>
              </p:cNvPr>
              <p:cNvCxnSpPr/>
              <p:nvPr/>
            </p:nvCxnSpPr>
            <p:spPr>
              <a:xfrm>
                <a:off x="7752620" y="5834689"/>
                <a:ext cx="0" cy="184176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3190A76-358B-870D-3E5C-6378E5DDDEA0}"/>
                  </a:ext>
                </a:extLst>
              </p:cNvPr>
              <p:cNvSpPr txBox="1"/>
              <p:nvPr/>
            </p:nvSpPr>
            <p:spPr>
              <a:xfrm>
                <a:off x="5690809" y="5032463"/>
                <a:ext cx="216918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20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V</a:t>
                </a:r>
                <a:r>
                  <a:rPr lang="en-US" altLang="ko-KR" sz="2000" b="1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G</a:t>
                </a:r>
                <a:r>
                  <a:rPr lang="en-US" altLang="ko-K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= 0V </a:t>
                </a:r>
                <a:r>
                  <a:rPr lang="en-US" altLang="ko-KR" sz="2000" b="1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 -1.0 V</a:t>
                </a:r>
                <a:endParaRPr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A49EFC77-18F2-1987-007E-01027C4C3B38}"/>
                </a:ext>
              </a:extLst>
            </p:cNvPr>
            <p:cNvGrpSpPr/>
            <p:nvPr/>
          </p:nvGrpSpPr>
          <p:grpSpPr>
            <a:xfrm flipV="1">
              <a:off x="5451281" y="3221023"/>
              <a:ext cx="216000" cy="113987"/>
              <a:chOff x="7123226" y="3535978"/>
              <a:chExt cx="216000" cy="113987"/>
            </a:xfrm>
          </p:grpSpPr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DFB2E289-DAEE-13D6-04C6-3B65E80A0C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23226" y="3535978"/>
                <a:ext cx="216000" cy="0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CBB65D78-E5E3-66C3-4E2C-CCB299C876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58967" y="3593765"/>
                <a:ext cx="144001" cy="0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직선 연결선 21">
                <a:extLst>
                  <a:ext uri="{FF2B5EF4-FFF2-40B4-BE49-F238E27FC236}">
                    <a16:creationId xmlns:a16="http://schemas.microsoft.com/office/drawing/2014/main" id="{5A73DCBE-F6A7-4B61-4E25-9367617812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93484" y="3649965"/>
                <a:ext cx="72000" cy="0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8D43AB75-442C-9BBA-DE4D-CFC616103A1D}"/>
              </a:ext>
            </a:extLst>
          </p:cNvPr>
          <p:cNvSpPr txBox="1"/>
          <p:nvPr/>
        </p:nvSpPr>
        <p:spPr>
          <a:xfrm>
            <a:off x="4881376" y="680442"/>
            <a:ext cx="42023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ko-KR" alt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직전에 설정된</a:t>
            </a:r>
            <a:r>
              <a:rPr lang="en-US" altLang="ko-KR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 </a:t>
            </a:r>
            <a:r>
              <a:rPr lang="en-US" altLang="ko-KR" sz="1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Vd</a:t>
            </a:r>
            <a:r>
              <a:rPr lang="ko-KR" alt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=</a:t>
            </a:r>
            <a:r>
              <a:rPr lang="ko-KR" alt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1.0 V </a:t>
            </a:r>
            <a:r>
              <a:rPr lang="ko-KR" alt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기반</a:t>
            </a:r>
            <a:r>
              <a:rPr lang="en-US" altLang="ko-KR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</a:t>
            </a:r>
            <a:r>
              <a:rPr lang="ko-KR" alt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Vg </a:t>
            </a:r>
            <a:r>
              <a:rPr lang="ko-KR" alt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을 </a:t>
            </a:r>
            <a:r>
              <a:rPr lang="en-US" altLang="ko-KR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-1.0 V </a:t>
            </a:r>
            <a:r>
              <a:rPr lang="ko-KR" alt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까지</a:t>
            </a:r>
            <a:endParaRPr lang="en-US" altLang="ko-KR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ko-KR" alt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가하며 </a:t>
            </a:r>
            <a:r>
              <a:rPr lang="en-US" altLang="ko-KR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Poisson </a:t>
            </a:r>
            <a:r>
              <a:rPr lang="ko-KR" alt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및 </a:t>
            </a:r>
            <a:r>
              <a:rPr lang="en-US" altLang="ko-KR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Continuity </a:t>
            </a:r>
            <a:r>
              <a:rPr lang="ko-KR" altLang="en-US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방정식을 푼다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8F4B8BF-2E6A-7040-4CB8-8DD4C3BC4619}"/>
              </a:ext>
            </a:extLst>
          </p:cNvPr>
          <p:cNvSpPr txBox="1"/>
          <p:nvPr/>
        </p:nvSpPr>
        <p:spPr>
          <a:xfrm>
            <a:off x="4454231" y="2689647"/>
            <a:ext cx="41172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Plot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FilePrefix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=“Vg_n1.0_n@node@”)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1B51C8-B3AE-E6D1-9E4E-33AB0B6332D4}"/>
              </a:ext>
            </a:extLst>
          </p:cNvPr>
          <p:cNvSpPr txBox="1"/>
          <p:nvPr/>
        </p:nvSpPr>
        <p:spPr>
          <a:xfrm>
            <a:off x="4454231" y="2954009"/>
            <a:ext cx="45113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</a:t>
            </a:r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Vd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= 1.0 V, Vg = -1.0 V </a:t>
            </a:r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까지 해석한 구조 파일을 저장</a:t>
            </a:r>
            <a:endParaRPr lang="en-US" altLang="ko-KR" sz="14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ko-KR" alt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파일명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Vg_n1.0_n21_des.tdr</a:t>
            </a: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3E56B208-F10A-6250-EC0D-F04F2FFC2E98}"/>
              </a:ext>
            </a:extLst>
          </p:cNvPr>
          <p:cNvCxnSpPr>
            <a:cxnSpLocks/>
          </p:cNvCxnSpPr>
          <p:nvPr/>
        </p:nvCxnSpPr>
        <p:spPr>
          <a:xfrm flipV="1">
            <a:off x="3746440" y="2213190"/>
            <a:ext cx="1134936" cy="120306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D288F617-AAFD-3F33-9835-182B3C08F574}"/>
              </a:ext>
            </a:extLst>
          </p:cNvPr>
          <p:cNvGrpSpPr/>
          <p:nvPr/>
        </p:nvGrpSpPr>
        <p:grpSpPr>
          <a:xfrm>
            <a:off x="5103661" y="5169581"/>
            <a:ext cx="3457874" cy="1551807"/>
            <a:chOff x="5316329" y="2566143"/>
            <a:chExt cx="3457874" cy="1551807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3EB83490-E710-C3B6-89A8-2B61E2094163}"/>
                </a:ext>
              </a:extLst>
            </p:cNvPr>
            <p:cNvGrpSpPr/>
            <p:nvPr/>
          </p:nvGrpSpPr>
          <p:grpSpPr>
            <a:xfrm>
              <a:off x="5316329" y="2566143"/>
              <a:ext cx="3457874" cy="1551807"/>
              <a:chOff x="5591424" y="5032463"/>
              <a:chExt cx="3457874" cy="1551807"/>
            </a:xfrm>
          </p:grpSpPr>
          <p:cxnSp>
            <p:nvCxnSpPr>
              <p:cNvPr id="53" name="직선 연결선 52">
                <a:extLst>
                  <a:ext uri="{FF2B5EF4-FFF2-40B4-BE49-F238E27FC236}">
                    <a16:creationId xmlns:a16="http://schemas.microsoft.com/office/drawing/2014/main" id="{032988F4-250E-E7E5-BAEE-25F02A212B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78060" y="6204744"/>
                <a:ext cx="0" cy="251999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직선 연결선 53">
                <a:extLst>
                  <a:ext uri="{FF2B5EF4-FFF2-40B4-BE49-F238E27FC236}">
                    <a16:creationId xmlns:a16="http://schemas.microsoft.com/office/drawing/2014/main" id="{D94821EC-F043-5434-2196-B0770C48E5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67660" y="6470283"/>
                <a:ext cx="216000" cy="0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직선 연결선 54">
                <a:extLst>
                  <a:ext uri="{FF2B5EF4-FFF2-40B4-BE49-F238E27FC236}">
                    <a16:creationId xmlns:a16="http://schemas.microsoft.com/office/drawing/2014/main" id="{F1F0D0D5-7DF5-7378-7773-55C47547DA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03401" y="6528070"/>
                <a:ext cx="144001" cy="0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직선 연결선 55">
                <a:extLst>
                  <a:ext uri="{FF2B5EF4-FFF2-40B4-BE49-F238E27FC236}">
                    <a16:creationId xmlns:a16="http://schemas.microsoft.com/office/drawing/2014/main" id="{44413659-5EA0-5C1E-B244-D29EF770F7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37918" y="6584270"/>
                <a:ext cx="72000" cy="0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7" name="그룹 56">
                <a:extLst>
                  <a:ext uri="{FF2B5EF4-FFF2-40B4-BE49-F238E27FC236}">
                    <a16:creationId xmlns:a16="http://schemas.microsoft.com/office/drawing/2014/main" id="{45AF11BA-B4EF-914A-4D6D-F26446D02668}"/>
                  </a:ext>
                </a:extLst>
              </p:cNvPr>
              <p:cNvGrpSpPr/>
              <p:nvPr/>
            </p:nvGrpSpPr>
            <p:grpSpPr>
              <a:xfrm>
                <a:off x="5683100" y="5610047"/>
                <a:ext cx="2209581" cy="693991"/>
                <a:chOff x="509386" y="3310237"/>
                <a:chExt cx="2209581" cy="678254"/>
              </a:xfrm>
            </p:grpSpPr>
            <p:sp>
              <p:nvSpPr>
                <p:cNvPr id="1028" name="직사각형 1027">
                  <a:extLst>
                    <a:ext uri="{FF2B5EF4-FFF2-40B4-BE49-F238E27FC236}">
                      <a16:creationId xmlns:a16="http://schemas.microsoft.com/office/drawing/2014/main" id="{7D30D56B-65EE-9BFD-449A-3E82B9AB01CC}"/>
                    </a:ext>
                  </a:extLst>
                </p:cNvPr>
                <p:cNvSpPr/>
                <p:nvPr/>
              </p:nvSpPr>
              <p:spPr>
                <a:xfrm>
                  <a:off x="922998" y="3310237"/>
                  <a:ext cx="1342242" cy="288000"/>
                </a:xfrm>
                <a:prstGeom prst="rect">
                  <a:avLst/>
                </a:prstGeom>
                <a:solidFill>
                  <a:srgbClr val="D1B58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029" name="그룹 1028">
                  <a:extLst>
                    <a:ext uri="{FF2B5EF4-FFF2-40B4-BE49-F238E27FC236}">
                      <a16:creationId xmlns:a16="http://schemas.microsoft.com/office/drawing/2014/main" id="{024C6665-AF45-955F-022C-AFA178979D52}"/>
                    </a:ext>
                  </a:extLst>
                </p:cNvPr>
                <p:cNvGrpSpPr/>
                <p:nvPr/>
              </p:nvGrpSpPr>
              <p:grpSpPr>
                <a:xfrm>
                  <a:off x="509386" y="3515645"/>
                  <a:ext cx="2209581" cy="472846"/>
                  <a:chOff x="509386" y="3515645"/>
                  <a:chExt cx="2209581" cy="472846"/>
                </a:xfrm>
              </p:grpSpPr>
              <p:sp>
                <p:nvSpPr>
                  <p:cNvPr id="1030" name="직사각형 1029">
                    <a:extLst>
                      <a:ext uri="{FF2B5EF4-FFF2-40B4-BE49-F238E27FC236}">
                        <a16:creationId xmlns:a16="http://schemas.microsoft.com/office/drawing/2014/main" id="{D598E18E-7E9F-89A5-63DF-EDD7AAD5F7FB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09386" y="3700490"/>
                    <a:ext cx="2209581" cy="288001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031" name="직사각형 1030">
                    <a:extLst>
                      <a:ext uri="{FF2B5EF4-FFF2-40B4-BE49-F238E27FC236}">
                        <a16:creationId xmlns:a16="http://schemas.microsoft.com/office/drawing/2014/main" id="{C3AA9BBD-3A88-BFBE-8807-B65DC8495D89}"/>
                      </a:ext>
                    </a:extLst>
                  </p:cNvPr>
                  <p:cNvSpPr/>
                  <p:nvPr/>
                </p:nvSpPr>
                <p:spPr>
                  <a:xfrm>
                    <a:off x="923126" y="3582886"/>
                    <a:ext cx="1342242" cy="119895"/>
                  </a:xfrm>
                  <a:prstGeom prst="rect">
                    <a:avLst/>
                  </a:prstGeom>
                  <a:solidFill>
                    <a:srgbClr val="58D5E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1032" name="직선 연결선 1031">
                    <a:extLst>
                      <a:ext uri="{FF2B5EF4-FFF2-40B4-BE49-F238E27FC236}">
                        <a16:creationId xmlns:a16="http://schemas.microsoft.com/office/drawing/2014/main" id="{5304DBB8-B676-C9EE-28C1-92EA7CCA67F9}"/>
                      </a:ext>
                    </a:extLst>
                  </p:cNvPr>
                  <p:cNvCxnSpPr/>
                  <p:nvPr/>
                </p:nvCxnSpPr>
                <p:spPr>
                  <a:xfrm>
                    <a:off x="660662" y="3515645"/>
                    <a:ext cx="0" cy="18000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  <a:head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3" name="직선 연결선 1032">
                    <a:extLst>
                      <a:ext uri="{FF2B5EF4-FFF2-40B4-BE49-F238E27FC236}">
                        <a16:creationId xmlns:a16="http://schemas.microsoft.com/office/drawing/2014/main" id="{EA3C684A-FE11-CAFF-39E4-8EFDFFE572B4}"/>
                      </a:ext>
                    </a:extLst>
                  </p:cNvPr>
                  <p:cNvCxnSpPr/>
                  <p:nvPr/>
                </p:nvCxnSpPr>
                <p:spPr>
                  <a:xfrm>
                    <a:off x="2578906" y="3530305"/>
                    <a:ext cx="0" cy="18000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  <a:headEnd type="oval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A29F1F55-C5E9-62E0-28D8-307699367529}"/>
                  </a:ext>
                </a:extLst>
              </p:cNvPr>
              <p:cNvSpPr/>
              <p:nvPr/>
            </p:nvSpPr>
            <p:spPr>
              <a:xfrm rot="10800000">
                <a:off x="5685132" y="6013499"/>
                <a:ext cx="421807" cy="193183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B3DC0D3E-BE74-620A-0436-A10561632BCA}"/>
                  </a:ext>
                </a:extLst>
              </p:cNvPr>
              <p:cNvSpPr/>
              <p:nvPr/>
            </p:nvSpPr>
            <p:spPr>
              <a:xfrm rot="10800000">
                <a:off x="7449181" y="6013497"/>
                <a:ext cx="440387" cy="193183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442C2367-8E82-B689-7009-8175F2F0BCDA}"/>
                  </a:ext>
                </a:extLst>
              </p:cNvPr>
              <p:cNvCxnSpPr/>
              <p:nvPr/>
            </p:nvCxnSpPr>
            <p:spPr>
              <a:xfrm>
                <a:off x="6767833" y="5424435"/>
                <a:ext cx="0" cy="184176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E62FF8C6-77A7-07A4-3158-BB251ADEF8ED}"/>
                  </a:ext>
                </a:extLst>
              </p:cNvPr>
              <p:cNvSpPr/>
              <p:nvPr/>
            </p:nvSpPr>
            <p:spPr>
              <a:xfrm>
                <a:off x="6096840" y="5888490"/>
                <a:ext cx="1342242" cy="122677"/>
              </a:xfrm>
              <a:prstGeom prst="rect">
                <a:avLst/>
              </a:prstGeom>
              <a:solidFill>
                <a:srgbClr val="58D5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4" name="TextBox 1023">
                <a:extLst>
                  <a:ext uri="{FF2B5EF4-FFF2-40B4-BE49-F238E27FC236}">
                    <a16:creationId xmlns:a16="http://schemas.microsoft.com/office/drawing/2014/main" id="{423D636E-9FE2-FF57-0629-536BC829D0A4}"/>
                  </a:ext>
                </a:extLst>
              </p:cNvPr>
              <p:cNvSpPr txBox="1"/>
              <p:nvPr/>
            </p:nvSpPr>
            <p:spPr>
              <a:xfrm>
                <a:off x="7681616" y="5418966"/>
                <a:ext cx="136768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20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V</a:t>
                </a:r>
                <a:r>
                  <a:rPr lang="en-US" altLang="ko-KR" sz="2000" b="1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D</a:t>
                </a:r>
                <a:r>
                  <a:rPr lang="en-US" altLang="ko-K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= 1.0 V</a:t>
                </a:r>
              </a:p>
            </p:txBody>
          </p:sp>
          <p:cxnSp>
            <p:nvCxnSpPr>
              <p:cNvPr id="1025" name="직선 연결선 1024">
                <a:extLst>
                  <a:ext uri="{FF2B5EF4-FFF2-40B4-BE49-F238E27FC236}">
                    <a16:creationId xmlns:a16="http://schemas.microsoft.com/office/drawing/2014/main" id="{3D37F38A-EBD5-E280-B03E-A9ABF81CE5CF}"/>
                  </a:ext>
                </a:extLst>
              </p:cNvPr>
              <p:cNvCxnSpPr/>
              <p:nvPr/>
            </p:nvCxnSpPr>
            <p:spPr>
              <a:xfrm>
                <a:off x="7752620" y="5834689"/>
                <a:ext cx="0" cy="184176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7" name="TextBox 1026">
                <a:extLst>
                  <a:ext uri="{FF2B5EF4-FFF2-40B4-BE49-F238E27FC236}">
                    <a16:creationId xmlns:a16="http://schemas.microsoft.com/office/drawing/2014/main" id="{DEDE4ACF-2F62-7066-C612-2700CC9F401D}"/>
                  </a:ext>
                </a:extLst>
              </p:cNvPr>
              <p:cNvSpPr txBox="1"/>
              <p:nvPr/>
            </p:nvSpPr>
            <p:spPr>
              <a:xfrm>
                <a:off x="5591424" y="5032463"/>
                <a:ext cx="236795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20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V</a:t>
                </a:r>
                <a:r>
                  <a:rPr lang="en-US" altLang="ko-KR" sz="2000" b="1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G</a:t>
                </a:r>
                <a:r>
                  <a:rPr lang="en-US" altLang="ko-K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= 1.0 V </a:t>
                </a:r>
                <a:r>
                  <a:rPr lang="en-US" altLang="ko-KR" sz="2000" b="1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 3.0 V</a:t>
                </a:r>
                <a:endParaRPr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4C5C13B7-BBA5-2479-A075-B74F4AC47E1D}"/>
                </a:ext>
              </a:extLst>
            </p:cNvPr>
            <p:cNvGrpSpPr/>
            <p:nvPr/>
          </p:nvGrpSpPr>
          <p:grpSpPr>
            <a:xfrm flipV="1">
              <a:off x="5451281" y="3221023"/>
              <a:ext cx="216000" cy="113987"/>
              <a:chOff x="7123226" y="3535978"/>
              <a:chExt cx="216000" cy="113987"/>
            </a:xfrm>
          </p:grpSpPr>
          <p:cxnSp>
            <p:nvCxnSpPr>
              <p:cNvPr id="50" name="직선 연결선 49">
                <a:extLst>
                  <a:ext uri="{FF2B5EF4-FFF2-40B4-BE49-F238E27FC236}">
                    <a16:creationId xmlns:a16="http://schemas.microsoft.com/office/drawing/2014/main" id="{1EC9CB1B-1A36-6E68-5C93-36C9AB149D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23226" y="3535978"/>
                <a:ext cx="216000" cy="0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직선 연결선 50">
                <a:extLst>
                  <a:ext uri="{FF2B5EF4-FFF2-40B4-BE49-F238E27FC236}">
                    <a16:creationId xmlns:a16="http://schemas.microsoft.com/office/drawing/2014/main" id="{424458B1-3B3F-3224-075E-94C24A413D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58967" y="3593765"/>
                <a:ext cx="144001" cy="0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직선 연결선 51">
                <a:extLst>
                  <a:ext uri="{FF2B5EF4-FFF2-40B4-BE49-F238E27FC236}">
                    <a16:creationId xmlns:a16="http://schemas.microsoft.com/office/drawing/2014/main" id="{24E998B8-2ECD-4F4E-7E6F-9D5DE287E0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93484" y="3649965"/>
                <a:ext cx="72000" cy="0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034" name="직선 화살표 연결선 1033">
            <a:extLst>
              <a:ext uri="{FF2B5EF4-FFF2-40B4-BE49-F238E27FC236}">
                <a16:creationId xmlns:a16="http://schemas.microsoft.com/office/drawing/2014/main" id="{4B1969C9-F6BD-CB3C-E848-BD695D3DEA85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4017307" y="5750303"/>
            <a:ext cx="1023693" cy="303859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8" name="그림 1037">
            <a:extLst>
              <a:ext uri="{FF2B5EF4-FFF2-40B4-BE49-F238E27FC236}">
                <a16:creationId xmlns:a16="http://schemas.microsoft.com/office/drawing/2014/main" id="{505A501D-B6DA-C880-4EFC-53050E2E70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726" y="4685988"/>
            <a:ext cx="3316252" cy="848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7154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DF2CA-873C-84C9-419F-67BE5A0FB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446B746-624B-C349-746C-467CCBD55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17" y="1414708"/>
            <a:ext cx="3623645" cy="506999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7EA9ABA-04FE-96A8-F01D-0A91D2907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SDEVICE Manual</a:t>
            </a:r>
            <a:endParaRPr lang="ko-KR" altLang="en-US" dirty="0">
              <a:latin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04ED9B-78C6-3F51-C6CE-17E69A00BCDD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SDEVICE Command 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생성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DBABEA48-3E13-579F-6AF1-31A4A85BED39}"/>
              </a:ext>
            </a:extLst>
          </p:cNvPr>
          <p:cNvSpPr/>
          <p:nvPr/>
        </p:nvSpPr>
        <p:spPr>
          <a:xfrm>
            <a:off x="91877" y="1405680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919734BC-E637-2BCC-B2F2-BEC8D5307BF6}"/>
              </a:ext>
            </a:extLst>
          </p:cNvPr>
          <p:cNvCxnSpPr>
            <a:cxnSpLocks/>
          </p:cNvCxnSpPr>
          <p:nvPr/>
        </p:nvCxnSpPr>
        <p:spPr>
          <a:xfrm flipV="1">
            <a:off x="4068616" y="1449847"/>
            <a:ext cx="0" cy="4876800"/>
          </a:xfrm>
          <a:prstGeom prst="line">
            <a:avLst/>
          </a:prstGeom>
          <a:ln w="1905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3241AC7-945A-F5F4-EECC-43861314B754}"/>
              </a:ext>
            </a:extLst>
          </p:cNvPr>
          <p:cNvCxnSpPr>
            <a:cxnSpLocks/>
          </p:cNvCxnSpPr>
          <p:nvPr/>
        </p:nvCxnSpPr>
        <p:spPr>
          <a:xfrm flipV="1">
            <a:off x="4068616" y="1449847"/>
            <a:ext cx="0" cy="4876800"/>
          </a:xfrm>
          <a:prstGeom prst="line">
            <a:avLst/>
          </a:prstGeom>
          <a:ln w="19050">
            <a:solidFill>
              <a:srgbClr val="00206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37113A8B-00D6-3087-DBF2-674F0C4B3EA3}"/>
              </a:ext>
            </a:extLst>
          </p:cNvPr>
          <p:cNvSpPr/>
          <p:nvPr/>
        </p:nvSpPr>
        <p:spPr>
          <a:xfrm>
            <a:off x="640081" y="2392851"/>
            <a:ext cx="3377227" cy="104890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3FF6824-FF10-546E-69F5-839590D30DF9}"/>
              </a:ext>
            </a:extLst>
          </p:cNvPr>
          <p:cNvSpPr/>
          <p:nvPr/>
        </p:nvSpPr>
        <p:spPr>
          <a:xfrm>
            <a:off x="643280" y="4349257"/>
            <a:ext cx="3374027" cy="2006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B3D20F8-7141-1949-BEE0-F9716FC43AAA}"/>
              </a:ext>
            </a:extLst>
          </p:cNvPr>
          <p:cNvSpPr/>
          <p:nvPr/>
        </p:nvSpPr>
        <p:spPr>
          <a:xfrm>
            <a:off x="640081" y="5623720"/>
            <a:ext cx="3377226" cy="86088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D023CB-3633-01D0-13CD-D4239B9F94E0}"/>
              </a:ext>
            </a:extLst>
          </p:cNvPr>
          <p:cNvSpPr txBox="1"/>
          <p:nvPr/>
        </p:nvSpPr>
        <p:spPr>
          <a:xfrm>
            <a:off x="4454231" y="4068129"/>
            <a:ext cx="45284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NewCurrentPrefix=“</a:t>
            </a:r>
            <a:r>
              <a:rPr lang="en-US" altLang="ko-KR" sz="14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IdVd_L</a:t>
            </a:r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_”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1A333D-F9B0-3B19-A1F6-1FE0C7EF9E8E}"/>
              </a:ext>
            </a:extLst>
          </p:cNvPr>
          <p:cNvSpPr txBox="1"/>
          <p:nvPr/>
        </p:nvSpPr>
        <p:spPr>
          <a:xfrm>
            <a:off x="4497548" y="4331822"/>
            <a:ext cx="47985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: IdVd_n21_des.plt</a:t>
            </a:r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 Vg = @Vg@ </a:t>
            </a:r>
            <a:r>
              <a:rPr lang="ko-KR" altLang="en-US" sz="14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기반 </a:t>
            </a:r>
            <a:r>
              <a:rPr lang="en-US" altLang="ko-KR" sz="1400" b="1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Vd</a:t>
            </a:r>
            <a:r>
              <a:rPr lang="en-US" altLang="ko-KR" sz="1400" b="1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= 0 ~ 1.0 V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4D678A74-DA73-5223-641E-5DDB84DE379A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 flipV="1">
            <a:off x="4017307" y="4222018"/>
            <a:ext cx="436924" cy="2275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81F6A0FD-8345-39B7-DA36-2CCA84E52BC0}"/>
              </a:ext>
            </a:extLst>
          </p:cNvPr>
          <p:cNvGrpSpPr/>
          <p:nvPr/>
        </p:nvGrpSpPr>
        <p:grpSpPr>
          <a:xfrm>
            <a:off x="4938666" y="4867964"/>
            <a:ext cx="3669166" cy="1621478"/>
            <a:chOff x="5408005" y="2496472"/>
            <a:chExt cx="3669166" cy="1621478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7F71A720-D82A-383B-8F49-AF469C231FE1}"/>
                </a:ext>
              </a:extLst>
            </p:cNvPr>
            <p:cNvGrpSpPr/>
            <p:nvPr/>
          </p:nvGrpSpPr>
          <p:grpSpPr>
            <a:xfrm>
              <a:off x="5408005" y="2496472"/>
              <a:ext cx="3669166" cy="1621478"/>
              <a:chOff x="5683100" y="4962792"/>
              <a:chExt cx="3669166" cy="1621478"/>
            </a:xfrm>
          </p:grpSpPr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6B64ABA9-E65B-97D6-81E6-4F9C987CF9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78060" y="6204744"/>
                <a:ext cx="0" cy="251999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7C4FE9F4-9D1B-1F81-66E5-9949291D44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67660" y="6470283"/>
                <a:ext cx="216000" cy="0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99960D5B-8B38-7B97-9E4B-85F505B07F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03401" y="6528070"/>
                <a:ext cx="144001" cy="0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직선 연결선 27">
                <a:extLst>
                  <a:ext uri="{FF2B5EF4-FFF2-40B4-BE49-F238E27FC236}">
                    <a16:creationId xmlns:a16="http://schemas.microsoft.com/office/drawing/2014/main" id="{D6EEC1CE-32DD-55C9-0B79-FBE02905A8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37918" y="6584270"/>
                <a:ext cx="72000" cy="0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" name="그룹 28">
                <a:extLst>
                  <a:ext uri="{FF2B5EF4-FFF2-40B4-BE49-F238E27FC236}">
                    <a16:creationId xmlns:a16="http://schemas.microsoft.com/office/drawing/2014/main" id="{9E06D243-B59D-FF8F-4131-D0D604BEA5A0}"/>
                  </a:ext>
                </a:extLst>
              </p:cNvPr>
              <p:cNvGrpSpPr/>
              <p:nvPr/>
            </p:nvGrpSpPr>
            <p:grpSpPr>
              <a:xfrm>
                <a:off x="5683100" y="5610047"/>
                <a:ext cx="2209581" cy="693991"/>
                <a:chOff x="509386" y="3310237"/>
                <a:chExt cx="2209581" cy="678254"/>
              </a:xfrm>
            </p:grpSpPr>
            <p:sp>
              <p:nvSpPr>
                <p:cNvPr id="37" name="직사각형 36">
                  <a:extLst>
                    <a:ext uri="{FF2B5EF4-FFF2-40B4-BE49-F238E27FC236}">
                      <a16:creationId xmlns:a16="http://schemas.microsoft.com/office/drawing/2014/main" id="{60ED0A91-23D3-7DCE-DFE9-A92A7B264576}"/>
                    </a:ext>
                  </a:extLst>
                </p:cNvPr>
                <p:cNvSpPr/>
                <p:nvPr/>
              </p:nvSpPr>
              <p:spPr>
                <a:xfrm>
                  <a:off x="922998" y="3310237"/>
                  <a:ext cx="1342242" cy="288000"/>
                </a:xfrm>
                <a:prstGeom prst="rect">
                  <a:avLst/>
                </a:prstGeom>
                <a:solidFill>
                  <a:srgbClr val="D1B58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38" name="그룹 37">
                  <a:extLst>
                    <a:ext uri="{FF2B5EF4-FFF2-40B4-BE49-F238E27FC236}">
                      <a16:creationId xmlns:a16="http://schemas.microsoft.com/office/drawing/2014/main" id="{AF78CFCD-17D0-4019-B3F2-214223676CB7}"/>
                    </a:ext>
                  </a:extLst>
                </p:cNvPr>
                <p:cNvGrpSpPr/>
                <p:nvPr/>
              </p:nvGrpSpPr>
              <p:grpSpPr>
                <a:xfrm>
                  <a:off x="509386" y="3515645"/>
                  <a:ext cx="2209581" cy="472846"/>
                  <a:chOff x="509386" y="3515645"/>
                  <a:chExt cx="2209581" cy="472846"/>
                </a:xfrm>
              </p:grpSpPr>
              <p:sp>
                <p:nvSpPr>
                  <p:cNvPr id="39" name="직사각형 38">
                    <a:extLst>
                      <a:ext uri="{FF2B5EF4-FFF2-40B4-BE49-F238E27FC236}">
                        <a16:creationId xmlns:a16="http://schemas.microsoft.com/office/drawing/2014/main" id="{51CD8068-F9F9-ACF9-B167-B516F1DCC4E8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09386" y="3700490"/>
                    <a:ext cx="2209581" cy="288001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0" name="직사각형 39">
                    <a:extLst>
                      <a:ext uri="{FF2B5EF4-FFF2-40B4-BE49-F238E27FC236}">
                        <a16:creationId xmlns:a16="http://schemas.microsoft.com/office/drawing/2014/main" id="{77A7E83A-1461-676B-089D-841ABAA0218C}"/>
                      </a:ext>
                    </a:extLst>
                  </p:cNvPr>
                  <p:cNvSpPr/>
                  <p:nvPr/>
                </p:nvSpPr>
                <p:spPr>
                  <a:xfrm>
                    <a:off x="923126" y="3582886"/>
                    <a:ext cx="1342242" cy="119895"/>
                  </a:xfrm>
                  <a:prstGeom prst="rect">
                    <a:avLst/>
                  </a:prstGeom>
                  <a:solidFill>
                    <a:srgbClr val="58D5EE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41" name="직선 연결선 40">
                    <a:extLst>
                      <a:ext uri="{FF2B5EF4-FFF2-40B4-BE49-F238E27FC236}">
                        <a16:creationId xmlns:a16="http://schemas.microsoft.com/office/drawing/2014/main" id="{A465EE06-4A10-6EA2-0B33-8627366B337C}"/>
                      </a:ext>
                    </a:extLst>
                  </p:cNvPr>
                  <p:cNvCxnSpPr/>
                  <p:nvPr/>
                </p:nvCxnSpPr>
                <p:spPr>
                  <a:xfrm>
                    <a:off x="660662" y="3515645"/>
                    <a:ext cx="0" cy="18000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  <a:head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직선 연결선 41">
                    <a:extLst>
                      <a:ext uri="{FF2B5EF4-FFF2-40B4-BE49-F238E27FC236}">
                        <a16:creationId xmlns:a16="http://schemas.microsoft.com/office/drawing/2014/main" id="{74384C81-71BF-8EC9-6E0D-D987B1AE85B1}"/>
                      </a:ext>
                    </a:extLst>
                  </p:cNvPr>
                  <p:cNvCxnSpPr/>
                  <p:nvPr/>
                </p:nvCxnSpPr>
                <p:spPr>
                  <a:xfrm>
                    <a:off x="2578906" y="3530305"/>
                    <a:ext cx="0" cy="18000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  <a:headEnd type="oval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C5825864-DB15-692C-7ACF-104BA2B2B8E3}"/>
                  </a:ext>
                </a:extLst>
              </p:cNvPr>
              <p:cNvSpPr/>
              <p:nvPr/>
            </p:nvSpPr>
            <p:spPr>
              <a:xfrm rot="10800000">
                <a:off x="5685132" y="6013499"/>
                <a:ext cx="421807" cy="193183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F6FAF240-1395-7D7F-10DE-2DC7363E16C9}"/>
                  </a:ext>
                </a:extLst>
              </p:cNvPr>
              <p:cNvSpPr/>
              <p:nvPr/>
            </p:nvSpPr>
            <p:spPr>
              <a:xfrm rot="10800000">
                <a:off x="7449181" y="6013497"/>
                <a:ext cx="440387" cy="193183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32" name="직선 연결선 31">
                <a:extLst>
                  <a:ext uri="{FF2B5EF4-FFF2-40B4-BE49-F238E27FC236}">
                    <a16:creationId xmlns:a16="http://schemas.microsoft.com/office/drawing/2014/main" id="{535BC689-17DB-67A0-FCF2-346EB0AFF42A}"/>
                  </a:ext>
                </a:extLst>
              </p:cNvPr>
              <p:cNvCxnSpPr/>
              <p:nvPr/>
            </p:nvCxnSpPr>
            <p:spPr>
              <a:xfrm>
                <a:off x="6767833" y="5424435"/>
                <a:ext cx="0" cy="184176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83F17A41-68B5-1664-A843-4C312827E642}"/>
                  </a:ext>
                </a:extLst>
              </p:cNvPr>
              <p:cNvSpPr/>
              <p:nvPr/>
            </p:nvSpPr>
            <p:spPr>
              <a:xfrm>
                <a:off x="6096840" y="5888490"/>
                <a:ext cx="1342242" cy="122677"/>
              </a:xfrm>
              <a:prstGeom prst="rect">
                <a:avLst/>
              </a:prstGeom>
              <a:solidFill>
                <a:srgbClr val="58D5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D4E56C5-507A-B9F5-09A1-E7D6333B7A09}"/>
                  </a:ext>
                </a:extLst>
              </p:cNvPr>
              <p:cNvSpPr txBox="1"/>
              <p:nvPr/>
            </p:nvSpPr>
            <p:spPr>
              <a:xfrm>
                <a:off x="7378649" y="5418966"/>
                <a:ext cx="197361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20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V</a:t>
                </a:r>
                <a:r>
                  <a:rPr lang="en-US" altLang="ko-KR" sz="2000" b="1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D</a:t>
                </a:r>
                <a:r>
                  <a:rPr lang="en-US" altLang="ko-K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= 0 </a:t>
                </a:r>
                <a:r>
                  <a:rPr lang="en-US" altLang="ko-KR" sz="2000" b="1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 </a:t>
                </a:r>
                <a:r>
                  <a:rPr lang="en-US" altLang="ko-K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1.0 V</a:t>
                </a:r>
              </a:p>
            </p:txBody>
          </p:sp>
          <p:cxnSp>
            <p:nvCxnSpPr>
              <p:cNvPr id="35" name="직선 연결선 34">
                <a:extLst>
                  <a:ext uri="{FF2B5EF4-FFF2-40B4-BE49-F238E27FC236}">
                    <a16:creationId xmlns:a16="http://schemas.microsoft.com/office/drawing/2014/main" id="{FAFC24A2-0292-08F2-C0B3-319230142E9A}"/>
                  </a:ext>
                </a:extLst>
              </p:cNvPr>
              <p:cNvCxnSpPr/>
              <p:nvPr/>
            </p:nvCxnSpPr>
            <p:spPr>
              <a:xfrm>
                <a:off x="7752620" y="5834689"/>
                <a:ext cx="0" cy="184176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93ED22A-86E2-058E-2BB9-D0F34C8B3BAD}"/>
                  </a:ext>
                </a:extLst>
              </p:cNvPr>
              <p:cNvSpPr txBox="1"/>
              <p:nvPr/>
            </p:nvSpPr>
            <p:spPr>
              <a:xfrm>
                <a:off x="5971335" y="4962792"/>
                <a:ext cx="160813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20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V</a:t>
                </a:r>
                <a:r>
                  <a:rPr lang="en-US" altLang="ko-KR" sz="2000" b="1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G</a:t>
                </a:r>
                <a:r>
                  <a:rPr lang="en-US" altLang="ko-K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= @</a:t>
                </a:r>
                <a:r>
                  <a:rPr lang="en-US" altLang="ko-KR" sz="2000" b="1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Vg@</a:t>
                </a:r>
                <a:endParaRPr lang="en-US" altLang="ko-KR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EB2CDC65-CFE9-C621-3FA2-A2CD2B8A1767}"/>
                </a:ext>
              </a:extLst>
            </p:cNvPr>
            <p:cNvGrpSpPr/>
            <p:nvPr/>
          </p:nvGrpSpPr>
          <p:grpSpPr>
            <a:xfrm flipV="1">
              <a:off x="5451281" y="3221023"/>
              <a:ext cx="216000" cy="113987"/>
              <a:chOff x="7123226" y="3535978"/>
              <a:chExt cx="216000" cy="113987"/>
            </a:xfrm>
          </p:grpSpPr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D5E00AF6-C259-B253-6207-FA9D9DBEDA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23226" y="3535978"/>
                <a:ext cx="216000" cy="0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148A88B9-2583-0B90-690A-8D52090EB7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58967" y="3593765"/>
                <a:ext cx="144001" cy="0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직선 연결선 21">
                <a:extLst>
                  <a:ext uri="{FF2B5EF4-FFF2-40B4-BE49-F238E27FC236}">
                    <a16:creationId xmlns:a16="http://schemas.microsoft.com/office/drawing/2014/main" id="{5D168CE0-D0B5-B5D7-31F2-E9031BE3EE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93484" y="3649965"/>
                <a:ext cx="72000" cy="0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A4A4A431-A0F2-72BE-92A7-45C27F9FFB73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4017308" y="2870980"/>
            <a:ext cx="764785" cy="46321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직선 화살표 연결선 1033">
            <a:extLst>
              <a:ext uri="{FF2B5EF4-FFF2-40B4-BE49-F238E27FC236}">
                <a16:creationId xmlns:a16="http://schemas.microsoft.com/office/drawing/2014/main" id="{873131AF-B484-71E8-83EC-2343B9168100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4017307" y="5852417"/>
            <a:ext cx="758969" cy="201745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>
            <a:extLst>
              <a:ext uri="{FF2B5EF4-FFF2-40B4-BE49-F238E27FC236}">
                <a16:creationId xmlns:a16="http://schemas.microsoft.com/office/drawing/2014/main" id="{D80EE7BA-A9B6-764F-96D5-0D571B8302F2}"/>
              </a:ext>
            </a:extLst>
          </p:cNvPr>
          <p:cNvGrpSpPr/>
          <p:nvPr/>
        </p:nvGrpSpPr>
        <p:grpSpPr>
          <a:xfrm>
            <a:off x="4938666" y="2063756"/>
            <a:ext cx="4243151" cy="1551807"/>
            <a:chOff x="5408004" y="2566143"/>
            <a:chExt cx="4243151" cy="1551807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EAB67680-15EB-09D8-7BAB-AF8A1411A35E}"/>
                </a:ext>
              </a:extLst>
            </p:cNvPr>
            <p:cNvGrpSpPr/>
            <p:nvPr/>
          </p:nvGrpSpPr>
          <p:grpSpPr>
            <a:xfrm>
              <a:off x="5408004" y="2566143"/>
              <a:ext cx="4243151" cy="1551807"/>
              <a:chOff x="5683099" y="5032463"/>
              <a:chExt cx="4243151" cy="1551807"/>
            </a:xfrm>
          </p:grpSpPr>
          <p:cxnSp>
            <p:nvCxnSpPr>
              <p:cNvPr id="1037" name="직선 연결선 1036">
                <a:extLst>
                  <a:ext uri="{FF2B5EF4-FFF2-40B4-BE49-F238E27FC236}">
                    <a16:creationId xmlns:a16="http://schemas.microsoft.com/office/drawing/2014/main" id="{C6470818-A4C5-9C47-179D-336804F951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78060" y="6204744"/>
                <a:ext cx="0" cy="251999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9" name="직선 연결선 1038">
                <a:extLst>
                  <a:ext uri="{FF2B5EF4-FFF2-40B4-BE49-F238E27FC236}">
                    <a16:creationId xmlns:a16="http://schemas.microsoft.com/office/drawing/2014/main" id="{232D260E-A6A8-5B04-808F-244B7BFF28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67660" y="6470283"/>
                <a:ext cx="216000" cy="0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0" name="직선 연결선 1039">
                <a:extLst>
                  <a:ext uri="{FF2B5EF4-FFF2-40B4-BE49-F238E27FC236}">
                    <a16:creationId xmlns:a16="http://schemas.microsoft.com/office/drawing/2014/main" id="{F2951FB5-6994-2583-41C5-8087CEFC2D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03401" y="6528070"/>
                <a:ext cx="144001" cy="0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1" name="직선 연결선 1040">
                <a:extLst>
                  <a:ext uri="{FF2B5EF4-FFF2-40B4-BE49-F238E27FC236}">
                    <a16:creationId xmlns:a16="http://schemas.microsoft.com/office/drawing/2014/main" id="{56E68FD7-23BA-A50D-61E7-9FA06EAFBD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37918" y="6584270"/>
                <a:ext cx="72000" cy="0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42" name="그룹 1041">
                <a:extLst>
                  <a:ext uri="{FF2B5EF4-FFF2-40B4-BE49-F238E27FC236}">
                    <a16:creationId xmlns:a16="http://schemas.microsoft.com/office/drawing/2014/main" id="{9AA016D8-F6E6-EAC2-5F9F-F8496F86178C}"/>
                  </a:ext>
                </a:extLst>
              </p:cNvPr>
              <p:cNvGrpSpPr/>
              <p:nvPr/>
            </p:nvGrpSpPr>
            <p:grpSpPr>
              <a:xfrm>
                <a:off x="5683099" y="5610047"/>
                <a:ext cx="2209581" cy="693990"/>
                <a:chOff x="509385" y="3310237"/>
                <a:chExt cx="2209581" cy="678253"/>
              </a:xfrm>
            </p:grpSpPr>
            <p:sp>
              <p:nvSpPr>
                <p:cNvPr id="1050" name="직사각형 1049">
                  <a:extLst>
                    <a:ext uri="{FF2B5EF4-FFF2-40B4-BE49-F238E27FC236}">
                      <a16:creationId xmlns:a16="http://schemas.microsoft.com/office/drawing/2014/main" id="{02379ED7-D79D-392A-CDF7-888B5D9C808B}"/>
                    </a:ext>
                  </a:extLst>
                </p:cNvPr>
                <p:cNvSpPr/>
                <p:nvPr/>
              </p:nvSpPr>
              <p:spPr>
                <a:xfrm>
                  <a:off x="922998" y="3310237"/>
                  <a:ext cx="1342242" cy="288000"/>
                </a:xfrm>
                <a:prstGeom prst="rect">
                  <a:avLst/>
                </a:prstGeom>
                <a:solidFill>
                  <a:srgbClr val="D1B58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051" name="그룹 1050">
                  <a:extLst>
                    <a:ext uri="{FF2B5EF4-FFF2-40B4-BE49-F238E27FC236}">
                      <a16:creationId xmlns:a16="http://schemas.microsoft.com/office/drawing/2014/main" id="{56FDC34F-0679-9F62-ADCB-E34B912BA462}"/>
                    </a:ext>
                  </a:extLst>
                </p:cNvPr>
                <p:cNvGrpSpPr/>
                <p:nvPr/>
              </p:nvGrpSpPr>
              <p:grpSpPr>
                <a:xfrm>
                  <a:off x="509385" y="3515645"/>
                  <a:ext cx="2209581" cy="472845"/>
                  <a:chOff x="509385" y="3515645"/>
                  <a:chExt cx="2209581" cy="472845"/>
                </a:xfrm>
              </p:grpSpPr>
              <p:sp>
                <p:nvSpPr>
                  <p:cNvPr id="1052" name="직사각형 1051">
                    <a:extLst>
                      <a:ext uri="{FF2B5EF4-FFF2-40B4-BE49-F238E27FC236}">
                        <a16:creationId xmlns:a16="http://schemas.microsoft.com/office/drawing/2014/main" id="{1CE0F937-7B89-E19D-9138-5DC35CDDB0E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509385" y="3635822"/>
                    <a:ext cx="2209581" cy="352668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1053" name="직선 연결선 1052">
                    <a:extLst>
                      <a:ext uri="{FF2B5EF4-FFF2-40B4-BE49-F238E27FC236}">
                        <a16:creationId xmlns:a16="http://schemas.microsoft.com/office/drawing/2014/main" id="{31A8134B-23DF-7035-B4F1-1D6439AD4A6E}"/>
                      </a:ext>
                    </a:extLst>
                  </p:cNvPr>
                  <p:cNvCxnSpPr/>
                  <p:nvPr/>
                </p:nvCxnSpPr>
                <p:spPr>
                  <a:xfrm>
                    <a:off x="660662" y="3515645"/>
                    <a:ext cx="0" cy="18000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  <a:head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4" name="직선 연결선 1053">
                    <a:extLst>
                      <a:ext uri="{FF2B5EF4-FFF2-40B4-BE49-F238E27FC236}">
                        <a16:creationId xmlns:a16="http://schemas.microsoft.com/office/drawing/2014/main" id="{6B5A1140-BADB-3AA6-8C4D-E16B1CCA49C6}"/>
                      </a:ext>
                    </a:extLst>
                  </p:cNvPr>
                  <p:cNvCxnSpPr/>
                  <p:nvPr/>
                </p:nvCxnSpPr>
                <p:spPr>
                  <a:xfrm>
                    <a:off x="2578906" y="3530305"/>
                    <a:ext cx="0" cy="18000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  <a:headEnd type="oval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043" name="직사각형 1042">
                <a:extLst>
                  <a:ext uri="{FF2B5EF4-FFF2-40B4-BE49-F238E27FC236}">
                    <a16:creationId xmlns:a16="http://schemas.microsoft.com/office/drawing/2014/main" id="{3EEB6640-C7A0-AF36-6879-D1D65AAFCC81}"/>
                  </a:ext>
                </a:extLst>
              </p:cNvPr>
              <p:cNvSpPr/>
              <p:nvPr/>
            </p:nvSpPr>
            <p:spPr>
              <a:xfrm rot="10800000">
                <a:off x="5685131" y="5941320"/>
                <a:ext cx="421807" cy="265361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44" name="직사각형 1043">
                <a:extLst>
                  <a:ext uri="{FF2B5EF4-FFF2-40B4-BE49-F238E27FC236}">
                    <a16:creationId xmlns:a16="http://schemas.microsoft.com/office/drawing/2014/main" id="{B624EAD6-51F7-3A25-BFA7-2FC785F721BB}"/>
                  </a:ext>
                </a:extLst>
              </p:cNvPr>
              <p:cNvSpPr/>
              <p:nvPr/>
            </p:nvSpPr>
            <p:spPr>
              <a:xfrm rot="10800000">
                <a:off x="7438953" y="5940187"/>
                <a:ext cx="450613" cy="266491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045" name="직선 연결선 1044">
                <a:extLst>
                  <a:ext uri="{FF2B5EF4-FFF2-40B4-BE49-F238E27FC236}">
                    <a16:creationId xmlns:a16="http://schemas.microsoft.com/office/drawing/2014/main" id="{2BD37EA0-DD54-9BB9-A928-355FCAF50E9C}"/>
                  </a:ext>
                </a:extLst>
              </p:cNvPr>
              <p:cNvCxnSpPr/>
              <p:nvPr/>
            </p:nvCxnSpPr>
            <p:spPr>
              <a:xfrm>
                <a:off x="6767833" y="5424435"/>
                <a:ext cx="0" cy="184176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6" name="직사각형 1045">
                <a:extLst>
                  <a:ext uri="{FF2B5EF4-FFF2-40B4-BE49-F238E27FC236}">
                    <a16:creationId xmlns:a16="http://schemas.microsoft.com/office/drawing/2014/main" id="{797485F1-4B52-C6E2-FB55-132F0CAA978C}"/>
                  </a:ext>
                </a:extLst>
              </p:cNvPr>
              <p:cNvSpPr/>
              <p:nvPr/>
            </p:nvSpPr>
            <p:spPr>
              <a:xfrm>
                <a:off x="6096712" y="5888490"/>
                <a:ext cx="1342370" cy="56495"/>
              </a:xfrm>
              <a:prstGeom prst="rect">
                <a:avLst/>
              </a:prstGeom>
              <a:solidFill>
                <a:srgbClr val="58D5E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47" name="TextBox 1046">
                <a:extLst>
                  <a:ext uri="{FF2B5EF4-FFF2-40B4-BE49-F238E27FC236}">
                    <a16:creationId xmlns:a16="http://schemas.microsoft.com/office/drawing/2014/main" id="{2257EA71-E693-0C3F-AB1E-09A37C3950AD}"/>
                  </a:ext>
                </a:extLst>
              </p:cNvPr>
              <p:cNvSpPr txBox="1"/>
              <p:nvPr/>
            </p:nvSpPr>
            <p:spPr>
              <a:xfrm>
                <a:off x="7420423" y="5418966"/>
                <a:ext cx="18893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V</a:t>
                </a:r>
                <a:r>
                  <a:rPr lang="en-US" altLang="ko-KR" sz="2000" b="1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D</a:t>
                </a:r>
                <a:r>
                  <a:rPr lang="en-US" altLang="ko-K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= 0 </a:t>
                </a:r>
                <a:r>
                  <a:rPr lang="en-US" altLang="ko-K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ko-KR" alt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초기 조건</a:t>
                </a:r>
                <a:r>
                  <a:rPr lang="en-US" altLang="ko-K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lang="en-US" altLang="ko-KR" sz="12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048" name="직선 연결선 1047">
                <a:extLst>
                  <a:ext uri="{FF2B5EF4-FFF2-40B4-BE49-F238E27FC236}">
                    <a16:creationId xmlns:a16="http://schemas.microsoft.com/office/drawing/2014/main" id="{5D88BB50-C37C-6D31-37DD-6E547444D109}"/>
                  </a:ext>
                </a:extLst>
              </p:cNvPr>
              <p:cNvCxnSpPr/>
              <p:nvPr/>
            </p:nvCxnSpPr>
            <p:spPr>
              <a:xfrm>
                <a:off x="7752620" y="5834689"/>
                <a:ext cx="0" cy="184176"/>
              </a:xfrm>
              <a:prstGeom prst="line">
                <a:avLst/>
              </a:prstGeom>
              <a:ln w="28575">
                <a:solidFill>
                  <a:schemeClr val="tx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9" name="TextBox 1048">
                <a:extLst>
                  <a:ext uri="{FF2B5EF4-FFF2-40B4-BE49-F238E27FC236}">
                    <a16:creationId xmlns:a16="http://schemas.microsoft.com/office/drawing/2014/main" id="{2DCBB65B-736D-22EE-4550-A5674F969B3D}"/>
                  </a:ext>
                </a:extLst>
              </p:cNvPr>
              <p:cNvSpPr txBox="1"/>
              <p:nvPr/>
            </p:nvSpPr>
            <p:spPr>
              <a:xfrm>
                <a:off x="6239022" y="5032463"/>
                <a:ext cx="368722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0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V</a:t>
                </a:r>
                <a:r>
                  <a:rPr lang="en-US" altLang="ko-KR" sz="2000" b="1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G</a:t>
                </a:r>
                <a:r>
                  <a:rPr lang="en-US" altLang="ko-K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= 0 </a:t>
                </a:r>
                <a:r>
                  <a:rPr lang="en-US" altLang="ko-KR" sz="2000" b="1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 </a:t>
                </a:r>
                <a:r>
                  <a:rPr lang="en-US" altLang="ko-KR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@Vg@</a:t>
                </a:r>
                <a:r>
                  <a:rPr lang="en-US" altLang="ko-K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ko-KR" alt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초기 조건 → </a:t>
                </a:r>
                <a:r>
                  <a:rPr lang="en-US" altLang="ko-K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@Vg@)</a:t>
                </a:r>
              </a:p>
            </p:txBody>
          </p:sp>
        </p:grp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35876F36-FEF1-49D6-2F39-D3087C1365B2}"/>
                </a:ext>
              </a:extLst>
            </p:cNvPr>
            <p:cNvGrpSpPr/>
            <p:nvPr/>
          </p:nvGrpSpPr>
          <p:grpSpPr>
            <a:xfrm flipV="1">
              <a:off x="5451281" y="3221023"/>
              <a:ext cx="216000" cy="113987"/>
              <a:chOff x="7123226" y="3535978"/>
              <a:chExt cx="216000" cy="113987"/>
            </a:xfrm>
          </p:grpSpPr>
          <p:cxnSp>
            <p:nvCxnSpPr>
              <p:cNvPr id="63" name="직선 연결선 62">
                <a:extLst>
                  <a:ext uri="{FF2B5EF4-FFF2-40B4-BE49-F238E27FC236}">
                    <a16:creationId xmlns:a16="http://schemas.microsoft.com/office/drawing/2014/main" id="{68DF99DB-4F3D-FE16-5606-A6B16FC64B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23226" y="3535978"/>
                <a:ext cx="216000" cy="0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5" name="직선 연결선 1034">
                <a:extLst>
                  <a:ext uri="{FF2B5EF4-FFF2-40B4-BE49-F238E27FC236}">
                    <a16:creationId xmlns:a16="http://schemas.microsoft.com/office/drawing/2014/main" id="{0076F907-F057-97D5-CC7D-B4AC949384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58967" y="3593765"/>
                <a:ext cx="144001" cy="0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6" name="직선 연결선 1035">
                <a:extLst>
                  <a:ext uri="{FF2B5EF4-FFF2-40B4-BE49-F238E27FC236}">
                    <a16:creationId xmlns:a16="http://schemas.microsoft.com/office/drawing/2014/main" id="{461AE8BF-79D6-2D38-B157-4A7A7EBE4E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93484" y="3649965"/>
                <a:ext cx="72000" cy="0"/>
              </a:xfrm>
              <a:prstGeom prst="line">
                <a:avLst/>
              </a:prstGeom>
              <a:ln w="38100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63" name="타원 1062">
            <a:extLst>
              <a:ext uri="{FF2B5EF4-FFF2-40B4-BE49-F238E27FC236}">
                <a16:creationId xmlns:a16="http://schemas.microsoft.com/office/drawing/2014/main" id="{F105005F-5FA4-7447-8C79-814082EDFC65}"/>
              </a:ext>
            </a:extLst>
          </p:cNvPr>
          <p:cNvSpPr/>
          <p:nvPr/>
        </p:nvSpPr>
        <p:spPr>
          <a:xfrm>
            <a:off x="4267190" y="1457934"/>
            <a:ext cx="288032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ko-KR" alt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4" name="TextBox 1063">
            <a:extLst>
              <a:ext uri="{FF2B5EF4-FFF2-40B4-BE49-F238E27FC236}">
                <a16:creationId xmlns:a16="http://schemas.microsoft.com/office/drawing/2014/main" id="{7D47FFFA-7D02-7B77-EFDB-A4D6077CF2EE}"/>
              </a:ext>
            </a:extLst>
          </p:cNvPr>
          <p:cNvSpPr txBox="1"/>
          <p:nvPr/>
        </p:nvSpPr>
        <p:spPr>
          <a:xfrm>
            <a:off x="4626955" y="1417284"/>
            <a:ext cx="4303686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</a:t>
            </a:r>
            <a:r>
              <a:rPr lang="en-US" altLang="ko-KR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-V</a:t>
            </a:r>
            <a:r>
              <a:rPr lang="en-US" altLang="ko-KR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curve</a:t>
            </a:r>
          </a:p>
        </p:txBody>
      </p:sp>
    </p:spTree>
    <p:extLst>
      <p:ext uri="{BB962C8B-B14F-4D97-AF65-F5344CB8AC3E}">
        <p14:creationId xmlns:p14="http://schemas.microsoft.com/office/powerpoint/2010/main" val="10477735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370CFB-A1DD-C8D5-3710-A9368E5FF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SDEVICE Manual</a:t>
            </a:r>
            <a:endParaRPr lang="ko-KR" altLang="en-US" dirty="0">
              <a:latin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04669A-8929-B9BF-31D8-ADD34ECBF36A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SDEVICE Parameter 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파일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ACD4A4F-23C0-1806-3763-23A4FE648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969" y="1321391"/>
            <a:ext cx="2820140" cy="2606724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A5C1475C-2613-A1F9-AF1A-87E2E34D944D}"/>
              </a:ext>
            </a:extLst>
          </p:cNvPr>
          <p:cNvSpPr/>
          <p:nvPr/>
        </p:nvSpPr>
        <p:spPr>
          <a:xfrm>
            <a:off x="2857650" y="2841031"/>
            <a:ext cx="733459" cy="1085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2ABDE3D4-3FA4-71CB-8067-DAF964F5994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6" t="1274"/>
          <a:stretch/>
        </p:blipFill>
        <p:spPr>
          <a:xfrm>
            <a:off x="3962400" y="1711198"/>
            <a:ext cx="2948827" cy="188526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75BB9BE6-E959-0D52-7B26-565A36256907}"/>
              </a:ext>
            </a:extLst>
          </p:cNvPr>
          <p:cNvSpPr txBox="1"/>
          <p:nvPr/>
        </p:nvSpPr>
        <p:spPr>
          <a:xfrm>
            <a:off x="213866" y="3928115"/>
            <a:ext cx="8641168" cy="2010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1.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‘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SDEVICE’ Tool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상에서 </a:t>
            </a:r>
            <a:r>
              <a:rPr kumimoji="0" lang="ko-KR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우클릭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2. Edit Input – Parameter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클릭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3. </a:t>
            </a:r>
            <a:r>
              <a:rPr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앞서 </a:t>
            </a:r>
            <a:r>
              <a:rPr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Parameter </a:t>
            </a:r>
            <a:r>
              <a:rPr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체크를 통해 선택했다면</a:t>
            </a:r>
            <a:br>
              <a:rPr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Material=“SiO2”, “</a:t>
            </a:r>
            <a:r>
              <a:rPr lang="en-US" altLang="ko-KR" sz="2000" dirty="0" err="1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TiN</a:t>
            </a:r>
            <a:r>
              <a:rPr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”, “Silicon”</a:t>
            </a:r>
            <a:r>
              <a:rPr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3</a:t>
            </a:r>
            <a:r>
              <a:rPr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종류에 대한 </a:t>
            </a:r>
            <a:r>
              <a:rPr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par </a:t>
            </a:r>
            <a:r>
              <a:rPr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파일이 생성된 상태</a:t>
            </a:r>
            <a:br>
              <a:rPr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 </a:t>
            </a:r>
            <a:r>
              <a:rPr lang="en-US" altLang="ko-KR" sz="2000" dirty="0" err="1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TiN</a:t>
            </a:r>
            <a:r>
              <a:rPr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과 같은 전극 물질은 </a:t>
            </a:r>
            <a:r>
              <a:rPr lang="en-US" altLang="ko-KR" sz="2000" b="1" dirty="0">
                <a:solidFill>
                  <a:srgbClr val="FF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Bandgap { </a:t>
            </a:r>
            <a:r>
              <a:rPr lang="en-US" altLang="ko-KR" sz="2000" b="1" dirty="0" err="1">
                <a:solidFill>
                  <a:srgbClr val="FF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Workfunction</a:t>
            </a:r>
            <a:r>
              <a:rPr lang="en-US" altLang="ko-KR" sz="2000" b="1" dirty="0">
                <a:solidFill>
                  <a:srgbClr val="FF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= 4.35 }</a:t>
            </a:r>
            <a:r>
              <a:rPr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과 같이</a:t>
            </a:r>
            <a:br>
              <a:rPr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</a:br>
            <a:r>
              <a:rPr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  </a:t>
            </a:r>
            <a:r>
              <a:rPr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입력 후 저장하여 </a:t>
            </a:r>
            <a:r>
              <a:rPr lang="en-US" altLang="ko-KR" sz="2000" dirty="0" err="1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Workfunction</a:t>
            </a:r>
            <a:r>
              <a:rPr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설정도 가능 </a:t>
            </a:r>
            <a:r>
              <a:rPr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(device code</a:t>
            </a:r>
            <a:r>
              <a:rPr lang="ko-KR" altLang="en-US" sz="2000" dirty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에서 설정 권장</a:t>
            </a:r>
            <a:r>
              <a:rPr lang="en-US" altLang="ko-KR" sz="2000" dirty="0">
                <a:solidFill>
                  <a:prstClr val="black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13727D7-693F-E974-0D26-07634FD23CC7}"/>
              </a:ext>
            </a:extLst>
          </p:cNvPr>
          <p:cNvSpPr/>
          <p:nvPr/>
        </p:nvSpPr>
        <p:spPr>
          <a:xfrm>
            <a:off x="4148212" y="2724864"/>
            <a:ext cx="2335715" cy="1806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314C18-95EC-1D59-97E4-6961DFC4157E}"/>
              </a:ext>
            </a:extLst>
          </p:cNvPr>
          <p:cNvSpPr txBox="1"/>
          <p:nvPr/>
        </p:nvSpPr>
        <p:spPr>
          <a:xfrm>
            <a:off x="2786742" y="6005048"/>
            <a:ext cx="6068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ym typeface="Wingdings" panose="05000000000000000000" pitchFamily="2" charset="2"/>
              </a:rPr>
              <a:t> </a:t>
            </a:r>
            <a:r>
              <a:rPr lang="en-US" altLang="ko-KR" b="1" dirty="0" err="1"/>
              <a:t>TiN</a:t>
            </a:r>
            <a:r>
              <a:rPr lang="en-US" altLang="ko-KR" b="1" dirty="0"/>
              <a:t> (Gate) </a:t>
            </a:r>
            <a:r>
              <a:rPr lang="en-US" altLang="ko-KR" b="1" dirty="0" err="1"/>
              <a:t>Workfunction</a:t>
            </a:r>
            <a:r>
              <a:rPr lang="ko-KR" altLang="en-US" b="1" dirty="0"/>
              <a:t> 을 통해 </a:t>
            </a:r>
            <a:r>
              <a:rPr lang="en-US" altLang="ko-KR" b="1" dirty="0"/>
              <a:t>MOSFET IV V</a:t>
            </a:r>
            <a:r>
              <a:rPr lang="en-US" altLang="ko-KR" b="1" baseline="-25000" dirty="0"/>
              <a:t>TH</a:t>
            </a:r>
            <a:r>
              <a:rPr lang="en-US" altLang="ko-KR" b="1" dirty="0"/>
              <a:t> </a:t>
            </a:r>
            <a:r>
              <a:rPr lang="ko-KR" altLang="en-US" b="1" dirty="0"/>
              <a:t>수정 가능</a:t>
            </a:r>
          </a:p>
        </p:txBody>
      </p:sp>
    </p:spTree>
    <p:extLst>
      <p:ext uri="{BB962C8B-B14F-4D97-AF65-F5344CB8AC3E}">
        <p14:creationId xmlns:p14="http://schemas.microsoft.com/office/powerpoint/2010/main" val="11700162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6B2AEA13-876D-B6E6-C6DD-C81FC4993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55" y="177910"/>
            <a:ext cx="8756999" cy="411678"/>
          </a:xfrm>
        </p:spPr>
        <p:txBody>
          <a:bodyPr/>
          <a:lstStyle/>
          <a:p>
            <a:r>
              <a:rPr lang="en-US" altLang="ko-KR" dirty="0">
                <a:latin typeface="+mj-ea"/>
              </a:rPr>
              <a:t>SDEVICE Manual</a:t>
            </a:r>
            <a:endParaRPr lang="ko-KR" altLang="en-US" dirty="0">
              <a:latin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64DE50-3D95-EB9C-CC17-4776DE4B9668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SDEVICE Simulation 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실행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CAF4EAD-7613-A7C0-C4BF-DE82C1C8B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30" y="1468461"/>
            <a:ext cx="2025523" cy="241524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BBB50A0-2828-6D46-E9FD-E6FFD4373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728" y="1468461"/>
            <a:ext cx="2656988" cy="242201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0D8C08D-7D98-907F-A1F9-76CD51B13E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1240" y="1468461"/>
            <a:ext cx="3115373" cy="240733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DCAAE758-54F0-93C3-23D5-3DB8589CF823}"/>
              </a:ext>
            </a:extLst>
          </p:cNvPr>
          <p:cNvSpPr/>
          <p:nvPr/>
        </p:nvSpPr>
        <p:spPr>
          <a:xfrm>
            <a:off x="4539135" y="2967549"/>
            <a:ext cx="1246884" cy="1108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3601FB8-5A52-E776-ED9F-75980C701F3A}"/>
              </a:ext>
            </a:extLst>
          </p:cNvPr>
          <p:cNvSpPr/>
          <p:nvPr/>
        </p:nvSpPr>
        <p:spPr>
          <a:xfrm>
            <a:off x="6970751" y="3619493"/>
            <a:ext cx="568566" cy="2432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0C2062B-8C75-81E7-2F3A-6221635156D2}"/>
              </a:ext>
            </a:extLst>
          </p:cNvPr>
          <p:cNvSpPr/>
          <p:nvPr/>
        </p:nvSpPr>
        <p:spPr>
          <a:xfrm>
            <a:off x="6962775" y="1958322"/>
            <a:ext cx="1867457" cy="2432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CD75BAB6-40CE-2F75-1540-87B66200B39E}"/>
              </a:ext>
            </a:extLst>
          </p:cNvPr>
          <p:cNvSpPr/>
          <p:nvPr/>
        </p:nvSpPr>
        <p:spPr>
          <a:xfrm>
            <a:off x="2277238" y="2465406"/>
            <a:ext cx="436227" cy="420991"/>
          </a:xfrm>
          <a:prstGeom prst="rightArrow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F6DDC316-3A3B-A48B-6A30-7E94E3532431}"/>
              </a:ext>
            </a:extLst>
          </p:cNvPr>
          <p:cNvSpPr/>
          <p:nvPr/>
        </p:nvSpPr>
        <p:spPr>
          <a:xfrm>
            <a:off x="5812906" y="2465406"/>
            <a:ext cx="436227" cy="420991"/>
          </a:xfrm>
          <a:prstGeom prst="rightArrow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9B806D-CA23-B001-5A39-8F625415B45B}"/>
              </a:ext>
            </a:extLst>
          </p:cNvPr>
          <p:cNvSpPr txBox="1"/>
          <p:nvPr/>
        </p:nvSpPr>
        <p:spPr>
          <a:xfrm>
            <a:off x="142614" y="4312083"/>
            <a:ext cx="8212822" cy="16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1. Command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입력 완료 후 저장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input file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닫기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20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2. SDEVICE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아래칸 </a:t>
            </a: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우클릭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Run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클릭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(or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Ctrl+R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20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3. Run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창이 뜨면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Queue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칸을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‘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local:default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’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확인 뒤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OK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클릭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051397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6B2AEA13-876D-B6E6-C6DD-C81FC4993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55" y="177910"/>
            <a:ext cx="8756999" cy="411678"/>
          </a:xfrm>
        </p:spPr>
        <p:txBody>
          <a:bodyPr/>
          <a:lstStyle/>
          <a:p>
            <a:r>
              <a:rPr lang="en-US" altLang="ko-KR" dirty="0">
                <a:latin typeface="+mj-ea"/>
              </a:rPr>
              <a:t>SVISUAL Manual</a:t>
            </a:r>
            <a:endParaRPr lang="ko-KR" altLang="en-US" dirty="0">
              <a:latin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64DE50-3D95-EB9C-CC17-4776DE4B9668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SVISUAL 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실행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9B806D-CA23-B001-5A39-8F625415B45B}"/>
              </a:ext>
            </a:extLst>
          </p:cNvPr>
          <p:cNvSpPr txBox="1"/>
          <p:nvPr/>
        </p:nvSpPr>
        <p:spPr>
          <a:xfrm>
            <a:off x="142613" y="4312083"/>
            <a:ext cx="9140723" cy="1113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분석하고자 하는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node (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시뮬레이션이 진행된 황색 셀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선택 후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Sentaurus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Visual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실행</a:t>
            </a:r>
          </a:p>
          <a:p>
            <a:pPr>
              <a:lnSpc>
                <a:spcPct val="20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2. SDEVICE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에서 저장한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IdVg_n2_des.plt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선택 후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Ok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A14E277-1A27-594B-0AC9-7CDEB24BAD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2701" b="29085"/>
          <a:stretch/>
        </p:blipFill>
        <p:spPr>
          <a:xfrm>
            <a:off x="429477" y="1330081"/>
            <a:ext cx="2737277" cy="243167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7DBA8C8-27D7-14B9-9EDE-1F279BB1D1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1670" b="28990"/>
          <a:stretch/>
        </p:blipFill>
        <p:spPr>
          <a:xfrm>
            <a:off x="429477" y="1330081"/>
            <a:ext cx="3532923" cy="306411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A88A725-38E2-AD31-8CC8-4082D40400D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675" t="56705"/>
          <a:stretch/>
        </p:blipFill>
        <p:spPr>
          <a:xfrm>
            <a:off x="3967480" y="2545917"/>
            <a:ext cx="1619650" cy="1868201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66C8A27D-0721-7251-AD23-F1CC0B577990}"/>
              </a:ext>
            </a:extLst>
          </p:cNvPr>
          <p:cNvSpPr/>
          <p:nvPr/>
        </p:nvSpPr>
        <p:spPr>
          <a:xfrm>
            <a:off x="3962400" y="2575841"/>
            <a:ext cx="1246884" cy="1108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D6E1E1B-F835-9101-C4F9-25615ABBB59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438"/>
          <a:stretch/>
        </p:blipFill>
        <p:spPr>
          <a:xfrm>
            <a:off x="5344160" y="1399510"/>
            <a:ext cx="3585808" cy="1981173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3A661886-EA25-C305-2A94-F90E52BDDC92}"/>
              </a:ext>
            </a:extLst>
          </p:cNvPr>
          <p:cNvSpPr/>
          <p:nvPr/>
        </p:nvSpPr>
        <p:spPr>
          <a:xfrm>
            <a:off x="5394420" y="1837278"/>
            <a:ext cx="1246884" cy="1108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72343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6B2AEA13-876D-B6E6-C6DD-C81FC4993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55" y="177910"/>
            <a:ext cx="8756999" cy="411678"/>
          </a:xfrm>
        </p:spPr>
        <p:txBody>
          <a:bodyPr/>
          <a:lstStyle/>
          <a:p>
            <a:r>
              <a:rPr lang="en-US" altLang="ko-KR" dirty="0">
                <a:latin typeface="+mj-ea"/>
              </a:rPr>
              <a:t>SVISUAL Manual</a:t>
            </a:r>
            <a:endParaRPr lang="ko-KR" altLang="en-US" dirty="0">
              <a:latin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64DE50-3D95-EB9C-CC17-4776DE4B9668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Transfer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Characteristics (I</a:t>
            </a:r>
            <a:r>
              <a:rPr lang="en-US" altLang="ko-KR" sz="24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-V</a:t>
            </a:r>
            <a:r>
              <a:rPr lang="en-US" altLang="ko-KR" sz="24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5CE80A-EF1F-6AC0-18FA-F375EA1560C4}"/>
              </a:ext>
            </a:extLst>
          </p:cNvPr>
          <p:cNvSpPr txBox="1"/>
          <p:nvPr/>
        </p:nvSpPr>
        <p:spPr>
          <a:xfrm>
            <a:off x="142613" y="5277624"/>
            <a:ext cx="8825217" cy="1287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1. Data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에서 우측 그래프에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plot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을 원하는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data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선택</a:t>
            </a:r>
            <a:b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</a:b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X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축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data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선택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(gate →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OuterVoltage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 : X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축에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</a:t>
            </a:r>
            <a:r>
              <a:rPr lang="en-US" altLang="ko-KR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G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선택</a:t>
            </a:r>
            <a:b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</a:b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Y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축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data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선택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(drain →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TotalCurrent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 : Y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축에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</a:t>
            </a:r>
            <a:r>
              <a:rPr lang="en-US" altLang="ko-KR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선택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12C0761-8803-E9BC-47C5-058FDA91BA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135" b="3807"/>
          <a:stretch/>
        </p:blipFill>
        <p:spPr>
          <a:xfrm>
            <a:off x="993363" y="1318542"/>
            <a:ext cx="7099977" cy="3852054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4D0FD029-810E-1BEA-A142-3E1486778EF6}"/>
              </a:ext>
            </a:extLst>
          </p:cNvPr>
          <p:cNvSpPr/>
          <p:nvPr/>
        </p:nvSpPr>
        <p:spPr>
          <a:xfrm>
            <a:off x="975982" y="1297465"/>
            <a:ext cx="1524445" cy="23485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CBFA5EEE-0E90-E22D-7CE3-9F403D471455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500427" y="2471737"/>
            <a:ext cx="1356077" cy="45419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6E1FE175-57B3-6DD3-DEB6-E5E4491AAE6D}"/>
              </a:ext>
            </a:extLst>
          </p:cNvPr>
          <p:cNvSpPr/>
          <p:nvPr/>
        </p:nvSpPr>
        <p:spPr>
          <a:xfrm>
            <a:off x="3856503" y="1220445"/>
            <a:ext cx="4062209" cy="3422778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FA67056-00F7-B904-53EF-B8FCCCA41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8194" y="1235703"/>
            <a:ext cx="1991757" cy="340752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4E4590B-D039-B193-89F1-E7E938CA51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4002" y="1241140"/>
            <a:ext cx="1974710" cy="3402083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C2ED3B5C-4829-7D7C-85C1-62EE5AC9E575}"/>
              </a:ext>
            </a:extLst>
          </p:cNvPr>
          <p:cNvSpPr/>
          <p:nvPr/>
        </p:nvSpPr>
        <p:spPr>
          <a:xfrm>
            <a:off x="6056860" y="4322866"/>
            <a:ext cx="862997" cy="2023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AA5B5D6-F163-4DBB-D469-FD6715091A5F}"/>
              </a:ext>
            </a:extLst>
          </p:cNvPr>
          <p:cNvSpPr/>
          <p:nvPr/>
        </p:nvSpPr>
        <p:spPr>
          <a:xfrm>
            <a:off x="4012110" y="4174372"/>
            <a:ext cx="862997" cy="2023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71600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90D6BDE5-E413-CB39-8D6A-09F5489B5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986" y="1249436"/>
            <a:ext cx="7013803" cy="431266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6B2AEA13-876D-B6E6-C6DD-C81FC4993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55" y="177910"/>
            <a:ext cx="8756999" cy="411678"/>
          </a:xfrm>
        </p:spPr>
        <p:txBody>
          <a:bodyPr/>
          <a:lstStyle/>
          <a:p>
            <a:r>
              <a:rPr lang="en-US" altLang="ko-KR" dirty="0">
                <a:latin typeface="+mj-ea"/>
              </a:rPr>
              <a:t>SVISUAL Manual</a:t>
            </a:r>
            <a:endParaRPr lang="ko-KR" altLang="en-US" dirty="0">
              <a:latin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64DE50-3D95-EB9C-CC17-4776DE4B9668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Transfer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Characteristics (I</a:t>
            </a:r>
            <a:r>
              <a:rPr lang="en-US" altLang="ko-KR" sz="24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-V</a:t>
            </a:r>
            <a:r>
              <a:rPr lang="en-US" altLang="ko-KR" sz="24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5CE80A-EF1F-6AC0-18FA-F375EA1560C4}"/>
              </a:ext>
            </a:extLst>
          </p:cNvPr>
          <p:cNvSpPr txBox="1"/>
          <p:nvPr/>
        </p:nvSpPr>
        <p:spPr>
          <a:xfrm>
            <a:off x="142613" y="5562104"/>
            <a:ext cx="8825217" cy="456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1. Y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축 로그 처리하면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Log(I</a:t>
            </a:r>
            <a:r>
              <a:rPr lang="en-US" altLang="ko-KR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 vs. V</a:t>
            </a:r>
            <a:r>
              <a:rPr lang="en-US" altLang="ko-KR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G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plot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확인 가능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3F7B2A5-589A-40F2-BD73-13A624408A44}"/>
              </a:ext>
            </a:extLst>
          </p:cNvPr>
          <p:cNvSpPr/>
          <p:nvPr/>
        </p:nvSpPr>
        <p:spPr>
          <a:xfrm>
            <a:off x="7850169" y="2272208"/>
            <a:ext cx="213830" cy="1892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FB192CF-7745-6B05-B6E2-584348250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631" y="1812666"/>
            <a:ext cx="4256997" cy="3184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4862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BAA4C98D-EA0E-7F85-7BE7-D8E400FE1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385" y="1232234"/>
            <a:ext cx="6984000" cy="409728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6B2AEA13-876D-B6E6-C6DD-C81FC4993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55" y="177910"/>
            <a:ext cx="8756999" cy="411678"/>
          </a:xfrm>
        </p:spPr>
        <p:txBody>
          <a:bodyPr/>
          <a:lstStyle/>
          <a:p>
            <a:r>
              <a:rPr lang="en-US" altLang="ko-KR" dirty="0">
                <a:latin typeface="+mj-ea"/>
              </a:rPr>
              <a:t>SVISUAL Manual</a:t>
            </a:r>
            <a:endParaRPr lang="ko-KR" altLang="en-US" dirty="0">
              <a:latin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64DE50-3D95-EB9C-CC17-4776DE4B9668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SVISUAL function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5CE80A-EF1F-6AC0-18FA-F375EA1560C4}"/>
              </a:ext>
            </a:extLst>
          </p:cNvPr>
          <p:cNvSpPr txBox="1"/>
          <p:nvPr/>
        </p:nvSpPr>
        <p:spPr>
          <a:xfrm>
            <a:off x="142613" y="5562104"/>
            <a:ext cx="8825217" cy="1113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1. Curves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에서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plt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file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기반으로 만든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Log(I</a:t>
            </a:r>
            <a:r>
              <a:rPr lang="en-US" altLang="ko-KR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 vs. V</a:t>
            </a:r>
            <a:r>
              <a:rPr lang="en-US" altLang="ko-KR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G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plot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선택 가능</a:t>
            </a:r>
          </a:p>
          <a:p>
            <a:pPr>
              <a:lnSpc>
                <a:spcPct val="20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2. Trans.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기능을 통해 여러 수식 적용 가능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(1</a:t>
            </a: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차미분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절대값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etc..)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3F7B2A5-589A-40F2-BD73-13A624408A44}"/>
              </a:ext>
            </a:extLst>
          </p:cNvPr>
          <p:cNvSpPr/>
          <p:nvPr/>
        </p:nvSpPr>
        <p:spPr>
          <a:xfrm>
            <a:off x="1510329" y="1727200"/>
            <a:ext cx="287992" cy="1117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6CE4FDD-B29D-B1D4-802B-3AF42A1BC662}"/>
              </a:ext>
            </a:extLst>
          </p:cNvPr>
          <p:cNvSpPr/>
          <p:nvPr/>
        </p:nvSpPr>
        <p:spPr>
          <a:xfrm>
            <a:off x="1196819" y="3849189"/>
            <a:ext cx="2190815" cy="12888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3792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3D488-08EB-0069-F949-1EADB23B6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748BB125-C923-2F8C-3D47-B91E5CAC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55" y="177910"/>
            <a:ext cx="8756999" cy="411678"/>
          </a:xfrm>
        </p:spPr>
        <p:txBody>
          <a:bodyPr/>
          <a:lstStyle/>
          <a:p>
            <a:r>
              <a:rPr lang="en-US" altLang="ko-KR" dirty="0">
                <a:latin typeface="+mj-ea"/>
              </a:rPr>
              <a:t>SVISUAL Manual</a:t>
            </a:r>
            <a:endParaRPr lang="ko-KR" altLang="en-US" dirty="0">
              <a:latin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286552-C282-4EAE-306C-3F8185D66415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Non-ideal effects, SCE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066ABD-11C6-073A-C130-8C779106864E}"/>
              </a:ext>
            </a:extLst>
          </p:cNvPr>
          <p:cNvSpPr txBox="1"/>
          <p:nvPr/>
        </p:nvSpPr>
        <p:spPr>
          <a:xfrm>
            <a:off x="142613" y="5562104"/>
            <a:ext cx="8825217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1.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여러 조건에서 그려진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curve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들을 한 번에 비교하고 싶으면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여러 개의 셀을 동시에 선택해서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SVISUAL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을 실행하는 방법과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2.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이미 열려 있는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SVISUAL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창에 원하는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plt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파일을 추가하는 방법이 있음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A45F58A7-86F1-A144-8DCF-110D25D60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312" y="1220025"/>
            <a:ext cx="1590576" cy="212249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DA3BEB3D-301E-CF58-B4FA-9940DE806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3456" y="1169643"/>
            <a:ext cx="3949722" cy="2166705"/>
          </a:xfrm>
          <a:prstGeom prst="rect">
            <a:avLst/>
          </a:prstGeom>
        </p:spPr>
      </p:pic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71B26440-268A-B8B2-4C2E-EBD902FC276D}"/>
              </a:ext>
            </a:extLst>
          </p:cNvPr>
          <p:cNvCxnSpPr>
            <a:cxnSpLocks/>
          </p:cNvCxnSpPr>
          <p:nvPr/>
        </p:nvCxnSpPr>
        <p:spPr>
          <a:xfrm flipV="1">
            <a:off x="2866020" y="1709858"/>
            <a:ext cx="1187436" cy="16059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C7C3CA5A-898E-8782-4506-3126202E42DF}"/>
              </a:ext>
            </a:extLst>
          </p:cNvPr>
          <p:cNvCxnSpPr>
            <a:cxnSpLocks/>
          </p:cNvCxnSpPr>
          <p:nvPr/>
        </p:nvCxnSpPr>
        <p:spPr>
          <a:xfrm flipV="1">
            <a:off x="2875886" y="1790154"/>
            <a:ext cx="1177570" cy="93178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4B178C2D-94AF-4F36-2934-60B6D146E9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3541"/>
          <a:stretch>
            <a:fillRect/>
          </a:stretch>
        </p:blipFill>
        <p:spPr>
          <a:xfrm>
            <a:off x="422564" y="3897566"/>
            <a:ext cx="7261783" cy="1134319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F82D7806-D94A-C623-C173-3D638C9648C3}"/>
              </a:ext>
            </a:extLst>
          </p:cNvPr>
          <p:cNvSpPr/>
          <p:nvPr/>
        </p:nvSpPr>
        <p:spPr>
          <a:xfrm>
            <a:off x="2596742" y="3868225"/>
            <a:ext cx="448084" cy="1545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0DEB8320-E77F-3522-FAE8-E0742A5DD7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3455" y="3429000"/>
            <a:ext cx="3909004" cy="2166705"/>
          </a:xfrm>
          <a:prstGeom prst="rect">
            <a:avLst/>
          </a:prstGeom>
        </p:spPr>
      </p:pic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919EF663-A7A8-41EC-0E4D-D92C81EFCAFC}"/>
              </a:ext>
            </a:extLst>
          </p:cNvPr>
          <p:cNvCxnSpPr>
            <a:cxnSpLocks/>
          </p:cNvCxnSpPr>
          <p:nvPr/>
        </p:nvCxnSpPr>
        <p:spPr>
          <a:xfrm>
            <a:off x="3044826" y="3945475"/>
            <a:ext cx="2983491" cy="23832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42686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FE6DA-EBD7-75FC-BD7C-14C38BF73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그림 31">
            <a:extLst>
              <a:ext uri="{FF2B5EF4-FFF2-40B4-BE49-F238E27FC236}">
                <a16:creationId xmlns:a16="http://schemas.microsoft.com/office/drawing/2014/main" id="{AC1736AE-060F-05E1-F5BA-60DCA992E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116" y="1337725"/>
            <a:ext cx="7094210" cy="4182549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89D099E5-056D-3D38-8E02-7C7F6E47E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55" y="177910"/>
            <a:ext cx="8756999" cy="411678"/>
          </a:xfrm>
        </p:spPr>
        <p:txBody>
          <a:bodyPr/>
          <a:lstStyle/>
          <a:p>
            <a:r>
              <a:rPr lang="en-US" altLang="ko-KR" dirty="0">
                <a:latin typeface="+mj-ea"/>
              </a:rPr>
              <a:t>SVISUAL Manual</a:t>
            </a:r>
            <a:endParaRPr lang="ko-KR" altLang="en-US" dirty="0">
              <a:latin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F84380-8923-695F-9614-4EA9593B370A}"/>
              </a:ext>
            </a:extLst>
          </p:cNvPr>
          <p:cNvSpPr txBox="1"/>
          <p:nvPr/>
        </p:nvSpPr>
        <p:spPr>
          <a:xfrm>
            <a:off x="142613" y="5562104"/>
            <a:ext cx="8825217" cy="871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1. New XY Plot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으로 새로운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curve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를 만들 수 있음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2.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여러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bias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조건의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</a:t>
            </a:r>
            <a:r>
              <a:rPr lang="en-US" altLang="ko-KR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-V</a:t>
            </a:r>
            <a:r>
              <a:rPr lang="en-US" altLang="ko-KR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G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curve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들을 비교하여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non-ideal effect, SCE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등을 확인 가능 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7760B59-FEBF-12DF-636A-1CD15D85C19F}"/>
              </a:ext>
            </a:extLst>
          </p:cNvPr>
          <p:cNvSpPr/>
          <p:nvPr/>
        </p:nvSpPr>
        <p:spPr>
          <a:xfrm>
            <a:off x="1865222" y="1865253"/>
            <a:ext cx="448084" cy="1545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BA8E82-049B-82E7-430B-DB6B1A1F303E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Non-ideal effects, SCE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8303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6B2AEA13-876D-B6E6-C6DD-C81FC4993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55" y="177910"/>
            <a:ext cx="8756999" cy="411678"/>
          </a:xfrm>
        </p:spPr>
        <p:txBody>
          <a:bodyPr/>
          <a:lstStyle/>
          <a:p>
            <a:r>
              <a:rPr lang="en-US" altLang="ko-KR" dirty="0">
                <a:latin typeface="+mj-ea"/>
              </a:rPr>
              <a:t>SVISUAL Manual</a:t>
            </a:r>
            <a:endParaRPr lang="ko-KR" altLang="en-US" dirty="0">
              <a:latin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64DE50-3D95-EB9C-CC17-4776DE4B9668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SVISUAL .</a:t>
            </a:r>
            <a:r>
              <a:rPr lang="en-US" altLang="ko-K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tdr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로부터 주요 특성 분석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5CE80A-EF1F-6AC0-18FA-F375EA1560C4}"/>
              </a:ext>
            </a:extLst>
          </p:cNvPr>
          <p:cNvSpPr txBox="1"/>
          <p:nvPr/>
        </p:nvSpPr>
        <p:spPr>
          <a:xfrm>
            <a:off x="142613" y="4525784"/>
            <a:ext cx="8825217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1.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Vd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= 1.0 V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기반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Vg = 0 V, 1.4 V, 3.0 V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tdr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파일 선택 후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OK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클릭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(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저장된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Bias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정보는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SDEVICE command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에서 확인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D926047-E477-7C09-019F-5346FBE98D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2701" b="29085"/>
          <a:stretch/>
        </p:blipFill>
        <p:spPr>
          <a:xfrm>
            <a:off x="429477" y="1330081"/>
            <a:ext cx="2737277" cy="243167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3343632-134D-E525-28C5-3EBFF57748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1670" b="28990"/>
          <a:stretch/>
        </p:blipFill>
        <p:spPr>
          <a:xfrm>
            <a:off x="429477" y="1330081"/>
            <a:ext cx="3532923" cy="306411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0A1254D-4E93-84CB-3921-2185CD073E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675" t="56705"/>
          <a:stretch/>
        </p:blipFill>
        <p:spPr>
          <a:xfrm>
            <a:off x="3967480" y="2545917"/>
            <a:ext cx="1619650" cy="1868201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EA6B832F-863E-EB1F-2691-A47ADA9C421C}"/>
              </a:ext>
            </a:extLst>
          </p:cNvPr>
          <p:cNvSpPr/>
          <p:nvPr/>
        </p:nvSpPr>
        <p:spPr>
          <a:xfrm>
            <a:off x="3962400" y="2575841"/>
            <a:ext cx="1246884" cy="1108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762F6BB-D885-F7B8-05F6-127FD6A40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4993" y="1460182"/>
            <a:ext cx="3618964" cy="244967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886784F2-2DD3-BA24-DA31-29E1892E2D0B}"/>
              </a:ext>
            </a:extLst>
          </p:cNvPr>
          <p:cNvSpPr/>
          <p:nvPr/>
        </p:nvSpPr>
        <p:spPr>
          <a:xfrm>
            <a:off x="5401045" y="1995618"/>
            <a:ext cx="1766107" cy="9043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3426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93539D3B-DC49-000B-020B-A798FB8A0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556" y="1231714"/>
            <a:ext cx="6489362" cy="3808596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6B2AEA13-876D-B6E6-C6DD-C81FC4993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55" y="177910"/>
            <a:ext cx="8756999" cy="411678"/>
          </a:xfrm>
        </p:spPr>
        <p:txBody>
          <a:bodyPr/>
          <a:lstStyle/>
          <a:p>
            <a:r>
              <a:rPr lang="en-US" altLang="ko-KR" dirty="0">
                <a:latin typeface="+mj-ea"/>
              </a:rPr>
              <a:t>SVISUAL Manual</a:t>
            </a:r>
            <a:endParaRPr lang="ko-KR" altLang="en-US" dirty="0">
              <a:latin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64DE50-3D95-EB9C-CC17-4776DE4B9668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SVISUAL .</a:t>
            </a:r>
            <a:r>
              <a:rPr lang="en-US" altLang="ko-K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tdr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로부터 주요 특성 분석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5CE80A-EF1F-6AC0-18FA-F375EA1560C4}"/>
              </a:ext>
            </a:extLst>
          </p:cNvPr>
          <p:cNvSpPr txBox="1"/>
          <p:nvPr/>
        </p:nvSpPr>
        <p:spPr>
          <a:xfrm>
            <a:off x="142613" y="5109984"/>
            <a:ext cx="8825217" cy="128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1. 3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가지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tdr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파일을 동시에 링크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마우스로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shift </a:t>
            </a: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누른채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모두 클릭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Link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클릭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2. Axes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누른 후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Interchange Axes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클릭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체크 해제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3. Y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축 누른 후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Main → Inverted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클릭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체크 해제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8DFDD68-6133-5FD3-AB8F-22F522F5651A}"/>
              </a:ext>
            </a:extLst>
          </p:cNvPr>
          <p:cNvSpPr/>
          <p:nvPr/>
        </p:nvSpPr>
        <p:spPr>
          <a:xfrm>
            <a:off x="7537527" y="2117623"/>
            <a:ext cx="213830" cy="1892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C985E3-47C7-CEF5-5EFB-C7D21984F6C8}"/>
              </a:ext>
            </a:extLst>
          </p:cNvPr>
          <p:cNvSpPr txBox="1"/>
          <p:nvPr/>
        </p:nvSpPr>
        <p:spPr>
          <a:xfrm>
            <a:off x="7751357" y="2027603"/>
            <a:ext cx="962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Link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9E1258B-D65A-3E4D-44EC-0104FDEBAEF7}"/>
              </a:ext>
            </a:extLst>
          </p:cNvPr>
          <p:cNvSpPr/>
          <p:nvPr/>
        </p:nvSpPr>
        <p:spPr>
          <a:xfrm>
            <a:off x="1688992" y="3841923"/>
            <a:ext cx="213830" cy="1892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D65F7F-80A9-CDB5-9917-BF52734CAEBC}"/>
              </a:ext>
            </a:extLst>
          </p:cNvPr>
          <p:cNvSpPr txBox="1"/>
          <p:nvPr/>
        </p:nvSpPr>
        <p:spPr>
          <a:xfrm>
            <a:off x="1732592" y="4009275"/>
            <a:ext cx="9626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Axes</a:t>
            </a:r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AD491835-19F0-5F0C-FD3B-847766C12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3167" y="4457168"/>
            <a:ext cx="1747508" cy="66004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35183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EFD147E6-43C8-8400-3E2B-96A9B8203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171" y="1143677"/>
            <a:ext cx="6788122" cy="4005807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6B2AEA13-876D-B6E6-C6DD-C81FC4993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55" y="177910"/>
            <a:ext cx="8756999" cy="411678"/>
          </a:xfrm>
        </p:spPr>
        <p:txBody>
          <a:bodyPr/>
          <a:lstStyle/>
          <a:p>
            <a:r>
              <a:rPr lang="en-US" altLang="ko-KR" dirty="0">
                <a:latin typeface="+mj-ea"/>
              </a:rPr>
              <a:t>SVISUAL Manual</a:t>
            </a:r>
            <a:endParaRPr lang="ko-KR" altLang="en-US" dirty="0">
              <a:latin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64DE50-3D95-EB9C-CC17-4776DE4B9668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SVISUAL .</a:t>
            </a:r>
            <a:r>
              <a:rPr lang="en-US" altLang="ko-K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tdr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로부터 주요 특성 분석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5CE80A-EF1F-6AC0-18FA-F375EA1560C4}"/>
              </a:ext>
            </a:extLst>
          </p:cNvPr>
          <p:cNvSpPr txBox="1"/>
          <p:nvPr/>
        </p:nvSpPr>
        <p:spPr>
          <a:xfrm>
            <a:off x="142613" y="5109984"/>
            <a:ext cx="8825217" cy="1287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Scalars or Vectors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내 확인하고 싶은 분포를 클릭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(SDEVICE command Plot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정의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1.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eDensity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클릭 후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tdr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파일이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Vg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에 따라 변화함을 확인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2.                      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내       누르면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tdr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확대 가능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.           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화살표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눌러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tdr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파일 변경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3BB1D92-2148-C77A-7666-3225D16D3660}"/>
              </a:ext>
            </a:extLst>
          </p:cNvPr>
          <p:cNvSpPr/>
          <p:nvPr/>
        </p:nvSpPr>
        <p:spPr>
          <a:xfrm>
            <a:off x="1382267" y="2846210"/>
            <a:ext cx="366230" cy="1531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40843C-A38A-8DA7-36BB-760DCC85C8D0}"/>
              </a:ext>
            </a:extLst>
          </p:cNvPr>
          <p:cNvSpPr txBox="1"/>
          <p:nvPr/>
        </p:nvSpPr>
        <p:spPr>
          <a:xfrm>
            <a:off x="248455" y="2738111"/>
            <a:ext cx="12924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eDensity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EF75DE-46CE-CE16-2908-2518643CF035}"/>
              </a:ext>
            </a:extLst>
          </p:cNvPr>
          <p:cNvSpPr txBox="1"/>
          <p:nvPr/>
        </p:nvSpPr>
        <p:spPr>
          <a:xfrm>
            <a:off x="4136053" y="1801375"/>
            <a:ext cx="12924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Vg = 0 V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4DDD7C-4E98-CA7E-E1AD-32367CA7A810}"/>
              </a:ext>
            </a:extLst>
          </p:cNvPr>
          <p:cNvSpPr txBox="1"/>
          <p:nvPr/>
        </p:nvSpPr>
        <p:spPr>
          <a:xfrm>
            <a:off x="6110615" y="1800979"/>
            <a:ext cx="12924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Vg = 1.4 V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76AE7C-C192-A94F-0EB5-8C531B210482}"/>
              </a:ext>
            </a:extLst>
          </p:cNvPr>
          <p:cNvSpPr txBox="1"/>
          <p:nvPr/>
        </p:nvSpPr>
        <p:spPr>
          <a:xfrm>
            <a:off x="4040258" y="3516389"/>
            <a:ext cx="12924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Vg = 3.0 V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6FAABF5-EE11-A157-0A38-9F6735BA6290}"/>
              </a:ext>
            </a:extLst>
          </p:cNvPr>
          <p:cNvSpPr/>
          <p:nvPr/>
        </p:nvSpPr>
        <p:spPr>
          <a:xfrm>
            <a:off x="7446138" y="1242755"/>
            <a:ext cx="600584" cy="1339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BDEB44DA-4974-9D7B-8EF5-7CF47D4DADF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4205" t="2654" r="-112" b="95381"/>
          <a:stretch/>
        </p:blipFill>
        <p:spPr>
          <a:xfrm>
            <a:off x="696722" y="6085064"/>
            <a:ext cx="1142238" cy="23978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5B8499D-70D9-FA6D-582B-69D72AF0024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9092" t="3092" r="-59" b="95801"/>
          <a:stretch/>
        </p:blipFill>
        <p:spPr>
          <a:xfrm>
            <a:off x="2216817" y="6121017"/>
            <a:ext cx="281991" cy="20383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CC3A7A0B-9E17-A3E6-D54E-D0BB0DBCD4E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4205" t="2654" r="2827" b="95381"/>
          <a:stretch/>
        </p:blipFill>
        <p:spPr>
          <a:xfrm>
            <a:off x="4821057" y="6074365"/>
            <a:ext cx="573903" cy="239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463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6A7D59D-C9B0-EADB-5EE0-DC109AA1F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171" y="1143677"/>
            <a:ext cx="6788122" cy="400580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4E604CD-1377-EED9-23B1-8C7716E82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215" y="2926867"/>
            <a:ext cx="2415076" cy="297551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6B2AEA13-876D-B6E6-C6DD-C81FC4993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55" y="177910"/>
            <a:ext cx="8756999" cy="411678"/>
          </a:xfrm>
        </p:spPr>
        <p:txBody>
          <a:bodyPr/>
          <a:lstStyle/>
          <a:p>
            <a:r>
              <a:rPr lang="en-US" altLang="ko-KR" dirty="0">
                <a:latin typeface="+mj-ea"/>
              </a:rPr>
              <a:t>SVISUAL Manual</a:t>
            </a:r>
            <a:endParaRPr lang="ko-KR" altLang="en-US" dirty="0">
              <a:latin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64DE50-3D95-EB9C-CC17-4776DE4B9668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SVISUAL .</a:t>
            </a:r>
            <a:r>
              <a:rPr lang="en-US" altLang="ko-K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tdr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로부터 주요 특성 분석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5CE80A-EF1F-6AC0-18FA-F375EA1560C4}"/>
              </a:ext>
            </a:extLst>
          </p:cNvPr>
          <p:cNvSpPr txBox="1"/>
          <p:nvPr/>
        </p:nvSpPr>
        <p:spPr>
          <a:xfrm>
            <a:off x="142613" y="5216664"/>
            <a:ext cx="9079764" cy="1287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1. 1D Profile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확인을 위해 오른쪽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Precision Cuts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클릭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2. Alignment (x or y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축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확인 후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First Cutline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내 원하는 좌표 입력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Ex) Channel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방향으로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eDensity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확인을 위해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y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축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1.195 (5nm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깊이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입력 후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Create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Cuts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6FAABF5-EE11-A157-0A38-9F6735BA6290}"/>
              </a:ext>
            </a:extLst>
          </p:cNvPr>
          <p:cNvSpPr/>
          <p:nvPr/>
        </p:nvSpPr>
        <p:spPr>
          <a:xfrm>
            <a:off x="7855916" y="2740004"/>
            <a:ext cx="109908" cy="1418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5F7C4C3A-18C4-256E-0A62-B1154AD06B5C}"/>
              </a:ext>
            </a:extLst>
          </p:cNvPr>
          <p:cNvCxnSpPr>
            <a:cxnSpLocks/>
          </p:cNvCxnSpPr>
          <p:nvPr/>
        </p:nvCxnSpPr>
        <p:spPr>
          <a:xfrm flipH="1">
            <a:off x="7672827" y="2846979"/>
            <a:ext cx="158386" cy="18438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FDC3DD0-2795-A272-7F73-B3A1B5BCA8FE}"/>
              </a:ext>
            </a:extLst>
          </p:cNvPr>
          <p:cNvSpPr/>
          <p:nvPr/>
        </p:nvSpPr>
        <p:spPr>
          <a:xfrm>
            <a:off x="6803863" y="4215657"/>
            <a:ext cx="2195234" cy="2916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8E55896-337C-4959-A2F3-44EC5166CAD9}"/>
              </a:ext>
            </a:extLst>
          </p:cNvPr>
          <p:cNvSpPr/>
          <p:nvPr/>
        </p:nvSpPr>
        <p:spPr>
          <a:xfrm>
            <a:off x="6803863" y="4529347"/>
            <a:ext cx="2195234" cy="4233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3B2819-5726-2706-1246-FBDBCD5A6946}"/>
              </a:ext>
            </a:extLst>
          </p:cNvPr>
          <p:cNvSpPr txBox="1"/>
          <p:nvPr/>
        </p:nvSpPr>
        <p:spPr>
          <a:xfrm>
            <a:off x="4136053" y="1801375"/>
            <a:ext cx="12924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Vg = 0 V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D6C619-168A-1D0B-D33C-ED46E8E55AEA}"/>
              </a:ext>
            </a:extLst>
          </p:cNvPr>
          <p:cNvSpPr txBox="1"/>
          <p:nvPr/>
        </p:nvSpPr>
        <p:spPr>
          <a:xfrm>
            <a:off x="6110615" y="1800979"/>
            <a:ext cx="12924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Vg = 1.4 V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4E16E9-8514-A1DD-8509-71C1D5EB1755}"/>
              </a:ext>
            </a:extLst>
          </p:cNvPr>
          <p:cNvSpPr txBox="1"/>
          <p:nvPr/>
        </p:nvSpPr>
        <p:spPr>
          <a:xfrm>
            <a:off x="4040258" y="3516389"/>
            <a:ext cx="12924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Vg = 3.0 V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90698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81B432E-9C61-26E0-11AE-C7CDA9A83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624" y="1185248"/>
            <a:ext cx="6897210" cy="4057183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6B2AEA13-876D-B6E6-C6DD-C81FC4993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55" y="177910"/>
            <a:ext cx="8756999" cy="411678"/>
          </a:xfrm>
        </p:spPr>
        <p:txBody>
          <a:bodyPr/>
          <a:lstStyle/>
          <a:p>
            <a:r>
              <a:rPr lang="en-US" altLang="ko-KR" dirty="0">
                <a:latin typeface="+mj-ea"/>
              </a:rPr>
              <a:t>SVISUAL Manual</a:t>
            </a:r>
            <a:endParaRPr lang="ko-KR" altLang="en-US" dirty="0">
              <a:latin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64DE50-3D95-EB9C-CC17-4776DE4B9668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SVISUAL .</a:t>
            </a:r>
            <a:r>
              <a:rPr lang="en-US" altLang="ko-K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tdr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로부터 주요 특성 분석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5CE80A-EF1F-6AC0-18FA-F375EA1560C4}"/>
              </a:ext>
            </a:extLst>
          </p:cNvPr>
          <p:cNvSpPr txBox="1"/>
          <p:nvPr/>
        </p:nvSpPr>
        <p:spPr>
          <a:xfrm>
            <a:off x="142613" y="5312460"/>
            <a:ext cx="8825217" cy="456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1. Gate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전압에 따른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1D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eDensity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Profile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확인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153D863-B4AF-A426-116B-BA06B6859A46}"/>
              </a:ext>
            </a:extLst>
          </p:cNvPr>
          <p:cNvSpPr/>
          <p:nvPr/>
        </p:nvSpPr>
        <p:spPr>
          <a:xfrm>
            <a:off x="5291611" y="3363439"/>
            <a:ext cx="2136800" cy="16875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1411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3EDB1AAB-9BD0-A2C0-0EEA-656B34342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608" y="1231510"/>
            <a:ext cx="6433225" cy="3765581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6B2AEA13-876D-B6E6-C6DD-C81FC4993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55" y="177910"/>
            <a:ext cx="8756999" cy="411678"/>
          </a:xfrm>
        </p:spPr>
        <p:txBody>
          <a:bodyPr/>
          <a:lstStyle/>
          <a:p>
            <a:r>
              <a:rPr lang="en-US" altLang="ko-KR" dirty="0">
                <a:latin typeface="+mj-ea"/>
              </a:rPr>
              <a:t>SVISUAL Manual</a:t>
            </a:r>
            <a:endParaRPr lang="ko-KR" altLang="en-US" dirty="0">
              <a:latin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64DE50-3D95-EB9C-CC17-4776DE4B9668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SVISUAL .</a:t>
            </a:r>
            <a:r>
              <a:rPr lang="en-US" altLang="ko-K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tdr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로부터 주요 특성 분석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5CE80A-EF1F-6AC0-18FA-F375EA1560C4}"/>
              </a:ext>
            </a:extLst>
          </p:cNvPr>
          <p:cNvSpPr txBox="1"/>
          <p:nvPr/>
        </p:nvSpPr>
        <p:spPr>
          <a:xfrm>
            <a:off x="142613" y="5216664"/>
            <a:ext cx="8825217" cy="456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1. Cutline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을 따라 원하는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profile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확인 가능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153D863-B4AF-A426-116B-BA06B6859A46}"/>
              </a:ext>
            </a:extLst>
          </p:cNvPr>
          <p:cNvSpPr/>
          <p:nvPr/>
        </p:nvSpPr>
        <p:spPr>
          <a:xfrm>
            <a:off x="1541843" y="2367929"/>
            <a:ext cx="1887880" cy="8796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9090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A6594D-9231-6E4D-2866-22E5A461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</a:rPr>
              <a:t>Content</a:t>
            </a:r>
            <a:endParaRPr lang="ko-KR" altLang="en-US" dirty="0">
              <a:latin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F77698-2602-F7CB-99D1-F463B753873D}"/>
              </a:ext>
            </a:extLst>
          </p:cNvPr>
          <p:cNvSpPr txBox="1"/>
          <p:nvPr/>
        </p:nvSpPr>
        <p:spPr>
          <a:xfrm>
            <a:off x="248457" y="1021555"/>
            <a:ext cx="5294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◇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1B54D1-CA09-C66A-9EC7-E9DB1FB06126}"/>
              </a:ext>
            </a:extLst>
          </p:cNvPr>
          <p:cNvSpPr txBox="1"/>
          <p:nvPr/>
        </p:nvSpPr>
        <p:spPr>
          <a:xfrm>
            <a:off x="248457" y="1846258"/>
            <a:ext cx="5294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◇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7321F9-2A47-043F-DF78-B85F063531E4}"/>
              </a:ext>
            </a:extLst>
          </p:cNvPr>
          <p:cNvSpPr txBox="1"/>
          <p:nvPr/>
        </p:nvSpPr>
        <p:spPr>
          <a:xfrm>
            <a:off x="248457" y="2670961"/>
            <a:ext cx="5294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◇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SDEVICE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4A0C36-9401-5129-9B94-3F40409B27B1}"/>
              </a:ext>
            </a:extLst>
          </p:cNvPr>
          <p:cNvSpPr txBox="1"/>
          <p:nvPr/>
        </p:nvSpPr>
        <p:spPr>
          <a:xfrm>
            <a:off x="248457" y="3495664"/>
            <a:ext cx="5294437" cy="461665"/>
          </a:xfrm>
          <a:prstGeom prst="rect">
            <a:avLst/>
          </a:prstGeom>
          <a:solidFill>
            <a:srgbClr val="FFF2CC"/>
          </a:solidFill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◇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Inspect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37087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6B2AEA13-876D-B6E6-C6DD-C81FC4993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55" y="177910"/>
            <a:ext cx="8756999" cy="411678"/>
          </a:xfrm>
        </p:spPr>
        <p:txBody>
          <a:bodyPr/>
          <a:lstStyle/>
          <a:p>
            <a:r>
              <a:rPr lang="en-US" altLang="ko-KR" dirty="0">
                <a:latin typeface="+mj-ea"/>
              </a:rPr>
              <a:t>Inspect Manual</a:t>
            </a:r>
            <a:endParaRPr lang="ko-KR" altLang="en-US" dirty="0">
              <a:latin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64DE50-3D95-EB9C-CC17-4776DE4B9668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MOSFET 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특성 분석을 위한 주요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parameters</a:t>
            </a:r>
            <a:endParaRPr lang="ko-KR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2.3 Drain-Induced Barrier Lowering">
            <a:extLst>
              <a:ext uri="{FF2B5EF4-FFF2-40B4-BE49-F238E27FC236}">
                <a16:creationId xmlns:a16="http://schemas.microsoft.com/office/drawing/2014/main" id="{7503561D-0DAE-DBBF-B59E-E2A8BDF370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7"/>
          <a:stretch/>
        </p:blipFill>
        <p:spPr bwMode="auto">
          <a:xfrm>
            <a:off x="83890" y="1891202"/>
            <a:ext cx="4863535" cy="3821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6EFC1FA-609C-4431-A587-39DEA03674A8}"/>
                  </a:ext>
                </a:extLst>
              </p:cNvPr>
              <p:cNvSpPr txBox="1"/>
              <p:nvPr/>
            </p:nvSpPr>
            <p:spPr>
              <a:xfrm>
                <a:off x="5010504" y="2165809"/>
                <a:ext cx="4033754" cy="309103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ⓐ </a:t>
                </a: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Threshold Voltage (V</a:t>
                </a:r>
                <a:r>
                  <a:rPr lang="en-US" altLang="ko-KR" sz="20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TH</a:t>
                </a: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ⓑ </a:t>
                </a: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Subthreshold Swing (SS)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𝑆𝑆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𝑑</m:t>
                                </m:r>
                                <m:d>
                                  <m:dPr>
                                    <m:ctrlPr>
                                      <a:rPr lang="en-US" altLang="ko-KR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func>
                                      <m:funcPr>
                                        <m:ctrlPr>
                                          <a:rPr lang="en-US" altLang="ko-KR" sz="2000" i="1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funcPr>
                                      <m:fName>
                                        <m:sSub>
                                          <m:sSubPr>
                                            <m:ctrlPr>
                                              <a:rPr lang="en-US" altLang="ko-KR" sz="2000" i="1" smtClean="0"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ko-KR" sz="2000" i="0" smtClean="0"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log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10</m:t>
                                            </m:r>
                                          </m:sub>
                                        </m:sSub>
                                      </m:fName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2000" i="1" smtClean="0"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2000" b="0" i="1" smtClean="0"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𝐼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2000" b="0" i="1" smtClean="0">
                                                <a:latin typeface="Cambria Math" panose="02040503050406030204" pitchFamily="18" charset="0"/>
                                                <a:cs typeface="Arial" panose="020B0604020202020204" pitchFamily="34" charset="0"/>
                                              </a:rPr>
                                              <m:t>𝐷</m:t>
                                            </m:r>
                                          </m:sub>
                                        </m:sSub>
                                      </m:e>
                                    </m:func>
                                  </m:e>
                                </m:d>
                              </m:num>
                              <m:den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𝑑</m:t>
                                </m:r>
                                <m:sSub>
                                  <m:sSubPr>
                                    <m:ctrlPr>
                                      <a:rPr lang="en-US" altLang="ko-KR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𝐺𝑆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ⓒ </a:t>
                </a: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On / off current (I</a:t>
                </a:r>
                <a:r>
                  <a:rPr lang="en-US" altLang="ko-KR" sz="20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ON</a:t>
                </a: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/I</a:t>
                </a:r>
                <a:r>
                  <a:rPr lang="en-US" altLang="ko-KR" sz="20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OFF</a:t>
                </a: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ⓓ</a:t>
                </a:r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Drain Induced Barrier Lowering</a:t>
                </a:r>
              </a:p>
              <a:p>
                <a:r>
                  <a:rPr lang="en-US" altLang="ko-KR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    </a:t>
                </a:r>
                <a:r>
                  <a:rPr lang="en-US" altLang="ko-K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DIBL= {V</a:t>
                </a:r>
                <a:r>
                  <a:rPr lang="en-US" altLang="ko-KR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TH</a:t>
                </a:r>
                <a:r>
                  <a:rPr lang="en-US" altLang="ko-K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(High) – V</a:t>
                </a:r>
                <a:r>
                  <a:rPr lang="en-US" altLang="ko-KR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TH</a:t>
                </a:r>
                <a:r>
                  <a:rPr lang="en-US" altLang="ko-K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(Low)} / ΔV</a:t>
                </a:r>
                <a:r>
                  <a:rPr lang="en-US" altLang="ko-KR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DD</a:t>
                </a:r>
                <a:r>
                  <a:rPr lang="en-US" altLang="ko-KR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[mV/V] </a:t>
                </a:r>
                <a:endParaRPr lang="en-US" altLang="ko-KR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6EFC1FA-609C-4431-A587-39DEA03674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0504" y="2165809"/>
                <a:ext cx="4033754" cy="3091039"/>
              </a:xfrm>
              <a:prstGeom prst="rect">
                <a:avLst/>
              </a:prstGeom>
              <a:blipFill>
                <a:blip r:embed="rId3"/>
                <a:stretch>
                  <a:fillRect l="-1662" r="-906" b="-17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BF8C57BA-95B3-A9E7-B6C7-9D30B039F087}"/>
              </a:ext>
            </a:extLst>
          </p:cNvPr>
          <p:cNvCxnSpPr/>
          <p:nvPr/>
        </p:nvCxnSpPr>
        <p:spPr>
          <a:xfrm>
            <a:off x="1216155" y="3345069"/>
            <a:ext cx="28129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56CBF358-C411-6E34-B556-483AAA150B54}"/>
              </a:ext>
            </a:extLst>
          </p:cNvPr>
          <p:cNvSpPr/>
          <p:nvPr/>
        </p:nvSpPr>
        <p:spPr>
          <a:xfrm>
            <a:off x="1849243" y="3302008"/>
            <a:ext cx="281290" cy="4405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D9882EEE-74D7-3FBB-1C43-66AE486A1E2B}"/>
              </a:ext>
            </a:extLst>
          </p:cNvPr>
          <p:cNvCxnSpPr>
            <a:cxnSpLocks/>
          </p:cNvCxnSpPr>
          <p:nvPr/>
        </p:nvCxnSpPr>
        <p:spPr>
          <a:xfrm flipH="1">
            <a:off x="1584651" y="3341894"/>
            <a:ext cx="28129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58FB10A5-D6DC-2BF8-FAF2-D71638781FCB}"/>
              </a:ext>
            </a:extLst>
          </p:cNvPr>
          <p:cNvSpPr/>
          <p:nvPr/>
        </p:nvSpPr>
        <p:spPr>
          <a:xfrm>
            <a:off x="4017536" y="1891202"/>
            <a:ext cx="929889" cy="454459"/>
          </a:xfrm>
          <a:prstGeom prst="ellipse">
            <a:avLst/>
          </a:prstGeom>
          <a:noFill/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EB6901-F529-7E57-FA28-19457D3101D3}"/>
              </a:ext>
            </a:extLst>
          </p:cNvPr>
          <p:cNvSpPr txBox="1"/>
          <p:nvPr/>
        </p:nvSpPr>
        <p:spPr>
          <a:xfrm>
            <a:off x="3059808" y="2345661"/>
            <a:ext cx="1836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current (I</a:t>
            </a:r>
            <a:r>
              <a:rPr lang="en-US" altLang="ko-KR" baseline="-250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en-US" altLang="ko-KR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ko-KR" altLang="en-US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8157C35E-643C-E88F-7904-C7F17F05510B}"/>
              </a:ext>
            </a:extLst>
          </p:cNvPr>
          <p:cNvSpPr/>
          <p:nvPr/>
        </p:nvSpPr>
        <p:spPr>
          <a:xfrm>
            <a:off x="379637" y="4714665"/>
            <a:ext cx="511886" cy="619080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82CF01AA-A794-E3FC-7DA3-ACC2EE8F0A8D}"/>
              </a:ext>
            </a:extLst>
          </p:cNvPr>
          <p:cNvCxnSpPr/>
          <p:nvPr/>
        </p:nvCxnSpPr>
        <p:spPr>
          <a:xfrm>
            <a:off x="1488246" y="3208784"/>
            <a:ext cx="0" cy="272570"/>
          </a:xfrm>
          <a:prstGeom prst="line">
            <a:avLst/>
          </a:prstGeom>
          <a:ln w="254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6B8E5BA-3776-6820-2C3A-3EF79236557E}"/>
              </a:ext>
            </a:extLst>
          </p:cNvPr>
          <p:cNvCxnSpPr/>
          <p:nvPr/>
        </p:nvCxnSpPr>
        <p:spPr>
          <a:xfrm>
            <a:off x="1581476" y="3208784"/>
            <a:ext cx="0" cy="272570"/>
          </a:xfrm>
          <a:prstGeom prst="line">
            <a:avLst/>
          </a:prstGeom>
          <a:ln w="254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01F80DF-9C81-C896-9CC3-BF42B2AE58CC}"/>
              </a:ext>
            </a:extLst>
          </p:cNvPr>
          <p:cNvSpPr txBox="1"/>
          <p:nvPr/>
        </p:nvSpPr>
        <p:spPr>
          <a:xfrm>
            <a:off x="1529536" y="3330682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DIBL</a:t>
            </a:r>
            <a:endParaRPr lang="ko-KR" alt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CFC24F-B90A-906B-2A81-0CE31216118E}"/>
              </a:ext>
            </a:extLst>
          </p:cNvPr>
          <p:cNvSpPr txBox="1"/>
          <p:nvPr/>
        </p:nvSpPr>
        <p:spPr>
          <a:xfrm>
            <a:off x="954514" y="4400822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SS</a:t>
            </a:r>
            <a:endParaRPr lang="ko-KR" altLang="en-US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이등변 삼각형 18">
            <a:extLst>
              <a:ext uri="{FF2B5EF4-FFF2-40B4-BE49-F238E27FC236}">
                <a16:creationId xmlns:a16="http://schemas.microsoft.com/office/drawing/2014/main" id="{A8F57069-A67D-42C0-AFF1-955EA25B6B8B}"/>
              </a:ext>
            </a:extLst>
          </p:cNvPr>
          <p:cNvSpPr/>
          <p:nvPr/>
        </p:nvSpPr>
        <p:spPr>
          <a:xfrm>
            <a:off x="1154811" y="3888819"/>
            <a:ext cx="443006" cy="272568"/>
          </a:xfrm>
          <a:prstGeom prst="triangle">
            <a:avLst>
              <a:gd name="adj" fmla="val 31469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이등변 삼각형 19">
            <a:extLst>
              <a:ext uri="{FF2B5EF4-FFF2-40B4-BE49-F238E27FC236}">
                <a16:creationId xmlns:a16="http://schemas.microsoft.com/office/drawing/2014/main" id="{384028FE-1406-F86A-6B70-10780E7C5DE9}"/>
              </a:ext>
            </a:extLst>
          </p:cNvPr>
          <p:cNvSpPr/>
          <p:nvPr/>
        </p:nvSpPr>
        <p:spPr>
          <a:xfrm flipH="1" flipV="1">
            <a:off x="714980" y="3903099"/>
            <a:ext cx="443006" cy="272568"/>
          </a:xfrm>
          <a:prstGeom prst="triangle">
            <a:avLst>
              <a:gd name="adj" fmla="val 3290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60CB51A-D50F-C05D-A4B2-A2D99F06AC85}"/>
              </a:ext>
            </a:extLst>
          </p:cNvPr>
          <p:cNvSpPr/>
          <p:nvPr/>
        </p:nvSpPr>
        <p:spPr>
          <a:xfrm>
            <a:off x="1488246" y="3903099"/>
            <a:ext cx="377695" cy="2114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78AD4BA7-6CC6-D7C6-CA0A-4420E0899013}"/>
              </a:ext>
            </a:extLst>
          </p:cNvPr>
          <p:cNvCxnSpPr>
            <a:cxnSpLocks/>
          </p:cNvCxnSpPr>
          <p:nvPr/>
        </p:nvCxnSpPr>
        <p:spPr>
          <a:xfrm>
            <a:off x="1002509" y="4428299"/>
            <a:ext cx="281290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292AD5F7-69C3-089E-2695-BFB70D40111C}"/>
              </a:ext>
            </a:extLst>
          </p:cNvPr>
          <p:cNvCxnSpPr>
            <a:cxnSpLocks/>
          </p:cNvCxnSpPr>
          <p:nvPr/>
        </p:nvCxnSpPr>
        <p:spPr>
          <a:xfrm flipV="1">
            <a:off x="1266573" y="3946269"/>
            <a:ext cx="0" cy="48203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81C9B9A-47F2-DE70-0D8A-F243D45EA435}"/>
              </a:ext>
            </a:extLst>
          </p:cNvPr>
          <p:cNvSpPr txBox="1"/>
          <p:nvPr/>
        </p:nvSpPr>
        <p:spPr>
          <a:xfrm>
            <a:off x="0" y="5393202"/>
            <a:ext cx="1836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 current (I</a:t>
            </a:r>
            <a:r>
              <a:rPr lang="en-US" altLang="ko-KR" baseline="-25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</a:t>
            </a:r>
            <a:r>
              <a:rPr lang="en-US" altLang="ko-KR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ko-KR" altLang="en-US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CF07D97E-17F4-C682-0127-2282AFDB974B}"/>
              </a:ext>
            </a:extLst>
          </p:cNvPr>
          <p:cNvCxnSpPr>
            <a:cxnSpLocks/>
          </p:cNvCxnSpPr>
          <p:nvPr/>
        </p:nvCxnSpPr>
        <p:spPr>
          <a:xfrm>
            <a:off x="1488246" y="3293043"/>
            <a:ext cx="0" cy="1940421"/>
          </a:xfrm>
          <a:prstGeom prst="line">
            <a:avLst/>
          </a:prstGeom>
          <a:ln w="25400">
            <a:solidFill>
              <a:schemeClr val="tx1">
                <a:alpha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47FDCF9-EF9E-C5D2-5D0D-1E20F9C8BD68}"/>
              </a:ext>
            </a:extLst>
          </p:cNvPr>
          <p:cNvSpPr txBox="1"/>
          <p:nvPr/>
        </p:nvSpPr>
        <p:spPr>
          <a:xfrm>
            <a:off x="1570542" y="4828162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altLang="ko-KR" baseline="-25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1F0CEB18-3AF0-3B7F-4A57-842479CA141E}"/>
              </a:ext>
            </a:extLst>
          </p:cNvPr>
          <p:cNvCxnSpPr>
            <a:cxnSpLocks/>
          </p:cNvCxnSpPr>
          <p:nvPr/>
        </p:nvCxnSpPr>
        <p:spPr>
          <a:xfrm>
            <a:off x="1581476" y="3308283"/>
            <a:ext cx="0" cy="1940421"/>
          </a:xfrm>
          <a:prstGeom prst="line">
            <a:avLst/>
          </a:prstGeom>
          <a:ln w="25400">
            <a:solidFill>
              <a:schemeClr val="tx1">
                <a:alpha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867705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6B2AEA13-876D-B6E6-C6DD-C81FC4993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55" y="177910"/>
            <a:ext cx="8756999" cy="411678"/>
          </a:xfrm>
        </p:spPr>
        <p:txBody>
          <a:bodyPr/>
          <a:lstStyle/>
          <a:p>
            <a:r>
              <a:rPr lang="en-US" altLang="ko-KR" dirty="0">
                <a:latin typeface="+mj-ea"/>
              </a:rPr>
              <a:t>Inspect Manual</a:t>
            </a:r>
            <a:endParaRPr lang="ko-KR" altLang="en-US" dirty="0">
              <a:latin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64DE50-3D95-EB9C-CC17-4776DE4B9668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Inspect 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생성 방법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6226B99-2CAD-DCE1-044D-DCD284B48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2584" y="1378409"/>
            <a:ext cx="2351356" cy="275742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74C83CE-263E-4710-F32E-DF94430FF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114" y="1378409"/>
            <a:ext cx="2919631" cy="275742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3F9709C-F9EF-3E07-C17F-13BBC957A0C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3595"/>
          <a:stretch/>
        </p:blipFill>
        <p:spPr>
          <a:xfrm>
            <a:off x="334000" y="1382561"/>
            <a:ext cx="1950994" cy="275742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C847B957-E98D-453A-B41E-A5902460FCF2}"/>
              </a:ext>
            </a:extLst>
          </p:cNvPr>
          <p:cNvSpPr/>
          <p:nvPr/>
        </p:nvSpPr>
        <p:spPr>
          <a:xfrm>
            <a:off x="751383" y="1659976"/>
            <a:ext cx="1227075" cy="1354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33A79B6-CFE3-6FF6-5D2B-EE96882F6D1C}"/>
              </a:ext>
            </a:extLst>
          </p:cNvPr>
          <p:cNvSpPr/>
          <p:nvPr/>
        </p:nvSpPr>
        <p:spPr>
          <a:xfrm>
            <a:off x="5244181" y="1677906"/>
            <a:ext cx="469784" cy="1872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FE67BEA-6D69-A598-8A83-DACE850EABBD}"/>
              </a:ext>
            </a:extLst>
          </p:cNvPr>
          <p:cNvSpPr/>
          <p:nvPr/>
        </p:nvSpPr>
        <p:spPr>
          <a:xfrm>
            <a:off x="6706821" y="2945683"/>
            <a:ext cx="346573" cy="3443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9EC3B28F-7B88-E2B9-1D3A-D81944884DDD}"/>
              </a:ext>
            </a:extLst>
          </p:cNvPr>
          <p:cNvSpPr/>
          <p:nvPr/>
        </p:nvSpPr>
        <p:spPr>
          <a:xfrm>
            <a:off x="2345331" y="2546627"/>
            <a:ext cx="436227" cy="420991"/>
          </a:xfrm>
          <a:prstGeom prst="rightArrow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A264388F-D883-3FC7-F5A2-DA74B4E8C2D7}"/>
              </a:ext>
            </a:extLst>
          </p:cNvPr>
          <p:cNvSpPr/>
          <p:nvPr/>
        </p:nvSpPr>
        <p:spPr>
          <a:xfrm>
            <a:off x="5824285" y="2546627"/>
            <a:ext cx="436227" cy="420991"/>
          </a:xfrm>
          <a:prstGeom prst="rightArrow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8AEC1A-6A80-0A88-CEE7-52C47F3DF0DF}"/>
              </a:ext>
            </a:extLst>
          </p:cNvPr>
          <p:cNvSpPr txBox="1"/>
          <p:nvPr/>
        </p:nvSpPr>
        <p:spPr>
          <a:xfrm>
            <a:off x="141262" y="4312083"/>
            <a:ext cx="8214173" cy="2222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1. ‘SDEVICE’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우클릭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‘Add’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클릭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20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2. ‘Add Tool’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창이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열리면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‘Tools’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클릭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3. ‘Select DB Tool’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창이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열리면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‘INSPECT’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클릭 후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‘OK’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클릭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4. Name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과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Label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에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 ‘INSPECT’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설정 확인 후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‘OK’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클릭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49118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6B2AEA13-876D-B6E6-C6DD-C81FC4993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55" y="177910"/>
            <a:ext cx="8756999" cy="411678"/>
          </a:xfrm>
        </p:spPr>
        <p:txBody>
          <a:bodyPr/>
          <a:lstStyle/>
          <a:p>
            <a:r>
              <a:rPr lang="en-US" altLang="ko-KR" dirty="0">
                <a:latin typeface="+mj-ea"/>
              </a:rPr>
              <a:t>Inspect Manual</a:t>
            </a:r>
            <a:endParaRPr lang="ko-KR" altLang="en-US" dirty="0">
              <a:latin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64DE50-3D95-EB9C-CC17-4776DE4B9668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Inspect 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생성 방법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4C4FB80-3A4A-8DA3-E0D7-4078BFA5E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13" y="1494346"/>
            <a:ext cx="4620364" cy="271821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C170F583-DC2D-BCF8-FACA-6B44E2F6D4BD}"/>
              </a:ext>
            </a:extLst>
          </p:cNvPr>
          <p:cNvSpPr/>
          <p:nvPr/>
        </p:nvSpPr>
        <p:spPr>
          <a:xfrm>
            <a:off x="4111773" y="2842396"/>
            <a:ext cx="558839" cy="1518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DC8ED5-E52A-1E71-8E9C-A195FC7A32BC}"/>
              </a:ext>
            </a:extLst>
          </p:cNvPr>
          <p:cNvSpPr txBox="1"/>
          <p:nvPr/>
        </p:nvSpPr>
        <p:spPr>
          <a:xfrm>
            <a:off x="142613" y="4312083"/>
            <a:ext cx="8825217" cy="1113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1. ‘INSPECT’ </a:t>
            </a: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우클릭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‘Edit input’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클릭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‘Commands’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클릭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20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2.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파일에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Inspect command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입력 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ko-KR" altLang="en-US" sz="1600" u="sng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첨부 파일 및 </a:t>
            </a:r>
            <a:r>
              <a:rPr lang="en-US" altLang="ko-KR" sz="1600" u="sng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command </a:t>
            </a:r>
            <a:r>
              <a:rPr lang="ko-KR" altLang="en-US" sz="1600" u="sng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설명 페이지 참고하여 작성할 것</a:t>
            </a:r>
            <a:r>
              <a:rPr lang="en-US" altLang="ko-KR" sz="16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</a:p>
        </p:txBody>
      </p: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C648DBD4-04A6-B486-841C-830FCF474121}"/>
              </a:ext>
            </a:extLst>
          </p:cNvPr>
          <p:cNvSpPr/>
          <p:nvPr/>
        </p:nvSpPr>
        <p:spPr>
          <a:xfrm>
            <a:off x="4874299" y="2644857"/>
            <a:ext cx="436227" cy="420991"/>
          </a:xfrm>
          <a:prstGeom prst="rightArrow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718B0D7-8A7A-461D-EC26-22ACF8560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029" y="1733909"/>
            <a:ext cx="3597525" cy="2199556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9633382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D951CDD2-319D-EBA3-D667-B70934803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278" y="1264390"/>
            <a:ext cx="3957276" cy="2212731"/>
          </a:xfrm>
          <a:prstGeom prst="rect">
            <a:avLst/>
          </a:prstGeom>
          <a:ln w="28575">
            <a:solidFill>
              <a:srgbClr val="00B0F0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2720AC0-C8DE-1AD7-737D-B62729509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881" y="1326568"/>
            <a:ext cx="4660699" cy="2849589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6B2AEA13-876D-B6E6-C6DD-C81FC4993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55" y="177910"/>
            <a:ext cx="8756999" cy="411678"/>
          </a:xfrm>
        </p:spPr>
        <p:txBody>
          <a:bodyPr/>
          <a:lstStyle/>
          <a:p>
            <a:r>
              <a:rPr lang="en-US" altLang="ko-KR" dirty="0">
                <a:latin typeface="+mj-ea"/>
              </a:rPr>
              <a:t>Inspect Manual</a:t>
            </a:r>
            <a:endParaRPr lang="ko-KR" altLang="en-US" dirty="0">
              <a:latin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64DE50-3D95-EB9C-CC17-4776DE4B9668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Inspect 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생성 방법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2360F20-A820-6A06-833E-F0D9B57E346E}"/>
              </a:ext>
            </a:extLst>
          </p:cNvPr>
          <p:cNvSpPr/>
          <p:nvPr/>
        </p:nvSpPr>
        <p:spPr>
          <a:xfrm>
            <a:off x="358283" y="1298337"/>
            <a:ext cx="3254190" cy="4801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0BC91C-CE6A-6F07-E1C1-558F1BFFA8EA}"/>
              </a:ext>
            </a:extLst>
          </p:cNvPr>
          <p:cNvSpPr txBox="1"/>
          <p:nvPr/>
        </p:nvSpPr>
        <p:spPr>
          <a:xfrm>
            <a:off x="130738" y="4378493"/>
            <a:ext cx="8825217" cy="2221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1. Curve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에서 값을 추출하기 위한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EXTRACT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library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로드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20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2. SDEVICE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에서 생성한 그래프 파일을 로드 후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“iv”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에 저장 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20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3. @previous | </a:t>
            </a:r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-2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@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목표로 하는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SDEVICE node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의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plt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파일을 불러옴</a:t>
            </a:r>
            <a:b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</a:b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(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숫자는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SDEVICE node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의 개수와 순서에 따라 달라질 수 있음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F5FA488-6F15-C9CB-6B8D-7115820D70A5}"/>
              </a:ext>
            </a:extLst>
          </p:cNvPr>
          <p:cNvSpPr/>
          <p:nvPr/>
        </p:nvSpPr>
        <p:spPr>
          <a:xfrm>
            <a:off x="1084613" y="1584809"/>
            <a:ext cx="2527860" cy="193702"/>
          </a:xfrm>
          <a:prstGeom prst="rect">
            <a:avLst/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5141F7AA-040A-A016-4972-06DA4C1155DC}"/>
              </a:ext>
            </a:extLst>
          </p:cNvPr>
          <p:cNvCxnSpPr>
            <a:cxnSpLocks/>
          </p:cNvCxnSpPr>
          <p:nvPr/>
        </p:nvCxnSpPr>
        <p:spPr>
          <a:xfrm flipH="1" flipV="1">
            <a:off x="3451760" y="1767534"/>
            <a:ext cx="1784442" cy="1315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2AE1108-B93B-E80B-714B-8E043EEBD806}"/>
              </a:ext>
            </a:extLst>
          </p:cNvPr>
          <p:cNvSpPr/>
          <p:nvPr/>
        </p:nvSpPr>
        <p:spPr>
          <a:xfrm>
            <a:off x="5131944" y="1778698"/>
            <a:ext cx="1754643" cy="107349"/>
          </a:xfrm>
          <a:prstGeom prst="rect">
            <a:avLst/>
          </a:prstGeom>
          <a:noFill/>
          <a:ln w="2857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A569BD1-771E-137A-98C8-662468F5F7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9693" b="31638"/>
          <a:stretch>
            <a:fillRect/>
          </a:stretch>
        </p:blipFill>
        <p:spPr>
          <a:xfrm>
            <a:off x="3938335" y="3430827"/>
            <a:ext cx="4829964" cy="1149607"/>
          </a:xfrm>
          <a:prstGeom prst="rect">
            <a:avLst/>
          </a:prstGeom>
          <a:ln w="25400">
            <a:solidFill>
              <a:srgbClr val="FF0000"/>
            </a:solidFill>
          </a:ln>
        </p:spPr>
      </p:pic>
      <p:sp>
        <p:nvSpPr>
          <p:cNvPr id="9" name="화살표: 위로 구부러짐 8">
            <a:extLst>
              <a:ext uri="{FF2B5EF4-FFF2-40B4-BE49-F238E27FC236}">
                <a16:creationId xmlns:a16="http://schemas.microsoft.com/office/drawing/2014/main" id="{9A9833AE-505F-8E6F-AB26-FEDAE01BA236}"/>
              </a:ext>
            </a:extLst>
          </p:cNvPr>
          <p:cNvSpPr/>
          <p:nvPr/>
        </p:nvSpPr>
        <p:spPr>
          <a:xfrm rot="10800000">
            <a:off x="7589042" y="3578291"/>
            <a:ext cx="342899" cy="248062"/>
          </a:xfrm>
          <a:prstGeom prst="curved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화살표: 위로 구부러짐 7">
            <a:extLst>
              <a:ext uri="{FF2B5EF4-FFF2-40B4-BE49-F238E27FC236}">
                <a16:creationId xmlns:a16="http://schemas.microsoft.com/office/drawing/2014/main" id="{55D528D2-5EAE-8D3F-2AD5-6B67A661A0AC}"/>
              </a:ext>
            </a:extLst>
          </p:cNvPr>
          <p:cNvSpPr/>
          <p:nvPr/>
        </p:nvSpPr>
        <p:spPr>
          <a:xfrm rot="10800000">
            <a:off x="7929558" y="3578291"/>
            <a:ext cx="345285" cy="248061"/>
          </a:xfrm>
          <a:prstGeom prst="curved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화살표: 위로 구부러짐 9">
            <a:extLst>
              <a:ext uri="{FF2B5EF4-FFF2-40B4-BE49-F238E27FC236}">
                <a16:creationId xmlns:a16="http://schemas.microsoft.com/office/drawing/2014/main" id="{1705B148-73AA-2B75-44C9-80295FD6EB46}"/>
              </a:ext>
            </a:extLst>
          </p:cNvPr>
          <p:cNvSpPr/>
          <p:nvPr/>
        </p:nvSpPr>
        <p:spPr>
          <a:xfrm rot="10800000">
            <a:off x="6946106" y="3578289"/>
            <a:ext cx="642938" cy="248063"/>
          </a:xfrm>
          <a:prstGeom prst="curved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92F09D-0BCD-3BD7-D45E-7DCB5A3FB0A4}"/>
              </a:ext>
            </a:extLst>
          </p:cNvPr>
          <p:cNvSpPr txBox="1"/>
          <p:nvPr/>
        </p:nvSpPr>
        <p:spPr>
          <a:xfrm>
            <a:off x="8102200" y="3384771"/>
            <a:ext cx="4296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n w="12700">
                  <a:solidFill>
                    <a:schemeClr val="bg1"/>
                  </a:solidFill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-0</a:t>
            </a:r>
            <a:endParaRPr lang="ko-KR" altLang="en-US" sz="1600" b="1" dirty="0">
              <a:ln w="12700">
                <a:solidFill>
                  <a:schemeClr val="bg1"/>
                </a:solidFill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5E793C-4ED0-ED72-308E-683365FA3563}"/>
              </a:ext>
            </a:extLst>
          </p:cNvPr>
          <p:cNvSpPr txBox="1"/>
          <p:nvPr/>
        </p:nvSpPr>
        <p:spPr>
          <a:xfrm>
            <a:off x="7733718" y="3384771"/>
            <a:ext cx="4296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n w="12700">
                  <a:solidFill>
                    <a:schemeClr val="bg1"/>
                  </a:solidFill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-1</a:t>
            </a:r>
            <a:endParaRPr lang="ko-KR" altLang="en-US" sz="1600" b="1" dirty="0">
              <a:ln w="12700">
                <a:solidFill>
                  <a:schemeClr val="bg1"/>
                </a:solidFill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239602-AB57-4D20-281E-23045E53901F}"/>
              </a:ext>
            </a:extLst>
          </p:cNvPr>
          <p:cNvSpPr txBox="1"/>
          <p:nvPr/>
        </p:nvSpPr>
        <p:spPr>
          <a:xfrm>
            <a:off x="7339045" y="3384769"/>
            <a:ext cx="4296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n w="12700">
                  <a:solidFill>
                    <a:schemeClr val="bg1"/>
                  </a:solidFill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-2</a:t>
            </a:r>
            <a:endParaRPr lang="ko-KR" altLang="en-US" sz="1600" b="1" dirty="0">
              <a:ln w="12700">
                <a:solidFill>
                  <a:schemeClr val="bg1"/>
                </a:solidFill>
              </a:ln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2649333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DDAB56F-B58B-83A5-2862-B5BE97E03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81" y="1326568"/>
            <a:ext cx="4660699" cy="2849589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6B2AEA13-876D-B6E6-C6DD-C81FC4993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55" y="177910"/>
            <a:ext cx="8756999" cy="411678"/>
          </a:xfrm>
        </p:spPr>
        <p:txBody>
          <a:bodyPr/>
          <a:lstStyle/>
          <a:p>
            <a:r>
              <a:rPr lang="en-US" altLang="ko-KR" dirty="0">
                <a:latin typeface="+mj-ea"/>
              </a:rPr>
              <a:t>Inspect Manual</a:t>
            </a:r>
            <a:endParaRPr lang="ko-KR" altLang="en-US" dirty="0">
              <a:latin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64DE50-3D95-EB9C-CC17-4776DE4B9668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Inspect 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생성 방법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8B2AF4-AD0E-23EF-E5D4-DBC207D25A53}"/>
              </a:ext>
            </a:extLst>
          </p:cNvPr>
          <p:cNvSpPr txBox="1"/>
          <p:nvPr/>
        </p:nvSpPr>
        <p:spPr>
          <a:xfrm>
            <a:off x="142613" y="4194859"/>
            <a:ext cx="8825217" cy="1114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1. “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idvgs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”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에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iv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파일에서 추출한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gate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OuterVoltage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drain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TotalCurrent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저장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20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2.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해당 코드로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</a:t>
            </a:r>
            <a:r>
              <a:rPr lang="en-US" altLang="ko-KR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-V</a:t>
            </a:r>
            <a:r>
              <a:rPr lang="en-US" altLang="ko-KR" baseline="-25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G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curve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생성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8CC5733-7405-BC6F-2A5D-8FE3D91E2A8F}"/>
              </a:ext>
            </a:extLst>
          </p:cNvPr>
          <p:cNvSpPr/>
          <p:nvPr/>
        </p:nvSpPr>
        <p:spPr>
          <a:xfrm>
            <a:off x="358281" y="1888790"/>
            <a:ext cx="4675299" cy="1838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129989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235F4B2-CBEE-5703-AF41-5B9C3B10F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81" y="1326568"/>
            <a:ext cx="4660699" cy="2849589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6B2AEA13-876D-B6E6-C6DD-C81FC4993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55" y="177910"/>
            <a:ext cx="8756999" cy="411678"/>
          </a:xfrm>
        </p:spPr>
        <p:txBody>
          <a:bodyPr/>
          <a:lstStyle/>
          <a:p>
            <a:r>
              <a:rPr lang="en-US" altLang="ko-KR" dirty="0">
                <a:latin typeface="+mj-ea"/>
              </a:rPr>
              <a:t>Inspect Manual</a:t>
            </a:r>
            <a:endParaRPr lang="ko-KR" altLang="en-US" dirty="0">
              <a:latin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64DE50-3D95-EB9C-CC17-4776DE4B9668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Inspect 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생성 방법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87C74DC-9432-5FB0-FAF4-ED070397844D}"/>
              </a:ext>
            </a:extLst>
          </p:cNvPr>
          <p:cNvSpPr/>
          <p:nvPr/>
        </p:nvSpPr>
        <p:spPr>
          <a:xfrm>
            <a:off x="358282" y="2638264"/>
            <a:ext cx="3726038" cy="1922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980123-5850-F189-C087-C9121BEE469D}"/>
              </a:ext>
            </a:extLst>
          </p:cNvPr>
          <p:cNvSpPr txBox="1"/>
          <p:nvPr/>
        </p:nvSpPr>
        <p:spPr>
          <a:xfrm>
            <a:off x="142613" y="4185368"/>
            <a:ext cx="8825217" cy="2498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1.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idvgs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파일에서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Y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축이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1e-7 x (W/L)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일 때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gate voltage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추출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(Constant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current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method,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</a:t>
            </a:r>
            <a:r>
              <a:rPr lang="en-US" altLang="ko-KR" sz="1400" baseline="-25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D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-V</a:t>
            </a:r>
            <a:r>
              <a:rPr lang="en-US" altLang="ko-KR" sz="1400" baseline="-25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G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그래프 확인 후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기준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current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조절 필요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강의자료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W10-2 p.366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참고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)</a:t>
            </a:r>
            <a:endParaRPr lang="en-US" altLang="ko-KR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20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2.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idvgs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파일에서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X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축이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Vth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일 때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subthreshold slope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추출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20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3.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idvgs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파일에서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X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축이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0 (Vg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=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0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V)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일 때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Off current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추출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20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  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idvgs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파일에서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X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축이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3 (Vg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=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3.0 V)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일 때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, On current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추출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A900787-880C-F965-422A-8D67DE91A8CE}"/>
              </a:ext>
            </a:extLst>
          </p:cNvPr>
          <p:cNvSpPr/>
          <p:nvPr/>
        </p:nvSpPr>
        <p:spPr>
          <a:xfrm>
            <a:off x="362900" y="2952685"/>
            <a:ext cx="3364368" cy="1622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CA1A135-BC57-19D7-F1FE-33A5466B843A}"/>
              </a:ext>
            </a:extLst>
          </p:cNvPr>
          <p:cNvSpPr/>
          <p:nvPr/>
        </p:nvSpPr>
        <p:spPr>
          <a:xfrm>
            <a:off x="358282" y="3246501"/>
            <a:ext cx="4109214" cy="3094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FB3F11DF-BB6C-CFE5-5A67-008A64A61D69}"/>
              </a:ext>
            </a:extLst>
          </p:cNvPr>
          <p:cNvSpPr/>
          <p:nvPr/>
        </p:nvSpPr>
        <p:spPr>
          <a:xfrm>
            <a:off x="127680" y="2640661"/>
            <a:ext cx="192232" cy="19223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ko-KR" alt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AFEDF607-C7FD-B015-EA97-4FCAD7047AD5}"/>
              </a:ext>
            </a:extLst>
          </p:cNvPr>
          <p:cNvSpPr/>
          <p:nvPr/>
        </p:nvSpPr>
        <p:spPr>
          <a:xfrm>
            <a:off x="127680" y="2937159"/>
            <a:ext cx="192232" cy="19223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ko-KR" alt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A6BE8861-5400-AC15-9E87-092E86657728}"/>
              </a:ext>
            </a:extLst>
          </p:cNvPr>
          <p:cNvSpPr/>
          <p:nvPr/>
        </p:nvSpPr>
        <p:spPr>
          <a:xfrm>
            <a:off x="124590" y="3304288"/>
            <a:ext cx="192232" cy="19223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ko-KR" alt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18845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FF4A2E0-E848-3506-F6FA-E0CC588EE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81" y="1326568"/>
            <a:ext cx="4660699" cy="2849589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6B2AEA13-876D-B6E6-C6DD-C81FC4993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55" y="177910"/>
            <a:ext cx="8756999" cy="411678"/>
          </a:xfrm>
        </p:spPr>
        <p:txBody>
          <a:bodyPr/>
          <a:lstStyle/>
          <a:p>
            <a:r>
              <a:rPr lang="en-US" altLang="ko-KR" dirty="0">
                <a:latin typeface="+mj-ea"/>
              </a:rPr>
              <a:t>Inspect Manual</a:t>
            </a:r>
            <a:endParaRPr lang="ko-KR" altLang="en-US" dirty="0">
              <a:latin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64DE50-3D95-EB9C-CC17-4776DE4B9668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Inspect 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생성 방법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9CD876-872B-47B6-44F9-3606F421C468}"/>
              </a:ext>
            </a:extLst>
          </p:cNvPr>
          <p:cNvSpPr txBox="1"/>
          <p:nvPr/>
        </p:nvSpPr>
        <p:spPr>
          <a:xfrm>
            <a:off x="142613" y="4211485"/>
            <a:ext cx="8825217" cy="1668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1. on/off ratio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계산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20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2. ratio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를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소수점 셋째자리 포함 지수함수 형태로 설정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20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3.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소수점 셋째자리까지 표현된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ratio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를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OnOffRatio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로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SWB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상에 추출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5BA8951-A8C4-F29F-0E6F-81A01E3AB03C}"/>
              </a:ext>
            </a:extLst>
          </p:cNvPr>
          <p:cNvSpPr/>
          <p:nvPr/>
        </p:nvSpPr>
        <p:spPr>
          <a:xfrm>
            <a:off x="375699" y="3673964"/>
            <a:ext cx="3398442" cy="1656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E19AA063-0146-9F75-DB2D-F98819687808}"/>
              </a:ext>
            </a:extLst>
          </p:cNvPr>
          <p:cNvSpPr/>
          <p:nvPr/>
        </p:nvSpPr>
        <p:spPr>
          <a:xfrm>
            <a:off x="127680" y="3643415"/>
            <a:ext cx="192232" cy="19223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ko-KR" alt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A16B028D-5C9B-D189-5B20-F97407B9EF3E}"/>
              </a:ext>
            </a:extLst>
          </p:cNvPr>
          <p:cNvSpPr/>
          <p:nvPr/>
        </p:nvSpPr>
        <p:spPr>
          <a:xfrm>
            <a:off x="127680" y="3843600"/>
            <a:ext cx="192232" cy="19223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ko-KR" alt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A0FD6DC-6D9A-E445-0095-FB97ADA547A6}"/>
              </a:ext>
            </a:extLst>
          </p:cNvPr>
          <p:cNvSpPr/>
          <p:nvPr/>
        </p:nvSpPr>
        <p:spPr>
          <a:xfrm>
            <a:off x="375700" y="3839600"/>
            <a:ext cx="3515448" cy="1806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B8E64A0-E35C-E153-3652-FE5981361E3D}"/>
              </a:ext>
            </a:extLst>
          </p:cNvPr>
          <p:cNvSpPr/>
          <p:nvPr/>
        </p:nvSpPr>
        <p:spPr>
          <a:xfrm>
            <a:off x="375700" y="4021358"/>
            <a:ext cx="3115213" cy="1806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57C6F91C-DA1E-7322-7C7B-0F1CDEEDC397}"/>
              </a:ext>
            </a:extLst>
          </p:cNvPr>
          <p:cNvSpPr/>
          <p:nvPr/>
        </p:nvSpPr>
        <p:spPr>
          <a:xfrm>
            <a:off x="127680" y="4043785"/>
            <a:ext cx="192232" cy="19223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ko-KR" alt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8805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0995438-A4DF-9D27-E43F-712B2C68D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14" y="1691105"/>
            <a:ext cx="2831747" cy="1731353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6B2AEA13-876D-B6E6-C6DD-C81FC4993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55" y="177910"/>
            <a:ext cx="8756999" cy="411678"/>
          </a:xfrm>
        </p:spPr>
        <p:txBody>
          <a:bodyPr/>
          <a:lstStyle/>
          <a:p>
            <a:r>
              <a:rPr lang="en-US" altLang="ko-KR" dirty="0">
                <a:latin typeface="+mj-ea"/>
              </a:rPr>
              <a:t>Inspect Manual</a:t>
            </a:r>
            <a:endParaRPr lang="ko-KR" altLang="en-US" dirty="0">
              <a:latin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64DE50-3D95-EB9C-CC17-4776DE4B9668}"/>
              </a:ext>
            </a:extLst>
          </p:cNvPr>
          <p:cNvSpPr txBox="1"/>
          <p:nvPr/>
        </p:nvSpPr>
        <p:spPr>
          <a:xfrm>
            <a:off x="83890" y="693142"/>
            <a:ext cx="8942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▼ </a:t>
            </a:r>
            <a:r>
              <a:rPr lang="en-US" altLang="ko-KR" sz="2400" b="1" dirty="0">
                <a:latin typeface="Arial" panose="020B0604020202020204" pitchFamily="34" charset="0"/>
                <a:cs typeface="Arial" panose="020B0604020202020204" pitchFamily="34" charset="0"/>
              </a:rPr>
              <a:t>Inspect </a:t>
            </a:r>
            <a:r>
              <a:rPr lang="ko-KR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생성 방법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CB7A6BB-3A4D-BA9E-D0F7-90FA55EAD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148" y="1103281"/>
            <a:ext cx="2353561" cy="215474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1C19F3F-AD78-2380-E80F-96F5EB5236AA}"/>
              </a:ext>
            </a:extLst>
          </p:cNvPr>
          <p:cNvSpPr txBox="1"/>
          <p:nvPr/>
        </p:nvSpPr>
        <p:spPr>
          <a:xfrm>
            <a:off x="142614" y="4572059"/>
            <a:ext cx="8212822" cy="16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1. Command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입력 완료 후 저장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input file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닫기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20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2. INSPECT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아래칸 </a:t>
            </a:r>
            <a:r>
              <a:rPr lang="ko-KR" altLang="en-US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우클릭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Run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클릭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>
              <a:lnSpc>
                <a:spcPct val="200000"/>
              </a:lnSpc>
            </a:pP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3. Run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창이 뜨면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Queue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칸을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‘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local:default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’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확인 뒤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OK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클릭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9F23CB7-E093-DF30-584E-7B61B1F95B38}"/>
              </a:ext>
            </a:extLst>
          </p:cNvPr>
          <p:cNvSpPr/>
          <p:nvPr/>
        </p:nvSpPr>
        <p:spPr>
          <a:xfrm>
            <a:off x="7107044" y="3047233"/>
            <a:ext cx="447050" cy="1912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C06A045-0FF4-FA33-5FF6-AEAA43BE8510}"/>
              </a:ext>
            </a:extLst>
          </p:cNvPr>
          <p:cNvSpPr/>
          <p:nvPr/>
        </p:nvSpPr>
        <p:spPr>
          <a:xfrm>
            <a:off x="7025176" y="1543063"/>
            <a:ext cx="1706420" cy="219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B099BB0C-02E7-F366-3D24-242D12BA9427}"/>
              </a:ext>
            </a:extLst>
          </p:cNvPr>
          <p:cNvSpPr/>
          <p:nvPr/>
        </p:nvSpPr>
        <p:spPr>
          <a:xfrm>
            <a:off x="3048206" y="2309680"/>
            <a:ext cx="436227" cy="420991"/>
          </a:xfrm>
          <a:prstGeom prst="rightArrow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72C01070-7623-1F40-BE82-9023E53C895B}"/>
              </a:ext>
            </a:extLst>
          </p:cNvPr>
          <p:cNvSpPr/>
          <p:nvPr/>
        </p:nvSpPr>
        <p:spPr>
          <a:xfrm>
            <a:off x="5905619" y="2309679"/>
            <a:ext cx="436227" cy="420991"/>
          </a:xfrm>
          <a:prstGeom prst="rightArrow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B35CD401-011F-53FF-918E-1A1EA3113C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6416" y="1109761"/>
            <a:ext cx="2274901" cy="306016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D2250DEE-CAB1-736B-3C60-24B1AC4AC6C9}"/>
              </a:ext>
            </a:extLst>
          </p:cNvPr>
          <p:cNvSpPr/>
          <p:nvPr/>
        </p:nvSpPr>
        <p:spPr>
          <a:xfrm>
            <a:off x="4351565" y="3206498"/>
            <a:ext cx="489609" cy="1603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7DE776E-AF6E-635C-963F-9F4D60E49E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0226" y="3429000"/>
            <a:ext cx="2745403" cy="75240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12260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16219</TotalTime>
  <Words>3864</Words>
  <Application>Microsoft Office PowerPoint</Application>
  <PresentationFormat>화면 슬라이드 쇼(4:3)</PresentationFormat>
  <Paragraphs>640</Paragraphs>
  <Slides>66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66</vt:i4>
      </vt:variant>
    </vt:vector>
  </HeadingPairs>
  <TitlesOfParts>
    <vt:vector size="73" baseType="lpstr">
      <vt:lpstr>Cambria Math</vt:lpstr>
      <vt:lpstr>Arial</vt:lpstr>
      <vt:lpstr>맑은 고딕</vt:lpstr>
      <vt:lpstr>Calibri Light</vt:lpstr>
      <vt:lpstr>Wingdings</vt:lpstr>
      <vt:lpstr>Calibri</vt:lpstr>
      <vt:lpstr>Office 2013 - 2022 테마</vt:lpstr>
      <vt:lpstr>PowerPoint 프레젠테이션</vt:lpstr>
      <vt:lpstr>Content</vt:lpstr>
      <vt:lpstr>Content</vt:lpstr>
      <vt:lpstr>TCAD Simulation 소개</vt:lpstr>
      <vt:lpstr>TCAD Simulation 소개</vt:lpstr>
      <vt:lpstr>Content</vt:lpstr>
      <vt:lpstr>SDE 생성</vt:lpstr>
      <vt:lpstr>SDE Input Command</vt:lpstr>
      <vt:lpstr>SDE 활용한 MOSFET 구조 생성</vt:lpstr>
      <vt:lpstr>SDE 활용한 MOSFET 구조 생성</vt:lpstr>
      <vt:lpstr>SDE 활용한 MOSFET 구조 생성</vt:lpstr>
      <vt:lpstr>SDE 활용한 MOSFET 구조 생성</vt:lpstr>
      <vt:lpstr>SDE 활용한 MOSFET 구조 생성</vt:lpstr>
      <vt:lpstr>SDE 활용한 MOSFET 구조 생성</vt:lpstr>
      <vt:lpstr>SDE 활용한 MOSFET 구조 생성</vt:lpstr>
      <vt:lpstr>SDE 활용한 MOSFET 구조 생성</vt:lpstr>
      <vt:lpstr>SDE 활용한 MOSFET 구조 생성</vt:lpstr>
      <vt:lpstr>SDE 활용한 MOSFET 구조 생성</vt:lpstr>
      <vt:lpstr>SDE 활용한 MOSFET 구조 생성</vt:lpstr>
      <vt:lpstr>SDE 활용한 MOSFET 구조 생성</vt:lpstr>
      <vt:lpstr>SDE 활용한 MOSFET 구조 생성</vt:lpstr>
      <vt:lpstr>SDE 활용한 MOSFET 구조 생성</vt:lpstr>
      <vt:lpstr>SDE 활용한 MOSFET 구조 생성</vt:lpstr>
      <vt:lpstr>SDE 활용한 MOSFET 구조 생성</vt:lpstr>
      <vt:lpstr>SDE Simulation 실행</vt:lpstr>
      <vt:lpstr>SDE Simulation 상태 확인</vt:lpstr>
      <vt:lpstr>SDE Simulation 구조 확인</vt:lpstr>
      <vt:lpstr>SDE Simulation 구조 확인</vt:lpstr>
      <vt:lpstr>Content</vt:lpstr>
      <vt:lpstr>SDEVICE Manual</vt:lpstr>
      <vt:lpstr>SDEVICE Manual</vt:lpstr>
      <vt:lpstr>SDEVICE Manual</vt:lpstr>
      <vt:lpstr>SDEVICE Manual</vt:lpstr>
      <vt:lpstr>SDEVICE Manual</vt:lpstr>
      <vt:lpstr>SDEVICE Manual</vt:lpstr>
      <vt:lpstr>SDEVICE Manual</vt:lpstr>
      <vt:lpstr>SDEVICE Manual</vt:lpstr>
      <vt:lpstr>SDEVICE Manual</vt:lpstr>
      <vt:lpstr>SDEVICE Manual</vt:lpstr>
      <vt:lpstr>SDEVICE Manual</vt:lpstr>
      <vt:lpstr>SDEVICE Manual</vt:lpstr>
      <vt:lpstr>SDEVICE Manual</vt:lpstr>
      <vt:lpstr>SDEVICE Manual</vt:lpstr>
      <vt:lpstr>SDEVICE Manual</vt:lpstr>
      <vt:lpstr>SDEVICE Manual</vt:lpstr>
      <vt:lpstr>SVISUAL Manual</vt:lpstr>
      <vt:lpstr>SVISUAL Manual</vt:lpstr>
      <vt:lpstr>SVISUAL Manual</vt:lpstr>
      <vt:lpstr>SVISUAL Manual</vt:lpstr>
      <vt:lpstr>SVISUAL Manual</vt:lpstr>
      <vt:lpstr>SVISUAL Manual</vt:lpstr>
      <vt:lpstr>SVISUAL Manual</vt:lpstr>
      <vt:lpstr>SVISUAL Manual</vt:lpstr>
      <vt:lpstr>SVISUAL Manual</vt:lpstr>
      <vt:lpstr>SVISUAL Manual</vt:lpstr>
      <vt:lpstr>SVISUAL Manual</vt:lpstr>
      <vt:lpstr>SVISUAL Manual</vt:lpstr>
      <vt:lpstr>Content</vt:lpstr>
      <vt:lpstr>Inspect Manual</vt:lpstr>
      <vt:lpstr>Inspect Manual</vt:lpstr>
      <vt:lpstr>Inspect Manual</vt:lpstr>
      <vt:lpstr>Inspect Manual</vt:lpstr>
      <vt:lpstr>Inspect Manual</vt:lpstr>
      <vt:lpstr>Inspect Manual</vt:lpstr>
      <vt:lpstr>Inspect Manual</vt:lpstr>
      <vt:lpstr>Inspect Manual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Hyunwoo</dc:creator>
  <cp:lastModifiedBy>이도헌</cp:lastModifiedBy>
  <cp:revision>660</cp:revision>
  <cp:lastPrinted>2023-12-27T01:51:06Z</cp:lastPrinted>
  <dcterms:created xsi:type="dcterms:W3CDTF">2022-10-23T08:34:17Z</dcterms:created>
  <dcterms:modified xsi:type="dcterms:W3CDTF">2026-05-19T08:31:52Z</dcterms:modified>
</cp:coreProperties>
</file>